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9"/>
  </p:notesMasterIdLst>
  <p:sldIdLst>
    <p:sldId id="256" r:id="rId5"/>
    <p:sldId id="272" r:id="rId6"/>
    <p:sldId id="257" r:id="rId7"/>
    <p:sldId id="258" r:id="rId8"/>
    <p:sldId id="274" r:id="rId9"/>
    <p:sldId id="259" r:id="rId10"/>
    <p:sldId id="260" r:id="rId11"/>
    <p:sldId id="275" r:id="rId12"/>
    <p:sldId id="276" r:id="rId13"/>
    <p:sldId id="277" r:id="rId14"/>
    <p:sldId id="267" r:id="rId15"/>
    <p:sldId id="278" r:id="rId16"/>
    <p:sldId id="268" r:id="rId17"/>
    <p:sldId id="279" r:id="rId18"/>
    <p:sldId id="269" r:id="rId19"/>
    <p:sldId id="280" r:id="rId20"/>
    <p:sldId id="261" r:id="rId21"/>
    <p:sldId id="270" r:id="rId22"/>
    <p:sldId id="281" r:id="rId23"/>
    <p:sldId id="273" r:id="rId24"/>
    <p:sldId id="282" r:id="rId25"/>
    <p:sldId id="283" r:id="rId26"/>
    <p:sldId id="284" r:id="rId27"/>
    <p:sldId id="285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מקטע ברירת מחדל" id="{ED3E68B8-CB3A-4F60-83A3-BE367C5407AB}">
          <p14:sldIdLst>
            <p14:sldId id="256"/>
            <p14:sldId id="272"/>
            <p14:sldId id="257"/>
            <p14:sldId id="258"/>
            <p14:sldId id="274"/>
            <p14:sldId id="259"/>
            <p14:sldId id="260"/>
            <p14:sldId id="275"/>
            <p14:sldId id="276"/>
            <p14:sldId id="277"/>
            <p14:sldId id="267"/>
            <p14:sldId id="278"/>
            <p14:sldId id="268"/>
            <p14:sldId id="279"/>
            <p14:sldId id="269"/>
            <p14:sldId id="280"/>
            <p14:sldId id="261"/>
            <p14:sldId id="270"/>
            <p14:sldId id="281"/>
            <p14:sldId id="273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304">
          <p15:clr>
            <a:srgbClr val="A4A3A4"/>
          </p15:clr>
        </p15:guide>
        <p15:guide id="3" orient="horz" pos="2704" userDrawn="1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tavim@gmail.com" initials="m" lastIdx="1" clrIdx="0">
    <p:extLst>
      <p:ext uri="{19B8F6BF-5375-455C-9EA6-DF929625EA0E}">
        <p15:presenceInfo xmlns:p15="http://schemas.microsoft.com/office/powerpoint/2012/main" userId="45604ace3fdf2c6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9636"/>
    <a:srgbClr val="F08E1B"/>
    <a:srgbClr val="4B84C9"/>
    <a:srgbClr val="385D8A"/>
    <a:srgbClr val="B3C7EB"/>
    <a:srgbClr val="A6BEE8"/>
    <a:srgbClr val="385DA8"/>
    <a:srgbClr val="943C06"/>
    <a:srgbClr val="FFFFCC"/>
    <a:srgbClr val="DC85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250" autoAdjust="0"/>
    <p:restoredTop sz="94660"/>
  </p:normalViewPr>
  <p:slideViewPr>
    <p:cSldViewPr showGuides="1">
      <p:cViewPr>
        <p:scale>
          <a:sx n="66" d="100"/>
          <a:sy n="66" d="100"/>
        </p:scale>
        <p:origin x="2022" y="126"/>
      </p:cViewPr>
      <p:guideLst>
        <p:guide orient="horz" pos="2160"/>
        <p:guide orient="horz" pos="2304"/>
        <p:guide orient="horz" pos="2704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86" d="100"/>
          <a:sy n="86" d="100"/>
        </p:scale>
        <p:origin x="-381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0-03T14:00:54.590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7200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7200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r">
              <a:defRPr sz="1200"/>
            </a:lvl1pPr>
          </a:lstStyle>
          <a:p>
            <a:fld id="{91AA33BB-5012-4FA9-BC94-2423B0F96BF0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6" rIns="91431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31" tIns="45716" rIns="91431" bIns="4571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7200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4"/>
            <a:ext cx="2971800" cy="457200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r">
              <a:defRPr sz="1200"/>
            </a:lvl1pPr>
          </a:lstStyle>
          <a:p>
            <a:fld id="{C18343ED-3762-4D46-A439-B4D407E13E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31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</p:spPr>
        <p:txBody>
          <a:bodyPr lIns="90000" tIns="45000" rIns="90000" bIns="45000">
            <a:normAutofit fontScale="25000" lnSpcReduction="20000"/>
          </a:bodyPr>
          <a:lstStyle/>
          <a:p>
            <a:endParaRPr/>
          </a:p>
        </p:txBody>
      </p:sp>
      <p:sp>
        <p:nvSpPr>
          <p:cNvPr id="186" name="TextShape 2"/>
          <p:cNvSpPr txBox="1"/>
          <p:nvPr/>
        </p:nvSpPr>
        <p:spPr>
          <a:xfrm>
            <a:off x="0" y="0"/>
            <a:ext cx="360" cy="36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BA187809-48AA-4770-8B7E-C9D2F0D0EDF7}" type="slidenum">
              <a:rPr lang="en-US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4561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</p:spPr>
        <p:txBody>
          <a:bodyPr lIns="90000" tIns="45000" rIns="90000" bIns="45000">
            <a:normAutofit fontScale="25000" lnSpcReduction="20000"/>
          </a:bodyPr>
          <a:lstStyle/>
          <a:p>
            <a:endParaRPr/>
          </a:p>
        </p:txBody>
      </p:sp>
      <p:sp>
        <p:nvSpPr>
          <p:cNvPr id="186" name="TextShape 2"/>
          <p:cNvSpPr txBox="1"/>
          <p:nvPr/>
        </p:nvSpPr>
        <p:spPr>
          <a:xfrm>
            <a:off x="0" y="0"/>
            <a:ext cx="360" cy="36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fld id="{BA187809-48AA-4770-8B7E-C9D2F0D0EDF7}" type="slidenum">
              <a:rPr lang="en-US">
                <a:solidFill>
                  <a:srgbClr val="000000"/>
                </a:solidFill>
                <a:latin typeface="+mn-lt"/>
                <a:ea typeface="+mn-ea"/>
              </a:rPr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1217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537" y="1340768"/>
            <a:ext cx="7388072" cy="1085850"/>
          </a:xfrm>
        </p:spPr>
        <p:txBody>
          <a:bodyPr vert="horz" lIns="0" tIns="45720" rIns="91440" bIns="45720" rtlCol="0" anchor="t" anchorCtr="0">
            <a:normAutofit/>
          </a:bodyPr>
          <a:lstStyle>
            <a:lvl1pPr>
              <a:defRPr lang="en-US" sz="3200" dirty="0">
                <a:ln w="3175">
                  <a:noFill/>
                </a:ln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580537" y="6362070"/>
            <a:ext cx="7879895" cy="2616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1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© Copyright SELA software &amp; Education Labs Ltd. | 14-18 Baruch Hirsch St </a:t>
            </a:r>
            <a:r>
              <a:rPr lang="en-US" sz="11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Bnei</a:t>
            </a:r>
            <a:r>
              <a:rPr lang="en-US" sz="1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Brak</a:t>
            </a:r>
            <a:r>
              <a:rPr lang="en-US" sz="11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Segoe" panose="020B0502040504020203" pitchFamily="34" charset="0"/>
                <a:ea typeface="+mn-ea"/>
                <a:cs typeface="+mn-cs"/>
              </a:rPr>
              <a:t>, 51202 Israel | www.selagroup.com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Segoe" panose="020B0502040504020203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37" y="534797"/>
            <a:ext cx="2632449" cy="48390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581025" y="2427288"/>
            <a:ext cx="7388225" cy="13620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E89636"/>
                </a:solidFill>
              </a:defRPr>
            </a:lvl1pPr>
            <a:lvl2pPr marL="457200" indent="0" algn="l" rtl="0">
              <a:buFontTx/>
              <a:buNone/>
              <a:defRPr/>
            </a:lvl2pPr>
            <a:lvl3pPr marL="914400" indent="0" algn="l" rtl="0">
              <a:buFontTx/>
              <a:buNone/>
              <a:defRPr/>
            </a:lvl3pPr>
            <a:lvl4pPr marL="1371600" indent="0" algn="l" rtl="0">
              <a:buFontTx/>
              <a:buNone/>
              <a:defRPr/>
            </a:lvl4pPr>
            <a:lvl5pPr marL="1828800" indent="0" algn="l" rtl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89">
          <p15:clr>
            <a:srgbClr val="FBAE40"/>
          </p15:clr>
        </p15:guide>
        <p15:guide id="2" pos="61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58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pica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92888" cy="720000"/>
          </a:xfrm>
        </p:spPr>
        <p:txBody>
          <a:bodyPr vert="horz" lIns="0" tIns="0" rIns="91440" bIns="45720" rtlCol="0" anchor="b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492161"/>
            <a:ext cx="7992888" cy="4648200"/>
          </a:xfrm>
          <a:prstGeom prst="rect">
            <a:avLst/>
          </a:prstGeom>
        </p:spPr>
        <p:txBody>
          <a:bodyPr lIns="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marL="16002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4pPr>
            <a:lvl5pPr marL="20574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124744"/>
            <a:ext cx="4132746" cy="444361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3" name="TextBox 12"/>
          <p:cNvSpPr txBox="1"/>
          <p:nvPr userDrawn="1"/>
        </p:nvSpPr>
        <p:spPr>
          <a:xfrm>
            <a:off x="1475656" y="2492896"/>
            <a:ext cx="347082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Demo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57482 2.59259E-6 L 4.72222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75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57482 2.59259E-6 L 4.72222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750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420888"/>
            <a:ext cx="3700697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2" name="TextBox 11"/>
          <p:cNvSpPr txBox="1"/>
          <p:nvPr userDrawn="1"/>
        </p:nvSpPr>
        <p:spPr>
          <a:xfrm>
            <a:off x="1475656" y="2492896"/>
            <a:ext cx="212590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5399 2.59259E-6 L 2.77778E-7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2708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5399 2.59259E-6 L 2.77778E-7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2708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/>
          <p:bldP spid="12" grpId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420888"/>
            <a:ext cx="3700697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11" name="TextBox 10"/>
          <p:cNvSpPr txBox="1"/>
          <p:nvPr userDrawn="1"/>
        </p:nvSpPr>
        <p:spPr>
          <a:xfrm>
            <a:off x="1547664" y="2492896"/>
            <a:ext cx="393409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Conclusion </a:t>
            </a:r>
          </a:p>
          <a:p>
            <a:r>
              <a:rPr 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-1.11111E-6 L -4.44444E-6 -1.11111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1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-1.11111E-6 L -4.44444E-6 -1.11111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1" grpId="1"/>
        </p:bld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clusion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 userDrawn="1"/>
        </p:nvSpPr>
        <p:spPr>
          <a:xfrm>
            <a:off x="827584" y="2492896"/>
            <a:ext cx="492314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Final</a:t>
            </a:r>
            <a:r>
              <a:rPr lang="en-US" sz="10000" b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 </a:t>
            </a:r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Lab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420888"/>
            <a:ext cx="3700697" cy="2132707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3.33333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4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3.33333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</p:bld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k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02680" y="1492161"/>
            <a:ext cx="8001315" cy="4659258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2286000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 baseline="0"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marL="16002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4pPr>
            <a:lvl5pPr marL="20574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02680" y="3873731"/>
            <a:ext cx="8001315" cy="2277687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11560" y="1494000"/>
            <a:ext cx="7992690" cy="1502952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marL="1143000" indent="-2286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602680" y="3140969"/>
            <a:ext cx="8001315" cy="3010450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CodeSnipp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11560" y="1494001"/>
            <a:ext cx="8004764" cy="1070904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 baseline="0"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590849" y="2630516"/>
            <a:ext cx="8013402" cy="1139423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590848" y="3835550"/>
            <a:ext cx="8004764" cy="1072800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tIns="90000">
            <a:normAutofit/>
          </a:bodyPr>
          <a:lstStyle>
            <a:lvl1pPr marL="342900" indent="-34290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1pPr>
            <a:lvl2pPr marL="742950" indent="-285750" algn="l" rtl="0">
              <a:buFontTx/>
              <a:buBlip>
                <a:blip r:embed="rId2"/>
              </a:buBlip>
              <a:defRPr>
                <a:latin typeface="Segoe" panose="020B0502040504020203" pitchFamily="34" charset="0"/>
              </a:defRPr>
            </a:lvl2pPr>
            <a:lvl3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3pPr>
            <a:lvl4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4pPr>
            <a:lvl5pPr algn="l" rtl="0">
              <a:buFontTx/>
              <a:buBlip>
                <a:blip r:embed="rId3"/>
              </a:buBlip>
              <a:defRPr>
                <a:latin typeface="Segoe" panose="020B05020405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/>
          <p:cNvSpPr>
            <a:spLocks noGrp="1"/>
          </p:cNvSpPr>
          <p:nvPr>
            <p:ph type="body" sz="quarter" idx="16"/>
          </p:nvPr>
        </p:nvSpPr>
        <p:spPr bwMode="blackWhite">
          <a:xfrm>
            <a:off x="590849" y="4973960"/>
            <a:ext cx="8013402" cy="1139423"/>
          </a:xfrm>
          <a:prstGeom prst="rect">
            <a:avLst/>
          </a:prstGeom>
          <a:solidFill>
            <a:srgbClr val="4B84C9">
              <a:alpha val="50000"/>
            </a:srgbClr>
          </a:solidFill>
        </p:spPr>
        <p:txBody>
          <a:bodyPr tIns="90000">
            <a:normAutofit/>
          </a:bodyPr>
          <a:lstStyle>
            <a:lvl1pPr algn="l" rtl="0">
              <a:buFont typeface="Arial" pitchFamily="34" charset="0"/>
              <a:buNone/>
              <a:defRPr lang="en-US" sz="18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1pPr>
            <a:lvl2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2pPr>
            <a:lvl3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3pPr>
            <a:lvl4pPr>
              <a:buFont typeface="Arial" pitchFamily="34" charset="0"/>
              <a:buChar char="•"/>
              <a:defRPr lang="en-US" sz="1600" b="0" kern="1200" dirty="0" smtClean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4pPr>
            <a:lvl5pPr>
              <a:buFont typeface="Arial" pitchFamily="34" charset="0"/>
              <a:buChar char="•"/>
              <a:defRPr lang="en-US" sz="1600" b="0" kern="1200" dirty="0">
                <a:solidFill>
                  <a:schemeClr val="tx1"/>
                </a:solidFill>
                <a:latin typeface="Consolas" pitchFamily="49" charset="0"/>
                <a:ea typeface="+mn-ea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403648" y="2492896"/>
            <a:ext cx="554510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egoe Light" panose="020B0302040504020203" pitchFamily="34" charset="0"/>
              </a:rPr>
              <a:t>Questions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710" y="1988840"/>
            <a:ext cx="1532540" cy="2844235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1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 p14:presetBounceEnd="42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4.16667E-6 2.59259E-6 " pathEditMode="relative" rAng="0" ptsTypes="AA" p14:bounceEnd="42000">
                                          <p:cBhvr>
                                            <p:cTn id="13" dur="11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7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42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1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35" presetClass="path" presetSubtype="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0.48837 2.59259E-6 L -4.16667E-6 2.59259E-6 " pathEditMode="relative" rAng="0" ptsTypes="AA">
                                          <p:cBhvr>
                                            <p:cTn id="13" dur="11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4427" y="0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7" grpId="1"/>
        </p:bldLst>
      </p:timing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11560" y="1492161"/>
            <a:ext cx="7992690" cy="4673143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>
            <a:normAutofit/>
          </a:bodyPr>
          <a:lstStyle>
            <a:lvl1pPr marL="342900" indent="-342900" algn="l" rtl="0">
              <a:buSzPct val="75000"/>
              <a:buFontTx/>
              <a:buBlip>
                <a:blip r:embed="rId2"/>
              </a:buBlip>
              <a:defRPr sz="2800" b="0">
                <a:latin typeface="Segoe" panose="020B0502040504020203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11560" y="1492161"/>
            <a:ext cx="7992690" cy="4673143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>
            <a:normAutofit/>
          </a:bodyPr>
          <a:lstStyle>
            <a:lvl1pPr marL="342900" indent="-342900" algn="l" rtl="0">
              <a:buSzPct val="75000"/>
              <a:buFontTx/>
              <a:buBlip>
                <a:blip r:embed="rId2"/>
              </a:buBlip>
              <a:defRPr sz="2800" b="0">
                <a:latin typeface="Segoe" panose="020B0502040504020203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7380312" y="2348344"/>
            <a:ext cx="1655516" cy="3900056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>
            <a:normAutofit/>
          </a:bodyPr>
          <a:lstStyle>
            <a:lvl1pPr marL="115888" indent="-115888" algn="l" rtl="0">
              <a:buFont typeface="Arial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/>
          </p:nvPr>
        </p:nvSpPr>
        <p:spPr>
          <a:xfrm>
            <a:off x="611560" y="1524000"/>
            <a:ext cx="6553200" cy="4724400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txBody>
          <a:bodyPr/>
          <a:lstStyle>
            <a:lvl1pPr marL="342900" indent="-342900" algn="l" rtl="0">
              <a:buFontTx/>
              <a:buBlip>
                <a:blip r:embed="rId2"/>
              </a:buBlip>
              <a:defRPr/>
            </a:lvl1pPr>
            <a:lvl2pPr marL="742950" indent="-285750" algn="l" rtl="0">
              <a:buFontTx/>
              <a:buBlip>
                <a:blip r:embed="rId2"/>
              </a:buBlip>
              <a:defRPr/>
            </a:lvl2pPr>
            <a:lvl3pPr marL="1143000" indent="-228600" algn="l" rtl="0">
              <a:buFontTx/>
              <a:buBlip>
                <a:blip r:embed="rId2"/>
              </a:buBlip>
              <a:defRPr/>
            </a:lvl3pPr>
            <a:lvl4pPr marL="1600200" indent="-228600" algn="l" rtl="0">
              <a:buFontTx/>
              <a:buBlip>
                <a:blip r:embed="rId2"/>
              </a:buBlip>
              <a:defRPr/>
            </a:lvl4pPr>
            <a:lvl5pPr marL="2057400" indent="-228600" algn="l" rtl="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7979692" y="1524000"/>
            <a:ext cx="976164" cy="615553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  <p:txBody>
          <a:bodyPr vert="horz" wrap="square" lIns="0" tIns="0" rIns="0" bIns="0" rtlCol="0" anchor="t" anchorCtr="0">
            <a:spAutoFit/>
          </a:bodyPr>
          <a:lstStyle>
            <a:lvl1pPr>
              <a:spcBef>
                <a:spcPct val="0"/>
              </a:spcBef>
              <a:buNone/>
              <a:defRPr lang="en-US" sz="4000" b="0" dirty="0" smtClean="0">
                <a:ln w="3175">
                  <a:noFill/>
                </a:ln>
                <a:solidFill>
                  <a:srgbClr val="F08E1B"/>
                </a:solidFill>
                <a:effectLst/>
                <a:latin typeface="Segoe Light" panose="020B03020405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 panose="020B0502040504020203" pitchFamily="34" charset="0"/>
                <a:cs typeface="Consolas" panose="020B0609020204030204" pitchFamily="49" charset="0"/>
              </a:rPr>
              <a:t>tips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090" y="1414674"/>
            <a:ext cx="938110" cy="938110"/>
          </a:xfrm>
          <a:prstGeom prst="rect">
            <a:avLst/>
          </a:prstGeom>
          <a:effectLst>
            <a:outerShdw blurRad="50800" dist="12700" dir="2220000" sx="102000" sy="102000" algn="ctr" rotWithShape="0">
              <a:srgbClr val="000000">
                <a:alpha val="35000"/>
              </a:srgbClr>
            </a:outerShdw>
            <a:softEdge rad="0"/>
          </a:effectLst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tips title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  <a:prstGeom prst="rect">
            <a:avLst/>
          </a:prstGeom>
        </p:spPr>
        <p:txBody>
          <a:bodyPr vert="horz" lIns="0" tIns="0" rIns="91440" bIns="45720" rtlCol="0" anchor="b" anchorCtr="0">
            <a:normAutofit/>
          </a:bodyPr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476672"/>
            <a:ext cx="8424268" cy="1015489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 anchorCtr="0">
            <a:normAutofit/>
          </a:bodyPr>
          <a:lstStyle/>
          <a:p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 flipV="1">
            <a:off x="611188" y="6309320"/>
            <a:ext cx="7951904" cy="157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3" r:id="rId2"/>
    <p:sldLayoutId id="2147483650" r:id="rId3"/>
    <p:sldLayoutId id="2147483651" r:id="rId4"/>
    <p:sldLayoutId id="2147483668" r:id="rId5"/>
    <p:sldLayoutId id="2147483669" r:id="rId6"/>
    <p:sldLayoutId id="2147483672" r:id="rId7"/>
    <p:sldLayoutId id="2147483660" r:id="rId8"/>
    <p:sldLayoutId id="2147483661" r:id="rId9"/>
    <p:sldLayoutId id="2147483670" r:id="rId10"/>
    <p:sldLayoutId id="2147483671" r:id="rId11"/>
    <p:sldLayoutId id="2147483662" r:id="rId12"/>
    <p:sldLayoutId id="2147483663" r:id="rId13"/>
    <p:sldLayoutId id="2147483666" r:id="rId14"/>
    <p:sldLayoutId id="2147483665" r:id="rId15"/>
    <p:sldLayoutId id="2147483654" r:id="rId16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lang="en-US" sz="4000" b="0" kern="1200" dirty="0" smtClean="0">
          <a:ln w="3175">
            <a:noFill/>
          </a:ln>
          <a:solidFill>
            <a:srgbClr val="F08E1B"/>
          </a:solidFill>
          <a:effectLst/>
          <a:latin typeface="Segoe Light" panose="020B0302040504020203" pitchFamily="34" charset="0"/>
          <a:ea typeface="+mn-ea"/>
          <a:cs typeface="Segoe UI" panose="020B0502040204020203" pitchFamily="34" charset="0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064" userDrawn="1">
          <p15:clr>
            <a:srgbClr val="F26B43"/>
          </p15:clr>
        </p15:guide>
        <p15:guide id="3" pos="54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mongodb.github.io/node-mongodb-native/" TargetMode="Externa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wnloads.mongodb.com/compass/mongodb-compass-1.40.2-win32-x64.exe" TargetMode="External"/><Relationship Id="rId2" Type="http://schemas.openxmlformats.org/officeDocument/2006/relationships/hyperlink" Target="https://www.mongodb.com/try/download/community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microsoft.com/en-us/download/details.aspx?id=30653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>
                <a:solidFill>
                  <a:srgbClr val="000000"/>
                </a:solidFill>
                <a:latin typeface="Calibri"/>
              </a:rPr>
              <a:t>Node.js</a:t>
            </a:r>
            <a:endParaRPr/>
          </a:p>
        </p:txBody>
      </p:sp>
      <p:sp>
        <p:nvSpPr>
          <p:cNvPr id="3" name="CustomShape 2"/>
          <p:cNvSpPr/>
          <p:nvPr/>
        </p:nvSpPr>
        <p:spPr>
          <a:xfrm>
            <a:off x="1371600" y="3886200"/>
            <a:ext cx="6399720" cy="1751400"/>
          </a:xfrm>
          <a:prstGeom prst="rect">
            <a:avLst/>
          </a:prstGeom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71800" y="1600200"/>
            <a:ext cx="4951800" cy="169452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99592" y="3672360"/>
            <a:ext cx="5543476" cy="914400"/>
          </a:xfrm>
        </p:spPr>
        <p:txBody>
          <a:bodyPr/>
          <a:lstStyle/>
          <a:p>
            <a:r>
              <a:rPr lang="en-US" dirty="0"/>
              <a:t>Module 7 – Working With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644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0FEC7F-48D7-9D49-926B-69F6D2D4D6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MongoDB</a:t>
            </a:r>
          </a:p>
          <a:p>
            <a:r>
              <a:rPr lang="en-US" dirty="0"/>
              <a:t>Mongoose ODM</a:t>
            </a:r>
          </a:p>
          <a:p>
            <a:r>
              <a:rPr lang="en-US" dirty="0"/>
              <a:t>Mongoose Schema</a:t>
            </a:r>
          </a:p>
          <a:p>
            <a:r>
              <a:rPr lang="en-US" dirty="0"/>
              <a:t>Mongoose Model</a:t>
            </a:r>
          </a:p>
          <a:p>
            <a:r>
              <a:rPr lang="en-US" dirty="0"/>
              <a:t>Querying with Mongoose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920EA2-10BB-5D4C-A527-59033CE28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	</a:t>
            </a:r>
          </a:p>
        </p:txBody>
      </p:sp>
    </p:spTree>
    <p:extLst>
      <p:ext uri="{BB962C8B-B14F-4D97-AF65-F5344CB8AC3E}">
        <p14:creationId xmlns:p14="http://schemas.microsoft.com/office/powerpoint/2010/main" val="122236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ustomShape 1"/>
          <p:cNvSpPr/>
          <p:nvPr/>
        </p:nvSpPr>
        <p:spPr>
          <a:xfrm>
            <a:off x="4788024" y="0"/>
            <a:ext cx="8228520" cy="114192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endParaRPr dirty="0"/>
          </a:p>
        </p:txBody>
      </p:sp>
      <p:sp>
        <p:nvSpPr>
          <p:cNvPr id="389" name="CustomShape 2"/>
          <p:cNvSpPr/>
          <p:nvPr/>
        </p:nvSpPr>
        <p:spPr>
          <a:xfrm>
            <a:off x="6156176" y="1628800"/>
            <a:ext cx="8228520" cy="4524840"/>
          </a:xfrm>
          <a:prstGeom prst="rect">
            <a:avLst/>
          </a:prstGeom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Node.js excels in IO bound operations, this fact makes Node.js extremely attractive for data-centric, distributed systems.</a:t>
            </a:r>
          </a:p>
          <a:p>
            <a:r>
              <a:rPr lang="en-US" dirty="0"/>
              <a:t>You can find a modules for almost any database on NPM today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37662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4571460" y="116632"/>
            <a:ext cx="8228520" cy="114192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endParaRPr dirty="0"/>
          </a:p>
        </p:txBody>
      </p:sp>
      <p:sp>
        <p:nvSpPr>
          <p:cNvPr id="3" name="CustomShape 2"/>
          <p:cNvSpPr/>
          <p:nvPr/>
        </p:nvSpPr>
        <p:spPr>
          <a:xfrm>
            <a:off x="6228184" y="1484784"/>
            <a:ext cx="8228520" cy="4524840"/>
          </a:xfrm>
          <a:prstGeom prst="rect">
            <a:avLst/>
          </a:prstGeom>
        </p:spPr>
        <p:txBody>
          <a:bodyPr lIns="90000" tIns="45000" rIns="90000" bIns="45000"/>
          <a:lstStyle/>
          <a:p>
            <a:pPr marL="457200" indent="-457200">
              <a:lnSpc>
                <a:spcPct val="100000"/>
              </a:lnSpc>
              <a:buFont typeface="Arial" pitchFamily="34" charset="0"/>
              <a:buChar char="•"/>
            </a:pP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479" y="5072504"/>
            <a:ext cx="4309241" cy="124968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MongoDB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39552" y="1172224"/>
            <a:ext cx="7992888" cy="4648200"/>
          </a:xfrm>
        </p:spPr>
        <p:txBody>
          <a:bodyPr/>
          <a:lstStyle/>
          <a:p>
            <a:r>
              <a:rPr lang="en-US" dirty="0" err="1"/>
              <a:t>MongoDB</a:t>
            </a:r>
            <a:r>
              <a:rPr lang="en-US" dirty="0"/>
              <a:t> is a document database </a:t>
            </a:r>
          </a:p>
          <a:p>
            <a:pPr lvl="1"/>
            <a:r>
              <a:rPr lang="en-US" dirty="0"/>
              <a:t>Stores BSON (Binary JSON) documents</a:t>
            </a:r>
          </a:p>
          <a:p>
            <a:pPr lvl="1"/>
            <a:r>
              <a:rPr lang="en-US" dirty="0"/>
              <a:t>Can search based on data stored in the BSON document </a:t>
            </a:r>
          </a:p>
          <a:p>
            <a:pPr lvl="1"/>
            <a:r>
              <a:rPr lang="en-US" dirty="0"/>
              <a:t>Easily return results in JSON</a:t>
            </a:r>
          </a:p>
          <a:p>
            <a:r>
              <a:rPr lang="en-US" dirty="0" err="1"/>
              <a:t>MongoDB</a:t>
            </a:r>
            <a:r>
              <a:rPr lang="en-US" dirty="0"/>
              <a:t> is one of the Most popular databases in the Node.js eco-system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56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7EC98-BE0B-7348-BE64-026FEA1F3E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MongoDB has an official driver for Node.js</a:t>
            </a:r>
          </a:p>
          <a:p>
            <a:pPr lvl="1"/>
            <a:r>
              <a:rPr lang="en-US" dirty="0">
                <a:hlinkClick r:id="rId2"/>
              </a:rPr>
              <a:t>http://mongodb.github.io/node-mongodb-native/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A8153-3474-DB49-B959-C763DF131B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const</a:t>
            </a:r>
            <a:r>
              <a:rPr lang="en-US" dirty="0"/>
              <a:t> MongoClient = require(</a:t>
            </a:r>
            <a:r>
              <a:rPr lang="en-US" b="1" dirty="0"/>
              <a:t>'mongodb'</a:t>
            </a:r>
            <a:r>
              <a:rPr lang="en-US" dirty="0"/>
              <a:t>).MongoClient; </a:t>
            </a:r>
          </a:p>
          <a:p>
            <a:r>
              <a:rPr lang="en-US" i="1" dirty="0"/>
              <a:t>// Connection URL</a:t>
            </a:r>
            <a:r>
              <a:rPr lang="en-US" dirty="0"/>
              <a:t> </a:t>
            </a:r>
          </a:p>
          <a:p>
            <a:r>
              <a:rPr lang="en-US" b="1" dirty="0" err="1"/>
              <a:t>const</a:t>
            </a:r>
            <a:r>
              <a:rPr lang="en-US" dirty="0"/>
              <a:t> url = </a:t>
            </a:r>
            <a:r>
              <a:rPr lang="en-US" b="1" dirty="0"/>
              <a:t>'mongodb://localhost:27017’</a:t>
            </a:r>
            <a:r>
              <a:rPr lang="en-US" dirty="0"/>
              <a:t>; </a:t>
            </a:r>
          </a:p>
          <a:p>
            <a:r>
              <a:rPr lang="en-US" i="1" dirty="0"/>
              <a:t>// Database Name</a:t>
            </a:r>
            <a:r>
              <a:rPr lang="en-US" dirty="0"/>
              <a:t> </a:t>
            </a:r>
          </a:p>
          <a:p>
            <a:r>
              <a:rPr lang="en-US" b="1" dirty="0" err="1"/>
              <a:t>const</a:t>
            </a:r>
            <a:r>
              <a:rPr lang="en-US" dirty="0"/>
              <a:t> dbName = </a:t>
            </a:r>
            <a:r>
              <a:rPr lang="en-US" b="1" dirty="0"/>
              <a:t>'</a:t>
            </a:r>
            <a:r>
              <a:rPr lang="en-US" b="1" dirty="0" err="1"/>
              <a:t>myproject</a:t>
            </a:r>
            <a:r>
              <a:rPr lang="en-US" b="1" dirty="0"/>
              <a:t>’</a:t>
            </a:r>
            <a:r>
              <a:rPr lang="en-US" dirty="0"/>
              <a:t>; </a:t>
            </a:r>
          </a:p>
          <a:p>
            <a:r>
              <a:rPr lang="en-US" i="1" dirty="0"/>
              <a:t>// Use connect method to connect to the server</a:t>
            </a:r>
          </a:p>
          <a:p>
            <a:r>
              <a:rPr lang="en-US" dirty="0" err="1"/>
              <a:t>MongoClient.connect</a:t>
            </a:r>
            <a:r>
              <a:rPr lang="en-US" dirty="0"/>
              <a:t>(url, </a:t>
            </a:r>
            <a:r>
              <a:rPr lang="en-US" b="1" dirty="0"/>
              <a:t>function</a:t>
            </a:r>
            <a:r>
              <a:rPr lang="en-US" dirty="0"/>
              <a:t>(err, client){</a:t>
            </a:r>
          </a:p>
          <a:p>
            <a:r>
              <a:rPr lang="en-US" dirty="0"/>
              <a:t>	</a:t>
            </a:r>
            <a:r>
              <a:rPr lang="en-US" dirty="0" err="1"/>
              <a:t>console.log</a:t>
            </a:r>
            <a:r>
              <a:rPr lang="en-US" dirty="0"/>
              <a:t>(</a:t>
            </a:r>
            <a:r>
              <a:rPr lang="en-US" b="1" dirty="0"/>
              <a:t>"Connected successfully to server"</a:t>
            </a:r>
            <a:r>
              <a:rPr lang="en-US" dirty="0"/>
              <a:t>); </a:t>
            </a:r>
          </a:p>
          <a:p>
            <a:r>
              <a:rPr lang="en-US" b="1" dirty="0"/>
              <a:t>	</a:t>
            </a:r>
            <a:r>
              <a:rPr lang="en-US" b="1" dirty="0" err="1"/>
              <a:t>const</a:t>
            </a:r>
            <a:r>
              <a:rPr lang="en-US" dirty="0"/>
              <a:t> db = client.db(dbName); 	</a:t>
            </a:r>
          </a:p>
          <a:p>
            <a:r>
              <a:rPr lang="en-US" dirty="0"/>
              <a:t>});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1C0ED5-6CFD-D646-A27D-1E22B34D1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Node.js and MongoDB</a:t>
            </a:r>
          </a:p>
        </p:txBody>
      </p:sp>
    </p:spTree>
    <p:extLst>
      <p:ext uri="{BB962C8B-B14F-4D97-AF65-F5344CB8AC3E}">
        <p14:creationId xmlns:p14="http://schemas.microsoft.com/office/powerpoint/2010/main" val="3111223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Shape 2"/>
          <p:cNvSpPr txBox="1"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Getting Started With MongoDB</a:t>
            </a:r>
          </a:p>
        </p:txBody>
      </p:sp>
    </p:spTree>
    <p:extLst>
      <p:ext uri="{BB962C8B-B14F-4D97-AF65-F5344CB8AC3E}">
        <p14:creationId xmlns:p14="http://schemas.microsoft.com/office/powerpoint/2010/main" val="4107735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4860032" y="260648"/>
            <a:ext cx="8228520" cy="114192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endParaRPr dirty="0"/>
          </a:p>
        </p:txBody>
      </p:sp>
      <p:sp>
        <p:nvSpPr>
          <p:cNvPr id="3" name="CustomShape 2"/>
          <p:cNvSpPr/>
          <p:nvPr/>
        </p:nvSpPr>
        <p:spPr>
          <a:xfrm>
            <a:off x="4067944" y="1556792"/>
            <a:ext cx="8228520" cy="4524840"/>
          </a:xfrm>
          <a:prstGeom prst="rect">
            <a:avLst/>
          </a:prstGeom>
        </p:spPr>
        <p:txBody>
          <a:bodyPr lIns="90000" tIns="45000" rIns="90000" bIns="45000"/>
          <a:lstStyle/>
          <a:p>
            <a:pPr marL="457200" indent="-457200">
              <a:lnSpc>
                <a:spcPct val="100000"/>
              </a:lnSpc>
              <a:buFont typeface="Arial" pitchFamily="34" charset="0"/>
              <a:buChar char="•"/>
            </a:pPr>
            <a:endParaRPr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ODM with Mongoose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Data Model (ODM) tools allow you to create an object model in your applications that map to documents</a:t>
            </a:r>
            <a:br>
              <a:rPr lang="en-US" dirty="0"/>
            </a:br>
            <a:endParaRPr lang="en-US" dirty="0"/>
          </a:p>
          <a:p>
            <a:r>
              <a:rPr lang="en-US" dirty="0"/>
              <a:t>Mongoose provides a straight-forward, schema based solution to modeling your app data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Includes built-in type casting, validation, query building and more, out of the box.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793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0AE96C9-E9A3-9235-EAD1-92B10EE1A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</a:t>
            </a:r>
            <a:endParaRPr lang="he-IL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F43DBC1-43D5-8AB9-8517-5C9C2B74F545}"/>
              </a:ext>
            </a:extLst>
          </p:cNvPr>
          <p:cNvSpPr txBox="1"/>
          <p:nvPr/>
        </p:nvSpPr>
        <p:spPr>
          <a:xfrm>
            <a:off x="611560" y="1367440"/>
            <a:ext cx="65527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MONGO </a:t>
            </a:r>
            <a:endParaRPr lang="he-IL" dirty="0"/>
          </a:p>
          <a:p>
            <a:r>
              <a:rPr lang="he-IL" dirty="0">
                <a:hlinkClick r:id="rId2"/>
              </a:rPr>
              <a:t>https://www.mongodb.com/try/download/community</a:t>
            </a:r>
            <a:endParaRPr lang="he-IL" dirty="0"/>
          </a:p>
          <a:p>
            <a:endParaRPr lang="he-IL" dirty="0"/>
          </a:p>
        </p:txBody>
      </p:sp>
      <p:sp>
        <p:nvSpPr>
          <p:cNvPr id="9" name="מציין מיקום תוכן 8">
            <a:extLst>
              <a:ext uri="{FF2B5EF4-FFF2-40B4-BE49-F238E27FC236}">
                <a16:creationId xmlns:a16="http://schemas.microsoft.com/office/drawing/2014/main" id="{5CD711D1-5F19-815A-371D-27180E72B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988840"/>
            <a:ext cx="7992888" cy="1950416"/>
          </a:xfrm>
        </p:spPr>
        <p:txBody>
          <a:bodyPr>
            <a:normAutofit lnSpcReduction="10000"/>
          </a:bodyPr>
          <a:lstStyle/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COMPASS </a:t>
            </a:r>
            <a:r>
              <a:rPr lang="en-US" sz="1800" dirty="0">
                <a:highlight>
                  <a:srgbClr val="FFFF00"/>
                </a:highlight>
              </a:rPr>
              <a:t>(should Auto install)</a:t>
            </a:r>
          </a:p>
          <a:p>
            <a:r>
              <a:rPr lang="en-US" sz="1800" dirty="0">
                <a:hlinkClick r:id="rId3"/>
              </a:rPr>
              <a:t>https://downloads.mongodb.com/compass/mongodb-compass-1.40.2-win32-x64.exe</a:t>
            </a:r>
            <a:endParaRPr lang="en-US" sz="1800" dirty="0"/>
          </a:p>
          <a:p>
            <a:endParaRPr lang="he-IL" sz="1800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711DC87-5825-B1E1-7A84-141119621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346" y="4192636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800" b="0" i="0" u="none" strike="noStrike" cap="none" normalizeH="0" baseline="0" dirty="0" err="1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Software</a:t>
            </a:r>
            <a:r>
              <a:rPr kumimoji="0" lang="he-IL" altLang="he-IL" sz="1800" b="0" i="0" u="none" strike="noStrike" cap="none" normalizeH="0" baseline="0" dirty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 </a:t>
            </a:r>
            <a:r>
              <a:rPr kumimoji="0" lang="he-IL" altLang="he-IL" sz="1800" b="0" i="0" u="none" strike="noStrike" cap="none" normalizeH="0" baseline="0" dirty="0" err="1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Requirements</a:t>
            </a: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rgbClr val="001E2B"/>
              </a:solidFill>
              <a:effectLst/>
              <a:latin typeface="Euclid Circular 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Compass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 </a:t>
            </a: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requires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:</a:t>
            </a:r>
            <a:endParaRPr kumimoji="0" lang="he-IL" altLang="he-IL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64-bit </a:t>
            </a: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version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 </a:t>
            </a: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of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 </a:t>
            </a: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Microsoft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 </a:t>
            </a: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Windows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 7 </a:t>
            </a: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or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 </a:t>
            </a: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later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.</a:t>
            </a:r>
            <a:endParaRPr kumimoji="0" lang="he-IL" altLang="he-IL" sz="1200" b="0" i="0" u="none" strike="noStrike" cap="none" normalizeH="0" baseline="0" dirty="0">
              <a:ln>
                <a:noFill/>
              </a:ln>
              <a:solidFill>
                <a:srgbClr val="21313C"/>
              </a:solidFill>
              <a:effectLst/>
              <a:latin typeface="Euclid Circular 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MongoDB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 4.2 </a:t>
            </a: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or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 </a:t>
            </a: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later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01E2B"/>
                </a:solidFill>
                <a:effectLst/>
                <a:latin typeface="Euclid Circular A"/>
              </a:rPr>
              <a:t>.</a:t>
            </a:r>
            <a:endParaRPr kumimoji="0" lang="he-IL" altLang="he-IL" sz="1200" b="0" i="0" u="none" strike="noStrike" cap="none" normalizeH="0" baseline="0" dirty="0">
              <a:ln>
                <a:noFill/>
              </a:ln>
              <a:solidFill>
                <a:srgbClr val="21313C"/>
              </a:solidFill>
              <a:effectLst/>
              <a:latin typeface="Euclid Circular 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16BF8"/>
                </a:solidFill>
                <a:effectLst/>
                <a:latin typeface="Euclid Circular A"/>
                <a:hlinkClick r:id="rId4"/>
              </a:rPr>
              <a:t>Microsoft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16BF8"/>
                </a:solidFill>
                <a:effectLst/>
                <a:latin typeface="Euclid Circular A"/>
                <a:hlinkClick r:id="rId4"/>
              </a:rPr>
              <a:t> .NET </a:t>
            </a: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16BF8"/>
                </a:solidFill>
                <a:effectLst/>
                <a:latin typeface="Euclid Circular A"/>
                <a:hlinkClick r:id="rId4"/>
              </a:rPr>
              <a:t>Framework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16BF8"/>
                </a:solidFill>
                <a:effectLst/>
                <a:latin typeface="Euclid Circular A"/>
                <a:hlinkClick r:id="rId4"/>
              </a:rPr>
              <a:t> </a:t>
            </a: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16BF8"/>
                </a:solidFill>
                <a:effectLst/>
                <a:latin typeface="Euclid Circular A"/>
                <a:hlinkClick r:id="rId4"/>
              </a:rPr>
              <a:t>version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16BF8"/>
                </a:solidFill>
                <a:effectLst/>
                <a:latin typeface="Euclid Circular A"/>
                <a:hlinkClick r:id="rId4"/>
              </a:rPr>
              <a:t> 4.5 </a:t>
            </a: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16BF8"/>
                </a:solidFill>
                <a:effectLst/>
                <a:latin typeface="Euclid Circular A"/>
                <a:hlinkClick r:id="rId4"/>
              </a:rPr>
              <a:t>or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16BF8"/>
                </a:solidFill>
                <a:effectLst/>
                <a:latin typeface="Euclid Circular A"/>
                <a:hlinkClick r:id="rId4"/>
              </a:rPr>
              <a:t> </a:t>
            </a:r>
            <a:r>
              <a:rPr kumimoji="0" lang="he-IL" altLang="he-IL" sz="1200" b="0" i="0" u="none" strike="noStrike" cap="none" normalizeH="0" baseline="0" dirty="0" err="1">
                <a:ln>
                  <a:noFill/>
                </a:ln>
                <a:solidFill>
                  <a:srgbClr val="016BF8"/>
                </a:solidFill>
                <a:effectLst/>
                <a:latin typeface="Euclid Circular A"/>
                <a:hlinkClick r:id="rId4"/>
              </a:rPr>
              <a:t>later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rgbClr val="016BF8"/>
                </a:solidFill>
                <a:effectLst/>
                <a:latin typeface="Euclid Circular A"/>
                <a:hlinkClick r:id="rId4"/>
              </a:rPr>
              <a:t>.</a:t>
            </a:r>
            <a:endParaRPr kumimoji="0" lang="he-IL" altLang="he-IL" sz="1200" b="0" i="0" u="none" strike="noStrike" cap="none" normalizeH="0" baseline="0" dirty="0">
              <a:ln>
                <a:noFill/>
              </a:ln>
              <a:solidFill>
                <a:srgbClr val="21313C"/>
              </a:solidFill>
              <a:effectLst/>
              <a:latin typeface="Euclid Circular 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A2A8856B-C94B-541B-CEAF-E219BFA10239}"/>
              </a:ext>
            </a:extLst>
          </p:cNvPr>
          <p:cNvSpPr txBox="1"/>
          <p:nvPr/>
        </p:nvSpPr>
        <p:spPr>
          <a:xfrm>
            <a:off x="693346" y="5733256"/>
            <a:ext cx="4916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effectLst/>
                <a:latin typeface="Fira Mono" panose="020B0604020202020204" pitchFamily="49" charset="0"/>
              </a:rPr>
              <a:t>npm</a:t>
            </a:r>
            <a:r>
              <a:rPr lang="en-US" b="0" i="0" dirty="0">
                <a:effectLst/>
                <a:latin typeface="Fira Mono" panose="020B0604020202020204" pitchFamily="49" charset="0"/>
              </a:rPr>
              <a:t> </a:t>
            </a:r>
            <a:r>
              <a:rPr lang="en-US" b="0" i="0" dirty="0" err="1">
                <a:effectLst/>
                <a:latin typeface="Fira Mono" panose="020B0604020202020204" pitchFamily="49" charset="0"/>
              </a:rPr>
              <a:t>i</a:t>
            </a:r>
            <a:r>
              <a:rPr lang="en-US" b="0" i="0" dirty="0">
                <a:effectLst/>
                <a:latin typeface="Fira Mono" panose="020B0604020202020204" pitchFamily="49" charset="0"/>
              </a:rPr>
              <a:t> mongoose</a:t>
            </a:r>
            <a:endParaRPr lang="he-IL" dirty="0"/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3FAD5C0A-4ECA-59EF-5196-2EF00045D8CD}"/>
              </a:ext>
            </a:extLst>
          </p:cNvPr>
          <p:cNvSpPr txBox="1"/>
          <p:nvPr/>
        </p:nvSpPr>
        <p:spPr>
          <a:xfrm>
            <a:off x="899592" y="5180246"/>
            <a:ext cx="4916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Cd </a:t>
            </a:r>
            <a:r>
              <a:rPr lang="he-IL" dirty="0"/>
              <a:t>C:\Program </a:t>
            </a:r>
            <a:r>
              <a:rPr lang="he-IL" dirty="0" err="1"/>
              <a:t>Files</a:t>
            </a:r>
            <a:r>
              <a:rPr lang="he-IL" dirty="0"/>
              <a:t>\</a:t>
            </a:r>
            <a:r>
              <a:rPr lang="he-IL" dirty="0" err="1"/>
              <a:t>MongoDB</a:t>
            </a:r>
            <a:r>
              <a:rPr lang="he-IL" dirty="0"/>
              <a:t>\</a:t>
            </a:r>
            <a:r>
              <a:rPr lang="he-IL" dirty="0" err="1"/>
              <a:t>Server</a:t>
            </a:r>
            <a:r>
              <a:rPr lang="he-IL" dirty="0"/>
              <a:t>\7.0\</a:t>
            </a:r>
            <a:r>
              <a:rPr lang="he-IL" dirty="0" err="1"/>
              <a:t>bin</a:t>
            </a:r>
            <a:endParaRPr lang="he-IL" dirty="0"/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DCB80202-171B-BC59-B52E-9B9BC8760055}"/>
              </a:ext>
            </a:extLst>
          </p:cNvPr>
          <p:cNvSpPr txBox="1"/>
          <p:nvPr/>
        </p:nvSpPr>
        <p:spPr>
          <a:xfrm>
            <a:off x="5609812" y="5175649"/>
            <a:ext cx="4916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Run </a:t>
            </a:r>
            <a:r>
              <a:rPr lang="he-IL" dirty="0"/>
              <a:t>mongod.exe</a:t>
            </a:r>
          </a:p>
        </p:txBody>
      </p:sp>
    </p:spTree>
    <p:extLst>
      <p:ext uri="{BB962C8B-B14F-4D97-AF65-F5344CB8AC3E}">
        <p14:creationId xmlns:p14="http://schemas.microsoft.com/office/powerpoint/2010/main" val="3603312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0AE96C9-E9A3-9235-EAD1-92B10EE1A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</a:t>
            </a:r>
            <a:endParaRPr lang="he-IL" dirty="0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6C2351A6-EA09-63E2-CB7F-7986B34EF2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579" y="2204864"/>
            <a:ext cx="7993062" cy="3810409"/>
          </a:xfr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F43DBC1-43D5-8AB9-8517-5C9C2B74F545}"/>
              </a:ext>
            </a:extLst>
          </p:cNvPr>
          <p:cNvSpPr txBox="1"/>
          <p:nvPr/>
        </p:nvSpPr>
        <p:spPr>
          <a:xfrm>
            <a:off x="611560" y="1367440"/>
            <a:ext cx="6552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https://www.mongodb.com/try/download/community</a:t>
            </a:r>
          </a:p>
        </p:txBody>
      </p:sp>
    </p:spTree>
    <p:extLst>
      <p:ext uri="{BB962C8B-B14F-4D97-AF65-F5344CB8AC3E}">
        <p14:creationId xmlns:p14="http://schemas.microsoft.com/office/powerpoint/2010/main" val="2544257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F1A2C5-E0BE-8C57-0314-1CE032286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</a:t>
            </a:r>
            <a:endParaRPr lang="he-IL" dirty="0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ADD64DBA-9286-2C45-6921-5717EE2641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661" y="1628800"/>
            <a:ext cx="4438650" cy="1123950"/>
          </a:xfr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80CE194-BFDD-746F-1C29-9FA31D003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253420"/>
            <a:ext cx="6176320" cy="30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1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A30945-5DB0-784C-8F9D-8546BDEF9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Mongoose Hello World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EF38888F-1C5B-828F-3513-570DAD13AFA7}"/>
              </a:ext>
            </a:extLst>
          </p:cNvPr>
          <p:cNvSpPr txBox="1"/>
          <p:nvPr/>
        </p:nvSpPr>
        <p:spPr>
          <a:xfrm>
            <a:off x="450862" y="1484784"/>
            <a:ext cx="86764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>
                <a:effectLst/>
                <a:latin typeface="Consolas" panose="020B0609020204030204" pitchFamily="49" charset="0"/>
              </a:rPr>
              <a:t>import express from "express";</a:t>
            </a:r>
          </a:p>
          <a:p>
            <a:r>
              <a:rPr lang="en-US" sz="1600" b="0">
                <a:effectLst/>
                <a:latin typeface="Consolas" panose="020B0609020204030204" pitchFamily="49" charset="0"/>
              </a:rPr>
              <a:t>import mongoose from "mongoose";</a:t>
            </a:r>
            <a:br>
              <a:rPr lang="en-US" sz="1600" b="0">
                <a:effectLst/>
                <a:latin typeface="Consolas" panose="020B0609020204030204" pitchFamily="49" charset="0"/>
              </a:rPr>
            </a:br>
            <a:r>
              <a:rPr lang="en-US" sz="1600" b="0">
                <a:effectLst/>
                <a:latin typeface="Consolas" panose="020B0609020204030204" pitchFamily="49" charset="0"/>
              </a:rPr>
              <a:t>const dbUrl = "mongodb://127.0.0.1:27017/projectDb";</a:t>
            </a:r>
            <a:br>
              <a:rPr lang="en-US" sz="1600" b="0">
                <a:effectLst/>
                <a:latin typeface="Consolas" panose="020B0609020204030204" pitchFamily="49" charset="0"/>
              </a:rPr>
            </a:br>
            <a:r>
              <a:rPr lang="en-US" sz="1600" b="0">
                <a:effectLst/>
                <a:latin typeface="Consolas" panose="020B0609020204030204" pitchFamily="49" charset="0"/>
              </a:rPr>
              <a:t>const app = express();</a:t>
            </a:r>
            <a:br>
              <a:rPr lang="en-US" sz="1600" b="0">
                <a:effectLst/>
                <a:latin typeface="Consolas" panose="020B0609020204030204" pitchFamily="49" charset="0"/>
              </a:rPr>
            </a:br>
            <a:br>
              <a:rPr lang="en-US" sz="1600" b="0">
                <a:effectLst/>
                <a:latin typeface="Consolas" panose="020B0609020204030204" pitchFamily="49" charset="0"/>
              </a:rPr>
            </a:br>
            <a:r>
              <a:rPr lang="en-US" sz="1600" b="0">
                <a:effectLst/>
                <a:latin typeface="Consolas" panose="020B0609020204030204" pitchFamily="49" charset="0"/>
              </a:rPr>
              <a:t>app.get("/", (req, res) =&gt; {</a:t>
            </a:r>
          </a:p>
          <a:p>
            <a:r>
              <a:rPr lang="en-US" sz="1600" b="0">
                <a:effectLst/>
                <a:latin typeface="Consolas" panose="020B0609020204030204" pitchFamily="49" charset="0"/>
              </a:rPr>
              <a:t>  const Cat = mongoose.model("Cat", { name: String });</a:t>
            </a:r>
          </a:p>
          <a:p>
            <a:r>
              <a:rPr lang="en-US" sz="1600" b="0">
                <a:effectLst/>
                <a:latin typeface="Consolas" panose="020B0609020204030204" pitchFamily="49" charset="0"/>
              </a:rPr>
              <a:t>  const kitty = new Cat({ name: "Zildjian" });</a:t>
            </a:r>
          </a:p>
          <a:p>
            <a:r>
              <a:rPr lang="en-US" sz="1600" b="0">
                <a:effectLst/>
                <a:latin typeface="Consolas" panose="020B0609020204030204" pitchFamily="49" charset="0"/>
              </a:rPr>
              <a:t>  kitty.save().then(() =&gt; console.log("meow"));</a:t>
            </a:r>
          </a:p>
          <a:p>
            <a:r>
              <a:rPr lang="en-US" sz="1600" b="0">
                <a:effectLst/>
                <a:latin typeface="Consolas" panose="020B0609020204030204" pitchFamily="49" charset="0"/>
              </a:rPr>
              <a:t>  res.send("Hello kitty")});</a:t>
            </a:r>
          </a:p>
          <a:p>
            <a:br>
              <a:rPr lang="en-US" sz="1600" b="0">
                <a:effectLst/>
                <a:latin typeface="Consolas" panose="020B0609020204030204" pitchFamily="49" charset="0"/>
              </a:rPr>
            </a:br>
            <a:r>
              <a:rPr lang="en-US" sz="1600" b="0">
                <a:effectLst/>
                <a:latin typeface="Consolas" panose="020B0609020204030204" pitchFamily="49" charset="0"/>
              </a:rPr>
              <a:t>mongoose</a:t>
            </a:r>
          </a:p>
          <a:p>
            <a:r>
              <a:rPr lang="en-US" sz="1600" b="0">
                <a:effectLst/>
                <a:latin typeface="Consolas" panose="020B0609020204030204" pitchFamily="49" charset="0"/>
              </a:rPr>
              <a:t>  .connect(dbUrl)</a:t>
            </a:r>
          </a:p>
          <a:p>
            <a:r>
              <a:rPr lang="en-US" sz="1600" b="0">
                <a:effectLst/>
                <a:latin typeface="Consolas" panose="020B0609020204030204" pitchFamily="49" charset="0"/>
              </a:rPr>
              <a:t>  .then(() =&gt; {</a:t>
            </a:r>
          </a:p>
          <a:p>
            <a:r>
              <a:rPr lang="en-US" sz="1600" b="0">
                <a:effectLst/>
                <a:latin typeface="Consolas" panose="020B0609020204030204" pitchFamily="49" charset="0"/>
              </a:rPr>
              <a:t>    console.log("Database is connected");</a:t>
            </a:r>
          </a:p>
          <a:p>
            <a:r>
              <a:rPr lang="en-US" sz="1600" b="0">
                <a:effectLst/>
                <a:latin typeface="Consolas" panose="020B0609020204030204" pitchFamily="49" charset="0"/>
              </a:rPr>
              <a:t>    app.listen(5000, () =&gt; {</a:t>
            </a:r>
          </a:p>
          <a:p>
            <a:r>
              <a:rPr lang="en-US" sz="1600" b="0">
                <a:effectLst/>
                <a:latin typeface="Consolas" panose="020B0609020204030204" pitchFamily="49" charset="0"/>
              </a:rPr>
              <a:t>      console.log("Server is running");</a:t>
            </a:r>
          </a:p>
          <a:p>
            <a:r>
              <a:rPr lang="en-US" sz="1600" b="0">
                <a:effectLst/>
                <a:latin typeface="Consolas" panose="020B0609020204030204" pitchFamily="49" charset="0"/>
              </a:rPr>
              <a:t>    });})</a:t>
            </a:r>
          </a:p>
          <a:p>
            <a:r>
              <a:rPr lang="en-US" sz="1600" b="0">
                <a:effectLst/>
                <a:latin typeface="Consolas" panose="020B0609020204030204" pitchFamily="49" charset="0"/>
              </a:rPr>
              <a:t>  .catch((error) =&gt; {</a:t>
            </a:r>
          </a:p>
          <a:p>
            <a:r>
              <a:rPr lang="en-US" sz="1600" b="0">
                <a:effectLst/>
                <a:latin typeface="Consolas" panose="020B0609020204030204" pitchFamily="49" charset="0"/>
              </a:rPr>
              <a:t>    console.log(error);});</a:t>
            </a:r>
            <a:endParaRPr lang="en-US" sz="16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089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2">
            <a:extLst>
              <a:ext uri="{FF2B5EF4-FFF2-40B4-BE49-F238E27FC236}">
                <a16:creationId xmlns:a16="http://schemas.microsoft.com/office/drawing/2014/main" id="{DC0294AC-B4D0-0065-2FE1-E9C959B2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Compass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38902B0-F760-A59B-A715-B11D21A23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680"/>
            <a:ext cx="7915275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67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976FE4-F439-3042-92EC-ACE4B61C2A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3528" y="1233583"/>
            <a:ext cx="7992690" cy="1502952"/>
          </a:xfrm>
        </p:spPr>
        <p:txBody>
          <a:bodyPr/>
          <a:lstStyle/>
          <a:p>
            <a:r>
              <a:rPr lang="en-US" dirty="0"/>
              <a:t>A mongoose schema is an object that maps to a MongoDB collection and defines the shape of the </a:t>
            </a:r>
            <a:r>
              <a:rPr lang="en-US" dirty="0" err="1"/>
              <a:t>doucments</a:t>
            </a:r>
            <a:r>
              <a:rPr lang="en-US" dirty="0"/>
              <a:t> within that collection.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B98F6D-5E02-4949-87B8-0A83CE349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Mongoose Schema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06E0EC21-0107-4DD0-FF26-08FCEB83D34D}"/>
              </a:ext>
            </a:extLst>
          </p:cNvPr>
          <p:cNvSpPr txBox="1"/>
          <p:nvPr/>
        </p:nvSpPr>
        <p:spPr>
          <a:xfrm>
            <a:off x="301126" y="2876772"/>
            <a:ext cx="892899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dirty="0">
                <a:effectLst/>
                <a:latin typeface="Consolas" panose="020B0609020204030204" pitchFamily="49" charset="0"/>
              </a:rPr>
              <a:t>import mongoose from "mongoose";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const Schema =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mongoose.Schema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100" b="0" dirty="0">
                <a:effectLst/>
                <a:latin typeface="Consolas" panose="020B0609020204030204" pitchFamily="49" charset="0"/>
              </a:rPr>
            </a:br>
            <a:r>
              <a:rPr lang="en-US" sz="1100" b="0" dirty="0">
                <a:effectLst/>
                <a:latin typeface="Consolas" panose="020B0609020204030204" pitchFamily="49" charset="0"/>
              </a:rPr>
              <a:t>const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studentSchema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 = new Schema({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  name: {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    type: String,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    required: true, // Name is required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minlength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: 3, // Minimum length of name is 3 characters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  id: {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    type: Number,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    required: true, // ID is required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    unique: true, // ID must be unique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  phone: {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    type: String,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effectLst/>
                <a:latin typeface="Consolas" panose="020B0609020204030204" pitchFamily="49" charset="0"/>
              </a:rPr>
              <a:t>minlength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: 10, // Assuming a minimum length of 10 digits for a phone number</a:t>
            </a:r>
          </a:p>
          <a:p>
            <a:r>
              <a:rPr lang="en-US" sz="1100" b="0" dirty="0">
                <a:effectLst/>
                <a:latin typeface="Consolas" panose="020B0609020204030204" pitchFamily="49" charset="0"/>
              </a:rPr>
              <a:t>  },………………….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37336433-DE1E-8C1E-DD0B-1E21AEA06668}"/>
              </a:ext>
            </a:extLst>
          </p:cNvPr>
          <p:cNvSpPr txBox="1"/>
          <p:nvPr/>
        </p:nvSpPr>
        <p:spPr>
          <a:xfrm>
            <a:off x="5004048" y="724014"/>
            <a:ext cx="462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/part3/Server2/  students</a:t>
            </a:r>
            <a:endParaRPr lang="he-IL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30551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3">
            <a:extLst>
              <a:ext uri="{FF2B5EF4-FFF2-40B4-BE49-F238E27FC236}">
                <a16:creationId xmlns:a16="http://schemas.microsoft.com/office/drawing/2014/main" id="{8DF01904-BC5A-A3FF-7B95-6A4D6656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</a:t>
            </a:r>
            <a:endParaRPr lang="he-IL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81D6057-8BA7-7885-D8C4-2A2D1808275A}"/>
              </a:ext>
            </a:extLst>
          </p:cNvPr>
          <p:cNvSpPr txBox="1"/>
          <p:nvPr/>
        </p:nvSpPr>
        <p:spPr>
          <a:xfrm>
            <a:off x="611560" y="177281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https://mongoosejs.com/docs/validation.html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E600020B-5C07-2C0F-6C41-A3B1995C5E54}"/>
              </a:ext>
            </a:extLst>
          </p:cNvPr>
          <p:cNvSpPr txBox="1"/>
          <p:nvPr/>
        </p:nvSpPr>
        <p:spPr>
          <a:xfrm>
            <a:off x="467544" y="3356992"/>
            <a:ext cx="479054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Create the projects Model at </a:t>
            </a:r>
            <a:r>
              <a:rPr lang="en-US" dirty="0" err="1"/>
              <a:t>db</a:t>
            </a:r>
            <a:r>
              <a:rPr lang="en-US" dirty="0"/>
              <a:t>/models/projects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08917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90712D-93FB-F246-B5E6-46918B3540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A model is a constructor that Mongoose creates for you based on a schema. It provides an interface to the database for creating, querying, updating, and deleting records. Essentially, a model represents a collection in the database, and the instances of this model represent documents in that collection.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E1AA7-5090-AE4B-9B3D-1C7A17BF3E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effectLst/>
                <a:latin typeface="Söhne Mono"/>
              </a:rPr>
              <a:t>const User = </a:t>
            </a:r>
            <a:r>
              <a:rPr lang="en-US" b="0" i="0" dirty="0" err="1">
                <a:effectLst/>
                <a:latin typeface="Söhne Mono"/>
              </a:rPr>
              <a:t>mongoose.model</a:t>
            </a:r>
            <a:r>
              <a:rPr lang="en-US" b="0" i="0" dirty="0">
                <a:effectLst/>
                <a:latin typeface="Söhne Mono"/>
              </a:rPr>
              <a:t>('User', </a:t>
            </a:r>
            <a:r>
              <a:rPr lang="en-US" b="0" i="0" dirty="0" err="1">
                <a:effectLst/>
                <a:latin typeface="Söhne Mono"/>
              </a:rPr>
              <a:t>userSchema</a:t>
            </a:r>
            <a:r>
              <a:rPr lang="en-US" b="0" i="0" dirty="0">
                <a:effectLst/>
                <a:latin typeface="Söhne Mono"/>
              </a:rPr>
              <a:t>);</a:t>
            </a:r>
          </a:p>
          <a:p>
            <a:r>
              <a:rPr lang="en-US" b="0" i="0" dirty="0">
                <a:effectLst/>
                <a:latin typeface="Söhne Mono"/>
              </a:rPr>
              <a:t>const </a:t>
            </a:r>
            <a:r>
              <a:rPr lang="en-US" b="0" i="0" dirty="0" err="1">
                <a:effectLst/>
                <a:latin typeface="Söhne Mono"/>
              </a:rPr>
              <a:t>newUser</a:t>
            </a:r>
            <a:r>
              <a:rPr lang="en-US" b="0" i="0" dirty="0">
                <a:effectLst/>
                <a:latin typeface="Söhne Mono"/>
              </a:rPr>
              <a:t> = new User({name: 'Alice', age: 25, email: 'alice@example.com’}); </a:t>
            </a:r>
            <a:r>
              <a:rPr lang="en-US" b="0" i="0" dirty="0" err="1">
                <a:effectLst/>
                <a:latin typeface="Söhne Mono"/>
              </a:rPr>
              <a:t>newUser.save</a:t>
            </a:r>
            <a:r>
              <a:rPr lang="en-US" b="0" i="0" dirty="0">
                <a:effectLst/>
                <a:latin typeface="Söhne Mono"/>
              </a:rPr>
              <a:t>();</a:t>
            </a:r>
          </a:p>
          <a:p>
            <a:endParaRPr lang="en-US" b="0" i="0" dirty="0">
              <a:effectLst/>
              <a:latin typeface="Söhne Mono"/>
            </a:endParaRPr>
          </a:p>
          <a:p>
            <a:r>
              <a:rPr lang="en-US" dirty="0" err="1"/>
              <a:t>User.find</a:t>
            </a:r>
            <a:r>
              <a:rPr lang="en-US" dirty="0"/>
              <a:t>({name: 'Alice'}, (err, users) =&gt; {</a:t>
            </a:r>
          </a:p>
          <a:p>
            <a:r>
              <a:rPr lang="en-US" dirty="0"/>
              <a:t>  // 'users' is an array of all users named Alice</a:t>
            </a:r>
          </a:p>
          <a:p>
            <a:r>
              <a:rPr lang="en-US" dirty="0"/>
              <a:t>});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4B4DE4-9DCC-C44C-80BB-47571F94A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Mongoose Models</a:t>
            </a:r>
          </a:p>
        </p:txBody>
      </p:sp>
    </p:spTree>
    <p:extLst>
      <p:ext uri="{BB962C8B-B14F-4D97-AF65-F5344CB8AC3E}">
        <p14:creationId xmlns:p14="http://schemas.microsoft.com/office/powerpoint/2010/main" val="264400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3">
            <a:extLst>
              <a:ext uri="{FF2B5EF4-FFF2-40B4-BE49-F238E27FC236}">
                <a16:creationId xmlns:a16="http://schemas.microsoft.com/office/drawing/2014/main" id="{9350D0D5-563B-EB57-E522-FE275A0B3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Mongo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ObjectId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 _id:</a:t>
            </a:r>
            <a:endParaRPr lang="he-IL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2EF4DFA-F17A-9B0E-205A-95E865591378}"/>
              </a:ext>
            </a:extLst>
          </p:cNvPr>
          <p:cNvSpPr txBox="1"/>
          <p:nvPr/>
        </p:nvSpPr>
        <p:spPr>
          <a:xfrm>
            <a:off x="611560" y="2204864"/>
            <a:ext cx="66064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In MongoDB, the default identifier for documents is the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ObjectId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 It's a unique value that MongoDB assigns to each document by default, but you can also manually create an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ObjectId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ObjectId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is usually represented as a 24-character hexadecimal string. However, not every 24-character string is a valid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ObjectId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 Thus, before making a query by an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ObjectId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in MongoDB, especially when you get this ID from user input, you may want to check if the provided string is likely an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ObjectId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Mongoose, a popular ODM for MongoDB in Node.js, provides a utility method to check if a string is likely an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ObjectId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 Here's how you can use it: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58A49B2F-27E4-0D29-2D4C-148885895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84" y="1570084"/>
            <a:ext cx="4672588" cy="45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903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Shape 2"/>
          <p:cNvSpPr txBox="1"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Mongoose Models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6E82421-7E4F-6BA8-3E99-6B84EDC4472D}"/>
              </a:ext>
            </a:extLst>
          </p:cNvPr>
          <p:cNvSpPr txBox="1"/>
          <p:nvPr/>
        </p:nvSpPr>
        <p:spPr>
          <a:xfrm>
            <a:off x="395536" y="4740306"/>
            <a:ext cx="4803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>
                <a:highlight>
                  <a:srgbClr val="FFFF00"/>
                </a:highlight>
              </a:rPr>
              <a:t>part3\server2</a:t>
            </a:r>
          </a:p>
        </p:txBody>
      </p:sp>
    </p:spTree>
    <p:extLst>
      <p:ext uri="{BB962C8B-B14F-4D97-AF65-F5344CB8AC3E}">
        <p14:creationId xmlns:p14="http://schemas.microsoft.com/office/powerpoint/2010/main" val="2896944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E28259-63F4-154F-A6E5-A6A50EC343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Mongoose supports the rich query syntax of </a:t>
            </a:r>
            <a:r>
              <a:rPr lang="en-US" dirty="0" err="1"/>
              <a:t>MongoDb</a:t>
            </a:r>
            <a:r>
              <a:rPr lang="en-US" dirty="0"/>
              <a:t>.</a:t>
            </a:r>
          </a:p>
          <a:p>
            <a:r>
              <a:rPr lang="en-US" dirty="0"/>
              <a:t>Documents can be retrieved using each models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find</a:t>
            </a:r>
            <a:r>
              <a:rPr lang="en-US" dirty="0"/>
              <a:t>, </a:t>
            </a:r>
            <a:r>
              <a:rPr lang="en-US" i="1" dirty="0" err="1">
                <a:latin typeface="Consolas" panose="020B0609020204030204" pitchFamily="49" charset="0"/>
                <a:cs typeface="Consolas" panose="020B0609020204030204" pitchFamily="49" charset="0"/>
              </a:rPr>
              <a:t>findById</a:t>
            </a:r>
            <a:r>
              <a:rPr lang="en-US" dirty="0"/>
              <a:t>, </a:t>
            </a:r>
            <a:r>
              <a:rPr lang="en-US" i="1" dirty="0" err="1">
                <a:latin typeface="Consolas" panose="020B0609020204030204" pitchFamily="49" charset="0"/>
                <a:cs typeface="Consolas" panose="020B0609020204030204" pitchFamily="49" charset="0"/>
              </a:rPr>
              <a:t>findOne</a:t>
            </a:r>
            <a:r>
              <a:rPr lang="en-US" dirty="0"/>
              <a:t> or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  <a:r>
              <a:rPr lang="en-US" dirty="0"/>
              <a:t> static methods.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EF7D3-2180-7743-9505-CCAD476444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Student.find</a:t>
            </a:r>
            <a:r>
              <a:rPr lang="en-US" dirty="0"/>
              <a:t>({ size: 'small’ })</a:t>
            </a:r>
          </a:p>
          <a:p>
            <a:r>
              <a:rPr lang="en-US" dirty="0"/>
              <a:t>	.where('</a:t>
            </a:r>
            <a:r>
              <a:rPr lang="en-US" dirty="0" err="1"/>
              <a:t>createdDate</a:t>
            </a:r>
            <a:r>
              <a:rPr lang="en-US" dirty="0"/>
              <a:t>’)</a:t>
            </a:r>
          </a:p>
          <a:p>
            <a:r>
              <a:rPr lang="en-US" dirty="0"/>
              <a:t>	.</a:t>
            </a:r>
            <a:r>
              <a:rPr lang="en-US" dirty="0" err="1"/>
              <a:t>gt</a:t>
            </a:r>
            <a:r>
              <a:rPr lang="en-US" dirty="0"/>
              <a:t>(</a:t>
            </a:r>
            <a:r>
              <a:rPr lang="en-US" dirty="0" err="1"/>
              <a:t>oneYearAgo</a:t>
            </a:r>
            <a:r>
              <a:rPr lang="en-US" dirty="0"/>
              <a:t>)</a:t>
            </a:r>
          </a:p>
          <a:p>
            <a:r>
              <a:rPr lang="en-US" dirty="0"/>
              <a:t>	.exec()</a:t>
            </a:r>
          </a:p>
          <a:p>
            <a:r>
              <a:rPr lang="en-US" dirty="0"/>
              <a:t>	.then((doc)=&gt;{});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D56FB2-A024-8845-A0F4-CD1CA52D7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with Mongoose</a:t>
            </a:r>
          </a:p>
        </p:txBody>
      </p:sp>
    </p:spTree>
    <p:extLst>
      <p:ext uri="{BB962C8B-B14F-4D97-AF65-F5344CB8AC3E}">
        <p14:creationId xmlns:p14="http://schemas.microsoft.com/office/powerpoint/2010/main" val="1448282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043CA3B5-8EA6-6542-6045-8DB9838B61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1.Build your own Projects collection and all crude</a:t>
            </a:r>
          </a:p>
          <a:p>
            <a:r>
              <a:rPr lang="en-US" dirty="0"/>
              <a:t>2.Advanced- build </a:t>
            </a:r>
            <a:r>
              <a:rPr lang="en-US" dirty="0" err="1"/>
              <a:t>ui</a:t>
            </a:r>
            <a:r>
              <a:rPr lang="en-US" dirty="0"/>
              <a:t> with Angular or react</a:t>
            </a:r>
          </a:p>
          <a:p>
            <a:r>
              <a:rPr lang="en-US" dirty="0"/>
              <a:t>3.Veary advanced: same as 2 show all at table, add search  that search at project name  but use debounce for fast typing</a:t>
            </a:r>
            <a:endParaRPr lang="he-IL" dirty="0"/>
          </a:p>
        </p:txBody>
      </p:sp>
      <p:sp>
        <p:nvSpPr>
          <p:cNvPr id="4" name="כותרת 3">
            <a:extLst>
              <a:ext uri="{FF2B5EF4-FFF2-40B4-BE49-F238E27FC236}">
                <a16:creationId xmlns:a16="http://schemas.microsoft.com/office/drawing/2014/main" id="{5A0424FD-EE66-5D94-9FE1-0C7045861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Work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43251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28258-D6A5-4143-A6E1-6B3261DF2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Mongoose</a:t>
            </a:r>
          </a:p>
        </p:txBody>
      </p:sp>
    </p:spTree>
    <p:extLst>
      <p:ext uri="{BB962C8B-B14F-4D97-AF65-F5344CB8AC3E}">
        <p14:creationId xmlns:p14="http://schemas.microsoft.com/office/powerpoint/2010/main" val="1156138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4571460" y="116632"/>
            <a:ext cx="8228520" cy="114192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endParaRPr dirty="0"/>
          </a:p>
        </p:txBody>
      </p:sp>
      <p:sp>
        <p:nvSpPr>
          <p:cNvPr id="3" name="CustomShape 2"/>
          <p:cNvSpPr/>
          <p:nvPr/>
        </p:nvSpPr>
        <p:spPr>
          <a:xfrm>
            <a:off x="6228184" y="1484784"/>
            <a:ext cx="8228520" cy="4524840"/>
          </a:xfrm>
          <a:prstGeom prst="rect">
            <a:avLst/>
          </a:prstGeom>
        </p:spPr>
        <p:txBody>
          <a:bodyPr lIns="90000" tIns="45000" rIns="90000" bIns="45000"/>
          <a:lstStyle/>
          <a:p>
            <a:pPr marL="457200" indent="-457200">
              <a:lnSpc>
                <a:spcPct val="100000"/>
              </a:lnSpc>
              <a:buFont typeface="Arial" pitchFamily="34" charset="0"/>
              <a:buChar char="•"/>
            </a:pPr>
            <a:endParaRPr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Redis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Redis</a:t>
            </a:r>
            <a:r>
              <a:rPr lang="en-US" dirty="0"/>
              <a:t> is an open source, advanced </a:t>
            </a:r>
            <a:r>
              <a:rPr lang="en-US" b="1" dirty="0"/>
              <a:t>key-value cache</a:t>
            </a:r>
            <a:r>
              <a:rPr lang="en-US" dirty="0"/>
              <a:t> and </a:t>
            </a:r>
            <a:r>
              <a:rPr lang="en-US" b="1" dirty="0"/>
              <a:t>store</a:t>
            </a:r>
            <a:endParaRPr lang="en-US" dirty="0"/>
          </a:p>
          <a:p>
            <a:r>
              <a:rPr lang="en-US" dirty="0"/>
              <a:t>Commonly used as a distributed cache and session store for web applications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593" y="4797152"/>
            <a:ext cx="444817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499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5">
            <a:extLst>
              <a:ext uri="{FF2B5EF4-FFF2-40B4-BE49-F238E27FC236}">
                <a16:creationId xmlns:a16="http://schemas.microsoft.com/office/drawing/2014/main" id="{BF91BFFF-42D2-D15B-6BD5-4948BF0A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</p:spPr>
        <p:txBody>
          <a:bodyPr/>
          <a:lstStyle/>
          <a:p>
            <a:r>
              <a:rPr lang="en-US" dirty="0"/>
              <a:t>REDIS</a:t>
            </a:r>
            <a:endParaRPr lang="he-IL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02FF4C5B-6411-6F39-2227-42C102A2C6FA}"/>
              </a:ext>
            </a:extLst>
          </p:cNvPr>
          <p:cNvSpPr txBox="1"/>
          <p:nvPr/>
        </p:nvSpPr>
        <p:spPr>
          <a:xfrm>
            <a:off x="590848" y="1888524"/>
            <a:ext cx="7005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 err="1"/>
              <a:t>docker</a:t>
            </a:r>
            <a:r>
              <a:rPr lang="he-IL" dirty="0"/>
              <a:t> </a:t>
            </a:r>
            <a:r>
              <a:rPr lang="he-IL" dirty="0" err="1"/>
              <a:t>run</a:t>
            </a:r>
            <a:r>
              <a:rPr lang="he-IL" dirty="0"/>
              <a:t> --</a:t>
            </a:r>
            <a:r>
              <a:rPr lang="he-IL" dirty="0" err="1"/>
              <a:t>name</a:t>
            </a:r>
            <a:r>
              <a:rPr lang="he-IL" dirty="0"/>
              <a:t> </a:t>
            </a:r>
            <a:r>
              <a:rPr lang="he-IL" dirty="0" err="1"/>
              <a:t>redis</a:t>
            </a:r>
            <a:r>
              <a:rPr lang="he-IL" dirty="0"/>
              <a:t> -p 6379:6379 -d </a:t>
            </a:r>
            <a:r>
              <a:rPr lang="he-IL" dirty="0" err="1"/>
              <a:t>redis:latest</a:t>
            </a:r>
            <a:endParaRPr lang="he-IL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A8328D17-1E37-6BDF-5152-E815175D91DC}"/>
              </a:ext>
            </a:extLst>
          </p:cNvPr>
          <p:cNvSpPr txBox="1"/>
          <p:nvPr/>
        </p:nvSpPr>
        <p:spPr>
          <a:xfrm>
            <a:off x="563623" y="25083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 err="1"/>
              <a:t>docker</a:t>
            </a:r>
            <a:r>
              <a:rPr lang="he-IL" dirty="0"/>
              <a:t> </a:t>
            </a:r>
            <a:r>
              <a:rPr lang="he-IL" dirty="0" err="1"/>
              <a:t>exec</a:t>
            </a:r>
            <a:r>
              <a:rPr lang="he-IL" dirty="0"/>
              <a:t> -</a:t>
            </a:r>
            <a:r>
              <a:rPr lang="he-IL" dirty="0" err="1"/>
              <a:t>it</a:t>
            </a:r>
            <a:r>
              <a:rPr lang="he-IL" dirty="0"/>
              <a:t> </a:t>
            </a:r>
            <a:r>
              <a:rPr lang="he-IL" dirty="0" err="1"/>
              <a:t>redis</a:t>
            </a:r>
            <a:r>
              <a:rPr lang="he-IL" dirty="0"/>
              <a:t> </a:t>
            </a:r>
            <a:r>
              <a:rPr lang="he-IL" dirty="0" err="1"/>
              <a:t>redis-cli</a:t>
            </a:r>
            <a:endParaRPr lang="he-IL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EF29BDF5-3EE6-B4E3-BA74-357B55D21011}"/>
              </a:ext>
            </a:extLst>
          </p:cNvPr>
          <p:cNvSpPr txBox="1"/>
          <p:nvPr/>
        </p:nvSpPr>
        <p:spPr>
          <a:xfrm>
            <a:off x="563623" y="32443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SET </a:t>
            </a:r>
            <a:r>
              <a:rPr lang="he-IL" dirty="0" err="1"/>
              <a:t>mykey</a:t>
            </a:r>
            <a:r>
              <a:rPr lang="he-IL" dirty="0"/>
              <a:t> "</a:t>
            </a:r>
            <a:r>
              <a:rPr lang="he-IL" dirty="0" err="1"/>
              <a:t>Hello</a:t>
            </a:r>
            <a:r>
              <a:rPr lang="he-IL" dirty="0"/>
              <a:t>, </a:t>
            </a:r>
            <a:r>
              <a:rPr lang="he-IL" dirty="0" err="1"/>
              <a:t>World</a:t>
            </a:r>
            <a:r>
              <a:rPr lang="he-IL" dirty="0"/>
              <a:t>!"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8AAF66C0-CF45-7CE9-837F-CD572AA3858C}"/>
              </a:ext>
            </a:extLst>
          </p:cNvPr>
          <p:cNvSpPr txBox="1"/>
          <p:nvPr/>
        </p:nvSpPr>
        <p:spPr>
          <a:xfrm>
            <a:off x="590848" y="37956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GET </a:t>
            </a:r>
            <a:r>
              <a:rPr lang="he-IL" dirty="0" err="1"/>
              <a:t>mykey</a:t>
            </a:r>
            <a:endParaRPr lang="he-IL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6B67A240-7252-AE8C-29D1-FAF48199E053}"/>
              </a:ext>
            </a:extLst>
          </p:cNvPr>
          <p:cNvSpPr txBox="1"/>
          <p:nvPr/>
        </p:nvSpPr>
        <p:spPr>
          <a:xfrm>
            <a:off x="971600" y="46056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KEYS *</a:t>
            </a:r>
            <a:endParaRPr lang="he-IL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2C5D3CB7-3B4B-1409-437E-212DC93261C1}"/>
              </a:ext>
            </a:extLst>
          </p:cNvPr>
          <p:cNvSpPr txBox="1"/>
          <p:nvPr/>
        </p:nvSpPr>
        <p:spPr>
          <a:xfrm>
            <a:off x="563623" y="430817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KEYS * 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2AE57D2B-19DE-123E-0B15-4CD6A53F22DB}"/>
              </a:ext>
            </a:extLst>
          </p:cNvPr>
          <p:cNvSpPr txBox="1"/>
          <p:nvPr/>
        </p:nvSpPr>
        <p:spPr>
          <a:xfrm>
            <a:off x="545192" y="48207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INFO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0BED9DD2-2722-8376-DC54-0251AC31D892}"/>
              </a:ext>
            </a:extLst>
          </p:cNvPr>
          <p:cNvSpPr txBox="1"/>
          <p:nvPr/>
        </p:nvSpPr>
        <p:spPr>
          <a:xfrm>
            <a:off x="611560" y="555377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PING</a:t>
            </a:r>
          </a:p>
        </p:txBody>
      </p:sp>
      <p:sp>
        <p:nvSpPr>
          <p:cNvPr id="13" name="מציין מיקום טקסט 1">
            <a:extLst>
              <a:ext uri="{FF2B5EF4-FFF2-40B4-BE49-F238E27FC236}">
                <a16:creationId xmlns:a16="http://schemas.microsoft.com/office/drawing/2014/main" id="{9DCED2C2-276F-181C-1B2F-CCF973D76021}"/>
              </a:ext>
            </a:extLst>
          </p:cNvPr>
          <p:cNvSpPr txBox="1">
            <a:spLocks/>
          </p:cNvSpPr>
          <p:nvPr/>
        </p:nvSpPr>
        <p:spPr>
          <a:xfrm>
            <a:off x="0" y="5425996"/>
            <a:ext cx="8004764" cy="1070904"/>
          </a:xfrm>
          <a:prstGeom prst="rect">
            <a:avLst/>
          </a:prstGeom>
        </p:spPr>
        <p:txBody>
          <a:bodyPr/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ighlight>
                  <a:srgbClr val="FFFF00"/>
                </a:highlight>
              </a:rPr>
              <a:t>Part5/server5</a:t>
            </a:r>
            <a:endParaRPr lang="he-IL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13413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5">
            <a:extLst>
              <a:ext uri="{FF2B5EF4-FFF2-40B4-BE49-F238E27FC236}">
                <a16:creationId xmlns:a16="http://schemas.microsoft.com/office/drawing/2014/main" id="{BF91BFFF-42D2-D15B-6BD5-4948BF0A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</p:spPr>
        <p:txBody>
          <a:bodyPr/>
          <a:lstStyle/>
          <a:p>
            <a:r>
              <a:rPr lang="en-US" dirty="0"/>
              <a:t>MY SQL</a:t>
            </a:r>
            <a:endParaRPr lang="he-IL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6B67A240-7252-AE8C-29D1-FAF48199E053}"/>
              </a:ext>
            </a:extLst>
          </p:cNvPr>
          <p:cNvSpPr txBox="1"/>
          <p:nvPr/>
        </p:nvSpPr>
        <p:spPr>
          <a:xfrm>
            <a:off x="971600" y="46056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KEYS *</a:t>
            </a:r>
            <a:endParaRPr lang="he-IL" dirty="0"/>
          </a:p>
        </p:txBody>
      </p:sp>
      <p:sp>
        <p:nvSpPr>
          <p:cNvPr id="13" name="מציין מיקום טקסט 1">
            <a:extLst>
              <a:ext uri="{FF2B5EF4-FFF2-40B4-BE49-F238E27FC236}">
                <a16:creationId xmlns:a16="http://schemas.microsoft.com/office/drawing/2014/main" id="{9DCED2C2-276F-181C-1B2F-CCF973D76021}"/>
              </a:ext>
            </a:extLst>
          </p:cNvPr>
          <p:cNvSpPr txBox="1">
            <a:spLocks/>
          </p:cNvSpPr>
          <p:nvPr/>
        </p:nvSpPr>
        <p:spPr>
          <a:xfrm>
            <a:off x="611560" y="4712861"/>
            <a:ext cx="3288748" cy="1070904"/>
          </a:xfrm>
          <a:prstGeom prst="rect">
            <a:avLst/>
          </a:prstGeom>
        </p:spPr>
        <p:txBody>
          <a:bodyPr/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ighlight>
                  <a:srgbClr val="FFFF00"/>
                </a:highlight>
              </a:rPr>
              <a:t>Part5/server6</a:t>
            </a:r>
          </a:p>
          <a:p>
            <a:r>
              <a:rPr lang="en-US" dirty="0">
                <a:highlight>
                  <a:srgbClr val="FFFF00"/>
                </a:highlight>
              </a:rPr>
              <a:t>Part5/server7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0831B7E8-EC0F-F40B-BEE3-3FBA23326BE6}"/>
              </a:ext>
            </a:extLst>
          </p:cNvPr>
          <p:cNvSpPr txBox="1"/>
          <p:nvPr/>
        </p:nvSpPr>
        <p:spPr>
          <a:xfrm>
            <a:off x="323528" y="1784163"/>
            <a:ext cx="84249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e-IL" dirty="0"/>
          </a:p>
          <a:p>
            <a:r>
              <a:rPr lang="he-IL" dirty="0" err="1"/>
              <a:t>docker</a:t>
            </a:r>
            <a:r>
              <a:rPr lang="he-IL" dirty="0"/>
              <a:t> </a:t>
            </a:r>
            <a:r>
              <a:rPr lang="he-IL" dirty="0" err="1"/>
              <a:t>exec</a:t>
            </a:r>
            <a:r>
              <a:rPr lang="he-IL" dirty="0"/>
              <a:t> -</a:t>
            </a:r>
            <a:r>
              <a:rPr lang="he-IL" dirty="0" err="1"/>
              <a:t>it</a:t>
            </a:r>
            <a:r>
              <a:rPr lang="he-IL" dirty="0"/>
              <a:t> </a:t>
            </a:r>
            <a:r>
              <a:rPr lang="he-IL" dirty="0" err="1"/>
              <a:t>mysql</a:t>
            </a:r>
            <a:r>
              <a:rPr lang="he-IL" dirty="0"/>
              <a:t> </a:t>
            </a:r>
            <a:r>
              <a:rPr lang="he-IL" dirty="0" err="1"/>
              <a:t>mysql</a:t>
            </a:r>
            <a:r>
              <a:rPr lang="he-IL" dirty="0"/>
              <a:t> -</a:t>
            </a:r>
            <a:r>
              <a:rPr lang="he-IL" dirty="0" err="1"/>
              <a:t>uroot</a:t>
            </a:r>
            <a:r>
              <a:rPr lang="he-IL" dirty="0"/>
              <a:t> -p</a:t>
            </a:r>
          </a:p>
          <a:p>
            <a:r>
              <a:rPr lang="he-IL" dirty="0"/>
              <a:t>CREATE DATABASE </a:t>
            </a:r>
            <a:r>
              <a:rPr lang="he-IL" dirty="0" err="1"/>
              <a:t>northwind</a:t>
            </a:r>
            <a:r>
              <a:rPr lang="he-IL" dirty="0"/>
              <a:t>;</a:t>
            </a:r>
          </a:p>
          <a:p>
            <a:r>
              <a:rPr lang="he-IL" dirty="0"/>
              <a:t>SHOW DATABASES;</a:t>
            </a:r>
          </a:p>
          <a:p>
            <a:r>
              <a:rPr lang="he-IL" dirty="0" err="1"/>
              <a:t>show</a:t>
            </a:r>
            <a:r>
              <a:rPr lang="he-IL" dirty="0"/>
              <a:t> </a:t>
            </a:r>
            <a:r>
              <a:rPr lang="he-IL" dirty="0" err="1"/>
              <a:t>tables</a:t>
            </a:r>
            <a:r>
              <a:rPr lang="he-IL" dirty="0"/>
              <a:t>;</a:t>
            </a:r>
          </a:p>
          <a:p>
            <a:endParaRPr lang="he-IL" dirty="0"/>
          </a:p>
          <a:p>
            <a:r>
              <a:rPr lang="he-IL" dirty="0"/>
              <a:t>https://github.com/mrin9/northwind/blob/master/data_extended.sql</a:t>
            </a:r>
          </a:p>
        </p:txBody>
      </p:sp>
    </p:spTree>
    <p:extLst>
      <p:ext uri="{BB962C8B-B14F-4D97-AF65-F5344CB8AC3E}">
        <p14:creationId xmlns:p14="http://schemas.microsoft.com/office/powerpoint/2010/main" val="1374821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5">
            <a:extLst>
              <a:ext uri="{FF2B5EF4-FFF2-40B4-BE49-F238E27FC236}">
                <a16:creationId xmlns:a16="http://schemas.microsoft.com/office/drawing/2014/main" id="{BF91BFFF-42D2-D15B-6BD5-4948BF0A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48680"/>
            <a:ext cx="7920880" cy="720000"/>
          </a:xfrm>
        </p:spPr>
        <p:txBody>
          <a:bodyPr/>
          <a:lstStyle/>
          <a:p>
            <a:r>
              <a:rPr lang="en-US" dirty="0"/>
              <a:t>MY SQL The Real world</a:t>
            </a:r>
            <a:endParaRPr lang="he-IL" dirty="0"/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6B67A240-7252-AE8C-29D1-FAF48199E053}"/>
              </a:ext>
            </a:extLst>
          </p:cNvPr>
          <p:cNvSpPr txBox="1"/>
          <p:nvPr/>
        </p:nvSpPr>
        <p:spPr>
          <a:xfrm>
            <a:off x="971600" y="460563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KEYS *</a:t>
            </a:r>
            <a:endParaRPr lang="he-IL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0831B7E8-EC0F-F40B-BEE3-3FBA23326BE6}"/>
              </a:ext>
            </a:extLst>
          </p:cNvPr>
          <p:cNvSpPr txBox="1"/>
          <p:nvPr/>
        </p:nvSpPr>
        <p:spPr>
          <a:xfrm>
            <a:off x="6284069" y="489446"/>
            <a:ext cx="22322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e-IL" dirty="0"/>
          </a:p>
          <a:p>
            <a:r>
              <a:rPr lang="en-US" dirty="0"/>
              <a:t>USE REPLACMENT </a:t>
            </a:r>
            <a:r>
              <a:rPr lang="he-IL" dirty="0"/>
              <a:t> </a:t>
            </a:r>
          </a:p>
          <a:p>
            <a:endParaRPr lang="he-IL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E7BD1A2-0A4A-5802-C096-7D8546EA22D3}"/>
              </a:ext>
            </a:extLst>
          </p:cNvPr>
          <p:cNvSpPr txBox="1"/>
          <p:nvPr/>
        </p:nvSpPr>
        <p:spPr>
          <a:xfrm>
            <a:off x="611560" y="1412776"/>
            <a:ext cx="82809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SQL = `INSERT INTO </a:t>
            </a:r>
            <a:r>
              <a:rPr lang="en-US" b="0" dirty="0" err="1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genie_conversations</a:t>
            </a:r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topic_id</a:t>
            </a:r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user_header</a:t>
            </a:r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, user_1, </a:t>
            </a:r>
            <a:r>
              <a:rPr lang="en-US" b="0" dirty="0" err="1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created_at</a:t>
            </a:r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chemeClr val="tx2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VALUES (:</a:t>
            </a:r>
            <a:r>
              <a:rPr lang="en-US" b="0" dirty="0" err="1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topic_id</a:t>
            </a:r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, :header, :message, UTC_TIMESTAMP()) `;</a:t>
            </a:r>
          </a:p>
          <a:p>
            <a:b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b="0" dirty="0" err="1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newConversation</a:t>
            </a:r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= await </a:t>
            </a:r>
            <a:r>
              <a:rPr lang="en-US" b="0" dirty="0" err="1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this.sequelize.query</a:t>
            </a:r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newConversationSQL</a:t>
            </a:r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       replacements: { </a:t>
            </a:r>
            <a:r>
              <a:rPr lang="en-US" b="0" dirty="0" err="1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topic_id</a:t>
            </a:r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, header, message },</a:t>
            </a:r>
          </a:p>
          <a:p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       type: </a:t>
            </a:r>
            <a:r>
              <a:rPr lang="en-US" b="0" dirty="0" err="1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QueryTypes.INSERT</a:t>
            </a:r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chemeClr val="tx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         });</a:t>
            </a:r>
          </a:p>
        </p:txBody>
      </p:sp>
    </p:spTree>
    <p:extLst>
      <p:ext uri="{BB962C8B-B14F-4D97-AF65-F5344CB8AC3E}">
        <p14:creationId xmlns:p14="http://schemas.microsoft.com/office/powerpoint/2010/main" val="3883524628"/>
      </p:ext>
    </p:extLst>
  </p:cSld>
  <p:clrMapOvr>
    <a:masterClrMapping/>
  </p:clrMapOvr>
</p:sld>
</file>

<file path=ppt/theme/theme1.xml><?xml version="1.0" encoding="utf-8"?>
<a:theme xmlns:a="http://schemas.openxmlformats.org/drawingml/2006/main" name="Sela_Template_Ver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room Template V7 25.11.13 Make White to Black" id="{E062658E-901E-44D3-B422-66D76065D245}" vid="{1776DC93-6F3D-4DBD-8C85-4E226CAF9B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AA xmlns="49dc0417-29c6-4bb5-ae98-f937f0a30532" xsi:nil="true"/>
    <TaxCatchAll xmlns="d58f348b-938b-40b8-8bae-5456f1a0ae9d" xsi:nil="true"/>
    <lcf76f155ced4ddcb4097134ff3c332f xmlns="49dc0417-29c6-4bb5-ae98-f937f0a30532">
      <Terms xmlns="http://schemas.microsoft.com/office/infopath/2007/PartnerControls"/>
    </lcf76f155ced4ddcb4097134ff3c332f>
    <Hyperlink xmlns="49dc0417-29c6-4bb5-ae98-f937f0a30532">
      <Url xsi:nil="true"/>
      <Description xsi:nil="true"/>
    </Hyperlink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12BCB557AA5D448C5593FF71F2A488" ma:contentTypeVersion="18" ma:contentTypeDescription="Create a new document." ma:contentTypeScope="" ma:versionID="d175e59a1bd19b1be338db9d12d18235">
  <xsd:schema xmlns:xsd="http://www.w3.org/2001/XMLSchema" xmlns:xs="http://www.w3.org/2001/XMLSchema" xmlns:p="http://schemas.microsoft.com/office/2006/metadata/properties" xmlns:ns2="49dc0417-29c6-4bb5-ae98-f937f0a30532" xmlns:ns3="d58f348b-938b-40b8-8bae-5456f1a0ae9d" targetNamespace="http://schemas.microsoft.com/office/2006/metadata/properties" ma:root="true" ma:fieldsID="291e6b7977c31ae3a105bf1f73c6d6a4" ns2:_="" ns3:_="">
    <xsd:import namespace="49dc0417-29c6-4bb5-ae98-f937f0a30532"/>
    <xsd:import namespace="d58f348b-938b-40b8-8bae-5456f1a0ae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AAA" minOccurs="0"/>
                <xsd:element ref="ns2:lcf76f155ced4ddcb4097134ff3c332f" minOccurs="0"/>
                <xsd:element ref="ns3:TaxCatchAll" minOccurs="0"/>
                <xsd:element ref="ns2:Hyp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c0417-29c6-4bb5-ae98-f937f0a305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AAA" ma:index="21" nillable="true" ma:displayName="AAA" ma:format="DateOnly" ma:internalName="AA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23256489-8307-4614-a501-3741224748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Hyperlink" ma:index="25" nillable="true" ma:displayName="Hyperlink" ma:format="Hyperlink" ma:internalName="Hyper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8f348b-938b-40b8-8bae-5456f1a0ae9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92e702-67e0-4df4-9ad4-8876b702b22c}" ma:internalName="TaxCatchAll" ma:showField="CatchAllData" ma:web="d58f348b-938b-40b8-8bae-5456f1a0ae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27DD0B-9549-4C4F-B771-54911498E6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911F3F-7846-40DD-A980-C1F6F545420B}">
  <ds:schemaRefs>
    <ds:schemaRef ds:uri="http://schemas.microsoft.com/office/2006/metadata/properties"/>
    <ds:schemaRef ds:uri="http://schemas.microsoft.com/office/infopath/2007/PartnerControls"/>
    <ds:schemaRef ds:uri="49dc0417-29c6-4bb5-ae98-f937f0a30532"/>
    <ds:schemaRef ds:uri="d58f348b-938b-40b8-8bae-5456f1a0ae9d"/>
  </ds:schemaRefs>
</ds:datastoreItem>
</file>

<file path=customXml/itemProps3.xml><?xml version="1.0" encoding="utf-8"?>
<ds:datastoreItem xmlns:ds="http://schemas.openxmlformats.org/officeDocument/2006/customXml" ds:itemID="{FF853390-4068-46CE-B958-19091F776A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dc0417-29c6-4bb5-ae98-f937f0a30532"/>
    <ds:schemaRef ds:uri="d58f348b-938b-40b8-8bae-5456f1a0ae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Classroom Template V7 25.11.13 Make White to Black</Template>
  <TotalTime>10220</TotalTime>
  <Words>1239</Words>
  <Application>Microsoft Office PowerPoint</Application>
  <PresentationFormat>‫הצגה על המסך (4:3)</PresentationFormat>
  <Paragraphs>158</Paragraphs>
  <Slides>24</Slides>
  <Notes>2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9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24</vt:i4>
      </vt:variant>
    </vt:vector>
  </HeadingPairs>
  <TitlesOfParts>
    <vt:vector size="34" baseType="lpstr">
      <vt:lpstr>Arial</vt:lpstr>
      <vt:lpstr>Calibri</vt:lpstr>
      <vt:lpstr>Consolas</vt:lpstr>
      <vt:lpstr>Euclid Circular A</vt:lpstr>
      <vt:lpstr>Fira Mono</vt:lpstr>
      <vt:lpstr>Segoe</vt:lpstr>
      <vt:lpstr>Segoe Light</vt:lpstr>
      <vt:lpstr>Söhne</vt:lpstr>
      <vt:lpstr>Söhne Mono</vt:lpstr>
      <vt:lpstr>Sela_Template_Ver_01</vt:lpstr>
      <vt:lpstr>מצגת של PowerPoint‏</vt:lpstr>
      <vt:lpstr>Agenda </vt:lpstr>
      <vt:lpstr>Data Access</vt:lpstr>
      <vt:lpstr>MongoDB</vt:lpstr>
      <vt:lpstr>Node.js and MongoDB</vt:lpstr>
      <vt:lpstr>Getting Started With MongoDB</vt:lpstr>
      <vt:lpstr>ODM with Mongoose </vt:lpstr>
      <vt:lpstr>INSTALL</vt:lpstr>
      <vt:lpstr>INSTALL</vt:lpstr>
      <vt:lpstr>Connect</vt:lpstr>
      <vt:lpstr>Mongoose Hello World</vt:lpstr>
      <vt:lpstr>Compass</vt:lpstr>
      <vt:lpstr>Mongoose Schema</vt:lpstr>
      <vt:lpstr>LAB</vt:lpstr>
      <vt:lpstr>Mongoose Models</vt:lpstr>
      <vt:lpstr>Mongo ObjectId  _id:</vt:lpstr>
      <vt:lpstr>Mongoose Models</vt:lpstr>
      <vt:lpstr>Querying with Mongoose</vt:lpstr>
      <vt:lpstr>Home Work</vt:lpstr>
      <vt:lpstr>Mongoose</vt:lpstr>
      <vt:lpstr>Redis</vt:lpstr>
      <vt:lpstr>REDIS</vt:lpstr>
      <vt:lpstr>MY SQL</vt:lpstr>
      <vt:lpstr>MY SQL The Real world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Avi brudno</dc:creator>
  <cp:lastModifiedBy>Gilad Dolev</cp:lastModifiedBy>
  <cp:revision>33</cp:revision>
  <cp:lastPrinted>2013-09-11T13:44:00Z</cp:lastPrinted>
  <dcterms:created xsi:type="dcterms:W3CDTF">2014-01-01T12:28:05Z</dcterms:created>
  <dcterms:modified xsi:type="dcterms:W3CDTF">2024-06-09T08:26:26Z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0x0101000612BCB557AA5D448C5593FF71F2A488</vt:lpwstr>
  </property>
</Properties>
</file>