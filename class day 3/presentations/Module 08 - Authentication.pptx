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8"/>
  </p:notesMasterIdLst>
  <p:sldIdLst>
    <p:sldId id="256" r:id="rId5"/>
    <p:sldId id="272" r:id="rId6"/>
    <p:sldId id="273" r:id="rId7"/>
    <p:sldId id="420" r:id="rId8"/>
    <p:sldId id="412" r:id="rId9"/>
    <p:sldId id="413" r:id="rId10"/>
    <p:sldId id="414" r:id="rId11"/>
    <p:sldId id="415" r:id="rId12"/>
    <p:sldId id="416" r:id="rId13"/>
    <p:sldId id="419" r:id="rId14"/>
    <p:sldId id="421" r:id="rId15"/>
    <p:sldId id="422" r:id="rId16"/>
    <p:sldId id="423" r:id="rId17"/>
    <p:sldId id="424" r:id="rId18"/>
    <p:sldId id="426" r:id="rId19"/>
    <p:sldId id="427" r:id="rId20"/>
    <p:sldId id="428" r:id="rId21"/>
    <p:sldId id="429" r:id="rId22"/>
    <p:sldId id="430" r:id="rId23"/>
    <p:sldId id="431" r:id="rId24"/>
    <p:sldId id="433" r:id="rId25"/>
    <p:sldId id="434" r:id="rId26"/>
    <p:sldId id="432" r:id="rId27"/>
    <p:sldId id="435" r:id="rId28"/>
    <p:sldId id="436" r:id="rId29"/>
    <p:sldId id="437" r:id="rId30"/>
    <p:sldId id="438" r:id="rId31"/>
    <p:sldId id="439" r:id="rId32"/>
    <p:sldId id="440" r:id="rId33"/>
    <p:sldId id="441" r:id="rId34"/>
    <p:sldId id="442" r:id="rId35"/>
    <p:sldId id="443" r:id="rId36"/>
    <p:sldId id="44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2304">
          <p15:clr>
            <a:srgbClr val="A4A3A4"/>
          </p15:clr>
        </p15:guide>
        <p15:guide id="3" orient="horz" pos="2704" userDrawn="1">
          <p15:clr>
            <a:srgbClr val="A4A3A4"/>
          </p15:clr>
        </p15:guide>
        <p15:guide id="4" pos="288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D883FF"/>
    <a:srgbClr val="FF40FF"/>
    <a:srgbClr val="E89636"/>
    <a:srgbClr val="F08E1B"/>
    <a:srgbClr val="4B84C9"/>
    <a:srgbClr val="385D8A"/>
    <a:srgbClr val="B3C7EB"/>
    <a:srgbClr val="A6BEE8"/>
    <a:srgbClr val="385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1034" autoAdjust="0"/>
    <p:restoredTop sz="94660"/>
  </p:normalViewPr>
  <p:slideViewPr>
    <p:cSldViewPr showGuides="1">
      <p:cViewPr>
        <p:scale>
          <a:sx n="75" d="100"/>
          <a:sy n="75" d="100"/>
        </p:scale>
        <p:origin x="570" y="-90"/>
      </p:cViewPr>
      <p:guideLst>
        <p:guide orient="horz" pos="2160"/>
        <p:guide orient="horz" pos="2304"/>
        <p:guide orient="horz" pos="2704"/>
        <p:guide pos="2880"/>
      </p:guideLst>
    </p:cSldViewPr>
  </p:slideViewPr>
  <p:notesTextViewPr>
    <p:cViewPr>
      <p:scale>
        <a:sx n="3" d="2"/>
        <a:sy n="3" d="2"/>
      </p:scale>
      <p:origin x="0" y="0"/>
    </p:cViewPr>
  </p:notesTextViewPr>
  <p:notesViewPr>
    <p:cSldViewPr showGuides="1">
      <p:cViewPr varScale="1">
        <p:scale>
          <a:sx n="86" d="100"/>
          <a:sy n="86" d="100"/>
        </p:scale>
        <p:origin x="-38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91431" tIns="45716" rIns="91431" bIns="45716" rtlCol="0"/>
          <a:lstStyle>
            <a:lvl1pPr algn="l">
              <a:defRPr sz="1200"/>
            </a:lvl1pPr>
          </a:lstStyle>
          <a:p>
            <a:endParaRPr lang="en-US"/>
          </a:p>
        </p:txBody>
      </p:sp>
      <p:sp>
        <p:nvSpPr>
          <p:cNvPr id="3" name="Date Placeholder 2"/>
          <p:cNvSpPr>
            <a:spLocks noGrp="1"/>
          </p:cNvSpPr>
          <p:nvPr>
            <p:ph type="dt" idx="1"/>
          </p:nvPr>
        </p:nvSpPr>
        <p:spPr>
          <a:xfrm>
            <a:off x="3884613" y="1"/>
            <a:ext cx="2971800" cy="457200"/>
          </a:xfrm>
          <a:prstGeom prst="rect">
            <a:avLst/>
          </a:prstGeom>
        </p:spPr>
        <p:txBody>
          <a:bodyPr vert="horz" lIns="91431" tIns="45716" rIns="91431" bIns="45716" rtlCol="0"/>
          <a:lstStyle>
            <a:lvl1pPr algn="r">
              <a:defRPr sz="1200"/>
            </a:lvl1pPr>
          </a:lstStyle>
          <a:p>
            <a:fld id="{91AA33BB-5012-4FA9-BC94-2423B0F96BF0}" type="datetimeFigureOut">
              <a:rPr lang="en-US" smtClean="0"/>
              <a:pPr/>
              <a:t>6/3/2024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1" tIns="45716" rIns="91431" bIns="45716"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31" tIns="45716" rIns="91431" bIns="4571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0" cy="457200"/>
          </a:xfrm>
          <a:prstGeom prst="rect">
            <a:avLst/>
          </a:prstGeom>
        </p:spPr>
        <p:txBody>
          <a:bodyPr vert="horz" lIns="91431" tIns="45716" rIns="91431"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4"/>
            <a:ext cx="2971800" cy="457200"/>
          </a:xfrm>
          <a:prstGeom prst="rect">
            <a:avLst/>
          </a:prstGeom>
        </p:spPr>
        <p:txBody>
          <a:bodyPr vert="horz" lIns="91431" tIns="45716" rIns="91431" bIns="45716" rtlCol="0" anchor="b"/>
          <a:lstStyle>
            <a:lvl1pPr algn="r">
              <a:defRPr sz="1200"/>
            </a:lvl1pPr>
          </a:lstStyle>
          <a:p>
            <a:fld id="{C18343ED-3762-4D46-A439-B4D407E13EF8}" type="slidenum">
              <a:rPr lang="en-US" smtClean="0"/>
              <a:pPr/>
              <a:t>‹#›</a:t>
            </a:fld>
            <a:endParaRPr lang="en-US"/>
          </a:p>
        </p:txBody>
      </p:sp>
    </p:spTree>
    <p:extLst>
      <p:ext uri="{BB962C8B-B14F-4D97-AF65-F5344CB8AC3E}">
        <p14:creationId xmlns:p14="http://schemas.microsoft.com/office/powerpoint/2010/main" val="376323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C18343ED-3762-4D46-A439-B4D407E13EF8}" type="slidenum">
              <a:rPr lang="en-US" smtClean="0"/>
              <a:pPr/>
              <a:t>8</a:t>
            </a:fld>
            <a:endParaRPr lang="en-US"/>
          </a:p>
        </p:txBody>
      </p:sp>
    </p:spTree>
    <p:extLst>
      <p:ext uri="{BB962C8B-B14F-4D97-AF65-F5344CB8AC3E}">
        <p14:creationId xmlns:p14="http://schemas.microsoft.com/office/powerpoint/2010/main" val="1868735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C18343ED-3762-4D46-A439-B4D407E13EF8}" type="slidenum">
              <a:rPr lang="en-US" smtClean="0"/>
              <a:pPr/>
              <a:t>9</a:t>
            </a:fld>
            <a:endParaRPr lang="en-US"/>
          </a:p>
        </p:txBody>
      </p:sp>
    </p:spTree>
    <p:extLst>
      <p:ext uri="{BB962C8B-B14F-4D97-AF65-F5344CB8AC3E}">
        <p14:creationId xmlns:p14="http://schemas.microsoft.com/office/powerpoint/2010/main" val="9389490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0537" y="1340768"/>
            <a:ext cx="7388072" cy="1085850"/>
          </a:xfrm>
        </p:spPr>
        <p:txBody>
          <a:bodyPr vert="horz" lIns="0" tIns="45720" rIns="91440" bIns="45720" rtlCol="0" anchor="t" anchorCtr="0">
            <a:normAutofit/>
          </a:bodyPr>
          <a:lstStyle>
            <a:lvl1pPr>
              <a:defRPr lang="en-US" sz="3200" dirty="0">
                <a:ln w="3175">
                  <a:noFill/>
                </a:ln>
              </a:defRPr>
            </a:lvl1pPr>
          </a:lstStyle>
          <a:p>
            <a:pPr lvl="0"/>
            <a:r>
              <a:rPr lang="en-US"/>
              <a:t>Click to edit Master title style</a:t>
            </a:r>
            <a:endParaRPr lang="en-US" dirty="0"/>
          </a:p>
        </p:txBody>
      </p:sp>
      <p:sp>
        <p:nvSpPr>
          <p:cNvPr id="11" name="TextBox 10"/>
          <p:cNvSpPr txBox="1"/>
          <p:nvPr userDrawn="1"/>
        </p:nvSpPr>
        <p:spPr>
          <a:xfrm>
            <a:off x="580537" y="6362070"/>
            <a:ext cx="7879895" cy="261610"/>
          </a:xfrm>
          <a:prstGeom prst="rect">
            <a:avLst/>
          </a:prstGeom>
          <a:noFill/>
        </p:spPr>
        <p:txBody>
          <a:bodyPr wrap="square" lIns="0" rtlCol="0">
            <a:spAutoFit/>
          </a:bodyPr>
          <a:lstStyle/>
          <a:p>
            <a:pPr algn="l"/>
            <a:r>
              <a:rPr lang="en-US" sz="1100" kern="1200" dirty="0">
                <a:solidFill>
                  <a:schemeClr val="tx1">
                    <a:lumMod val="85000"/>
                    <a:lumOff val="15000"/>
                  </a:schemeClr>
                </a:solidFill>
                <a:latin typeface="Segoe" panose="020B0502040504020203" pitchFamily="34" charset="0"/>
                <a:ea typeface="+mn-ea"/>
                <a:cs typeface="+mn-cs"/>
              </a:rPr>
              <a:t>© Copyright SELA software &amp; Education Labs Ltd. | 14-18 Baruch Hirsch St </a:t>
            </a:r>
            <a:r>
              <a:rPr lang="en-US" sz="1100" kern="1200" dirty="0" err="1">
                <a:solidFill>
                  <a:schemeClr val="tx1">
                    <a:lumMod val="85000"/>
                    <a:lumOff val="15000"/>
                  </a:schemeClr>
                </a:solidFill>
                <a:latin typeface="Segoe" panose="020B0502040504020203" pitchFamily="34" charset="0"/>
                <a:ea typeface="+mn-ea"/>
                <a:cs typeface="+mn-cs"/>
              </a:rPr>
              <a:t>Bnei</a:t>
            </a:r>
            <a:r>
              <a:rPr lang="en-US" sz="1100" kern="1200" dirty="0">
                <a:solidFill>
                  <a:schemeClr val="tx1">
                    <a:lumMod val="85000"/>
                    <a:lumOff val="15000"/>
                  </a:schemeClr>
                </a:solidFill>
                <a:latin typeface="Segoe" panose="020B0502040504020203" pitchFamily="34" charset="0"/>
                <a:ea typeface="+mn-ea"/>
                <a:cs typeface="+mn-cs"/>
              </a:rPr>
              <a:t> </a:t>
            </a:r>
            <a:r>
              <a:rPr lang="en-US" sz="1100" kern="1200" dirty="0" err="1">
                <a:solidFill>
                  <a:schemeClr val="tx1">
                    <a:lumMod val="85000"/>
                    <a:lumOff val="15000"/>
                  </a:schemeClr>
                </a:solidFill>
                <a:latin typeface="Segoe" panose="020B0502040504020203" pitchFamily="34" charset="0"/>
                <a:ea typeface="+mn-ea"/>
                <a:cs typeface="+mn-cs"/>
              </a:rPr>
              <a:t>Brak</a:t>
            </a:r>
            <a:r>
              <a:rPr lang="en-US" sz="1100" kern="1200" dirty="0">
                <a:solidFill>
                  <a:schemeClr val="tx1">
                    <a:lumMod val="85000"/>
                    <a:lumOff val="15000"/>
                  </a:schemeClr>
                </a:solidFill>
                <a:latin typeface="Segoe" panose="020B0502040504020203" pitchFamily="34" charset="0"/>
                <a:ea typeface="+mn-ea"/>
                <a:cs typeface="+mn-cs"/>
              </a:rPr>
              <a:t>, 51202 Israel | www.selagroup.com</a:t>
            </a:r>
            <a:endParaRPr lang="en-US" sz="800" dirty="0">
              <a:solidFill>
                <a:schemeClr val="tx1">
                  <a:lumMod val="85000"/>
                  <a:lumOff val="15000"/>
                </a:schemeClr>
              </a:solidFill>
              <a:latin typeface="Segoe" panose="020B0502040504020203" pitchFamily="34" charset="0"/>
            </a:endParaRP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537" y="534797"/>
            <a:ext cx="2632449" cy="483907"/>
          </a:xfrm>
          <a:prstGeom prst="rect">
            <a:avLst/>
          </a:prstGeom>
        </p:spPr>
      </p:pic>
      <p:sp>
        <p:nvSpPr>
          <p:cNvPr id="7" name="Text Placeholder 6"/>
          <p:cNvSpPr>
            <a:spLocks noGrp="1"/>
          </p:cNvSpPr>
          <p:nvPr>
            <p:ph type="body" sz="quarter" idx="10"/>
          </p:nvPr>
        </p:nvSpPr>
        <p:spPr>
          <a:xfrm>
            <a:off x="581025" y="2427288"/>
            <a:ext cx="7388225" cy="1362075"/>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Tx/>
              <a:buNone/>
              <a:tabLst/>
              <a:defRPr>
                <a:solidFill>
                  <a:srgbClr val="E89636"/>
                </a:solidFill>
              </a:defRPr>
            </a:lvl1pPr>
            <a:lvl2pPr marL="457200" indent="0" algn="l" rtl="0">
              <a:buFontTx/>
              <a:buNone/>
              <a:defRPr/>
            </a:lvl2pPr>
            <a:lvl3pPr marL="914400" indent="0" algn="l" rtl="0">
              <a:buFontTx/>
              <a:buNone/>
              <a:defRPr/>
            </a:lvl3pPr>
            <a:lvl4pPr marL="1371600" indent="0" algn="l" rtl="0">
              <a:buFontTx/>
              <a:buNone/>
              <a:defRPr/>
            </a:lvl4pPr>
            <a:lvl5pPr marL="1828800" indent="0" algn="l" rtl="0">
              <a:buFontTx/>
              <a:buNone/>
              <a:defRPr/>
            </a:lvl5pPr>
          </a:lstStyle>
          <a:p>
            <a:pPr lvl="0"/>
            <a:r>
              <a:rPr lang="en-US"/>
              <a:t>Click to edit Master text styles</a:t>
            </a:r>
          </a:p>
        </p:txBody>
      </p:sp>
    </p:spTree>
  </p:cSld>
  <p:clrMapOvr>
    <a:masterClrMapping/>
  </p:clrMapOvr>
  <p:extLst>
    <p:ext uri="{DCECCB84-F9BA-43D5-87BE-67443E8EF086}">
      <p15:sldGuideLst xmlns:p15="http://schemas.microsoft.com/office/powerpoint/2012/main">
        <p15:guide id="1" orient="horz" pos="789">
          <p15:clr>
            <a:srgbClr val="FBAE40"/>
          </p15:clr>
        </p15:guide>
        <p15:guide id="2" pos="6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mpty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587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ypical page">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7992888" cy="720000"/>
          </a:xfrm>
        </p:spPr>
        <p:txBody>
          <a:bodyPr vert="horz" lIns="0" tIns="0" rIns="91440" bIns="45720" rtlCol="0" anchor="b" anchorCtr="0">
            <a:norm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idx="1"/>
          </p:nvPr>
        </p:nvSpPr>
        <p:spPr>
          <a:xfrm>
            <a:off x="611560" y="1492161"/>
            <a:ext cx="7992888" cy="4648200"/>
          </a:xfrm>
          <a:prstGeom prst="rect">
            <a:avLst/>
          </a:prstGeom>
        </p:spPr>
        <p:txBody>
          <a:bodyPr lIns="0">
            <a:normAutofit/>
          </a:bodyPr>
          <a:lstStyle>
            <a:lvl1pPr marL="342900" indent="-342900" algn="l" rtl="0">
              <a:buFontTx/>
              <a:buBlip>
                <a:blip r:embed="rId2"/>
              </a:buBlip>
              <a:defRPr>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marL="1600200" indent="-228600" algn="l" rtl="0">
              <a:buFontTx/>
              <a:buBlip>
                <a:blip r:embed="rId2"/>
              </a:buBlip>
              <a:defRPr>
                <a:latin typeface="Segoe" panose="020B0502040504020203" pitchFamily="34" charset="0"/>
              </a:defRPr>
            </a:lvl4pPr>
            <a:lvl5pPr marL="2057400" indent="-228600" algn="l" rtl="0">
              <a:buFontTx/>
              <a:buBlip>
                <a:blip r:embed="rId2"/>
              </a:buBlip>
              <a:defRPr>
                <a:latin typeface="Segoe" panose="020B0502040504020203" pitchFamily="34" charset="0"/>
              </a:defRPr>
            </a:lvl5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age">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64088" y="1124744"/>
            <a:ext cx="4132746" cy="4443617"/>
          </a:xfrm>
          <a:prstGeom prst="rect">
            <a:avLst/>
          </a:prstGeom>
          <a:effectLst>
            <a:outerShdw blurRad="50800" dist="12700" dir="2220000" sx="102000" sy="102000" algn="ctr" rotWithShape="0">
              <a:srgbClr val="000000">
                <a:alpha val="35000"/>
              </a:srgbClr>
            </a:outerShdw>
            <a:softEdge rad="0"/>
          </a:effectLst>
        </p:spPr>
      </p:pic>
      <p:sp>
        <p:nvSpPr>
          <p:cNvPr id="13" name="TextBox 12"/>
          <p:cNvSpPr txBox="1"/>
          <p:nvPr userDrawn="1"/>
        </p:nvSpPr>
        <p:spPr>
          <a:xfrm>
            <a:off x="1475656" y="2492896"/>
            <a:ext cx="3470822"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Demo</a:t>
            </a:r>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14:presetBounceEnd="42000">
                                      <p:stCondLst>
                                        <p:cond delay="500"/>
                                      </p:stCondLst>
                                      <p:childTnLst>
                                        <p:animMotion origin="layout" path="M 0.57482 2.59259E-6 L 4.72222E-6 2.59259E-6 " pathEditMode="relative" rAng="0" ptsTypes="AA" p14:bounceEnd="42000">
                                          <p:cBhvr>
                                            <p:cTn id="13" dur="1100" fill="hold"/>
                                            <p:tgtEl>
                                              <p:spTgt spid="13"/>
                                            </p:tgtEl>
                                            <p:attrNameLst>
                                              <p:attrName>ppt_x</p:attrName>
                                              <p:attrName>ppt_y</p:attrName>
                                            </p:attrNameLst>
                                          </p:cBhvr>
                                          <p:rCtr x="-287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stCondLst>
                                        <p:cond delay="500"/>
                                      </p:stCondLst>
                                      <p:childTnLst>
                                        <p:animMotion origin="layout" path="M 0.57482 2.59259E-6 L 4.72222E-6 2.59259E-6 " pathEditMode="relative" rAng="0" ptsTypes="AA">
                                          <p:cBhvr>
                                            <p:cTn id="13" dur="1100" fill="hold"/>
                                            <p:tgtEl>
                                              <p:spTgt spid="13"/>
                                            </p:tgtEl>
                                            <p:attrNameLst>
                                              <p:attrName>ppt_x</p:attrName>
                                              <p:attrName>ppt_y</p:attrName>
                                            </p:attrNameLst>
                                          </p:cBhvr>
                                          <p:rCtr x="-287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12160" y="2420888"/>
            <a:ext cx="3700697" cy="2132707"/>
          </a:xfrm>
          <a:prstGeom prst="rect">
            <a:avLst/>
          </a:prstGeom>
          <a:effectLst>
            <a:outerShdw blurRad="50800" dist="12700" dir="2220000" sx="102000" sy="102000" algn="ctr" rotWithShape="0">
              <a:srgbClr val="000000">
                <a:alpha val="35000"/>
              </a:srgbClr>
            </a:outerShdw>
            <a:softEdge rad="0"/>
          </a:effectLst>
        </p:spPr>
      </p:pic>
      <p:sp>
        <p:nvSpPr>
          <p:cNvPr id="12" name="TextBox 11"/>
          <p:cNvSpPr txBox="1"/>
          <p:nvPr userDrawn="1"/>
        </p:nvSpPr>
        <p:spPr>
          <a:xfrm>
            <a:off x="1475656" y="2492896"/>
            <a:ext cx="2125903"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Lab</a:t>
            </a:r>
          </a:p>
        </p:txBody>
      </p:sp>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400"/>
                                            <p:tgtEl>
                                              <p:spTgt spid="12"/>
                                            </p:tgtEl>
                                          </p:cBhvr>
                                        </p:animEffect>
                                      </p:childTnLst>
                                    </p:cTn>
                                  </p:par>
                                  <p:par>
                                    <p:cTn id="12" presetID="35" presetClass="path" presetSubtype="0" fill="hold" grpId="1" nodeType="withEffect" p14:presetBounceEnd="42000">
                                      <p:stCondLst>
                                        <p:cond delay="500"/>
                                      </p:stCondLst>
                                      <p:childTnLst>
                                        <p:animMotion origin="layout" path="M 0.45399 2.59259E-6 L 2.77778E-7 2.59259E-6 " pathEditMode="relative" rAng="0" ptsTypes="AA" p14:bounceEnd="42000">
                                          <p:cBhvr>
                                            <p:cTn id="13" dur="1100" fill="hold"/>
                                            <p:tgtEl>
                                              <p:spTgt spid="12"/>
                                            </p:tgtEl>
                                            <p:attrNameLst>
                                              <p:attrName>ppt_x</p:attrName>
                                              <p:attrName>ppt_y</p:attrName>
                                            </p:attrNameLst>
                                          </p:cBhvr>
                                          <p:rCtr x="-2270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400"/>
                                            <p:tgtEl>
                                              <p:spTgt spid="12"/>
                                            </p:tgtEl>
                                          </p:cBhvr>
                                        </p:animEffect>
                                      </p:childTnLst>
                                    </p:cTn>
                                  </p:par>
                                  <p:par>
                                    <p:cTn id="12" presetID="35" presetClass="path" presetSubtype="0" fill="hold" grpId="1" nodeType="withEffect">
                                      <p:stCondLst>
                                        <p:cond delay="500"/>
                                      </p:stCondLst>
                                      <p:childTnLst>
                                        <p:animMotion origin="layout" path="M 0.45399 2.59259E-6 L 2.77778E-7 2.59259E-6 " pathEditMode="relative" rAng="0" ptsTypes="AA">
                                          <p:cBhvr>
                                            <p:cTn id="13" dur="1100" fill="hold"/>
                                            <p:tgtEl>
                                              <p:spTgt spid="12"/>
                                            </p:tgtEl>
                                            <p:attrNameLst>
                                              <p:attrName>ppt_x</p:attrName>
                                              <p:attrName>ppt_y</p:attrName>
                                            </p:attrNameLst>
                                          </p:cBhvr>
                                          <p:rCtr x="-2270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clusionLab">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12160" y="2420888"/>
            <a:ext cx="3700697" cy="2132707"/>
          </a:xfrm>
          <a:prstGeom prst="rect">
            <a:avLst/>
          </a:prstGeom>
          <a:effectLst>
            <a:outerShdw blurRad="50800" dist="12700" dir="2220000" sx="102000" sy="102000" algn="ctr" rotWithShape="0">
              <a:srgbClr val="000000">
                <a:alpha val="35000"/>
              </a:srgbClr>
            </a:outerShdw>
            <a:softEdge rad="0"/>
          </a:effectLst>
        </p:spPr>
      </p:pic>
      <p:sp>
        <p:nvSpPr>
          <p:cNvPr id="11" name="TextBox 10"/>
          <p:cNvSpPr txBox="1"/>
          <p:nvPr userDrawn="1"/>
        </p:nvSpPr>
        <p:spPr>
          <a:xfrm>
            <a:off x="1547664" y="2492896"/>
            <a:ext cx="3934090" cy="1938992"/>
          </a:xfrm>
          <a:prstGeom prst="rect">
            <a:avLst/>
          </a:prstGeom>
          <a:noFill/>
        </p:spPr>
        <p:txBody>
          <a:bodyPr wrap="none" rtlCol="0">
            <a:spAutoFit/>
          </a:bodyPr>
          <a:lstStyle/>
          <a:p>
            <a:r>
              <a:rPr lang="en-US" sz="6000" b="1" dirty="0">
                <a:solidFill>
                  <a:schemeClr val="tx1">
                    <a:lumMod val="65000"/>
                    <a:lumOff val="35000"/>
                  </a:schemeClr>
                </a:solidFill>
                <a:latin typeface="Segoe Light" panose="020B0302040504020203" pitchFamily="34" charset="0"/>
              </a:rPr>
              <a:t>Conclusion </a:t>
            </a:r>
          </a:p>
          <a:p>
            <a:r>
              <a:rPr lang="en-US" sz="6000" b="1" dirty="0">
                <a:solidFill>
                  <a:schemeClr val="tx1">
                    <a:lumMod val="65000"/>
                    <a:lumOff val="35000"/>
                  </a:schemeClr>
                </a:solidFill>
                <a:latin typeface="Segoe Light" panose="020B0302040504020203" pitchFamily="34" charset="0"/>
              </a:rPr>
              <a:t>Lab</a:t>
            </a:r>
          </a:p>
        </p:txBody>
      </p:sp>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400"/>
                                            <p:tgtEl>
                                              <p:spTgt spid="11"/>
                                            </p:tgtEl>
                                          </p:cBhvr>
                                        </p:animEffect>
                                      </p:childTnLst>
                                    </p:cTn>
                                  </p:par>
                                  <p:par>
                                    <p:cTn id="12" presetID="35" presetClass="path" presetSubtype="0" fill="hold" grpId="1" nodeType="withEffect" p14:presetBounceEnd="42000">
                                      <p:stCondLst>
                                        <p:cond delay="500"/>
                                      </p:stCondLst>
                                      <p:childTnLst>
                                        <p:animMotion origin="layout" path="M 0.48837 -1.11111E-6 L -4.44444E-6 -1.11111E-6 " pathEditMode="relative" rAng="0" ptsTypes="AA" p14:bounceEnd="42000">
                                          <p:cBhvr>
                                            <p:cTn id="13" dur="1100" fill="hold"/>
                                            <p:tgtEl>
                                              <p:spTgt spid="11"/>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400"/>
                                            <p:tgtEl>
                                              <p:spTgt spid="11"/>
                                            </p:tgtEl>
                                          </p:cBhvr>
                                        </p:animEffect>
                                      </p:childTnLst>
                                    </p:cTn>
                                  </p:par>
                                  <p:par>
                                    <p:cTn id="12" presetID="35" presetClass="path" presetSubtype="0" fill="hold" grpId="1" nodeType="withEffect">
                                      <p:stCondLst>
                                        <p:cond delay="500"/>
                                      </p:stCondLst>
                                      <p:childTnLst>
                                        <p:animMotion origin="layout" path="M 0.48837 -1.11111E-6 L -4.44444E-6 -1.11111E-6 " pathEditMode="relative" rAng="0" ptsTypes="AA">
                                          <p:cBhvr>
                                            <p:cTn id="13" dur="1100" fill="hold"/>
                                            <p:tgtEl>
                                              <p:spTgt spid="11"/>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clusionLab">
    <p:spTree>
      <p:nvGrpSpPr>
        <p:cNvPr id="1" name=""/>
        <p:cNvGrpSpPr/>
        <p:nvPr/>
      </p:nvGrpSpPr>
      <p:grpSpPr>
        <a:xfrm>
          <a:off x="0" y="0"/>
          <a:ext cx="0" cy="0"/>
          <a:chOff x="0" y="0"/>
          <a:chExt cx="0" cy="0"/>
        </a:xfrm>
      </p:grpSpPr>
      <p:sp>
        <p:nvSpPr>
          <p:cNvPr id="13" name="TextBox 12"/>
          <p:cNvSpPr txBox="1"/>
          <p:nvPr userDrawn="1"/>
        </p:nvSpPr>
        <p:spPr>
          <a:xfrm>
            <a:off x="827584" y="2492896"/>
            <a:ext cx="4923143"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Final</a:t>
            </a:r>
            <a:r>
              <a:rPr lang="en-US" sz="10000" b="1" baseline="0" dirty="0">
                <a:solidFill>
                  <a:schemeClr val="tx1">
                    <a:lumMod val="65000"/>
                    <a:lumOff val="35000"/>
                  </a:schemeClr>
                </a:solidFill>
                <a:latin typeface="Segoe Light" panose="020B0302040504020203" pitchFamily="34" charset="0"/>
              </a:rPr>
              <a:t> </a:t>
            </a:r>
            <a:r>
              <a:rPr lang="en-US" sz="10000" b="1" dirty="0">
                <a:solidFill>
                  <a:schemeClr val="tx1">
                    <a:lumMod val="65000"/>
                    <a:lumOff val="35000"/>
                  </a:schemeClr>
                </a:solidFill>
                <a:latin typeface="Segoe Light" panose="020B0302040504020203" pitchFamily="34" charset="0"/>
              </a:rPr>
              <a:t>Lab</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12160" y="2420888"/>
            <a:ext cx="3700697" cy="2132707"/>
          </a:xfrm>
          <a:prstGeom prst="rect">
            <a:avLst/>
          </a:prstGeom>
          <a:effectLst>
            <a:outerShdw blurRad="50800" dist="12700" dir="2220000" sx="102000" sy="102000" algn="ctr" rotWithShape="0">
              <a:srgbClr val="000000">
                <a:alpha val="35000"/>
              </a:srgbClr>
            </a:outerShdw>
            <a:softEdge rad="0"/>
          </a:effectLst>
        </p:spPr>
      </p:pic>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8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14:presetBounceEnd="42000">
                                      <p:stCondLst>
                                        <p:cond delay="500"/>
                                      </p:stCondLst>
                                      <p:childTnLst>
                                        <p:animMotion origin="layout" path="M 0.48837 2.59259E-6 L -3.33333E-6 2.59259E-6 " pathEditMode="relative" rAng="0" ptsTypes="AA" p14:bounceEnd="42000">
                                          <p:cBhvr>
                                            <p:cTn id="13" dur="1100" fill="hold"/>
                                            <p:tgtEl>
                                              <p:spTgt spid="13"/>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8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stCondLst>
                                        <p:cond delay="500"/>
                                      </p:stCondLst>
                                      <p:childTnLst>
                                        <p:animMotion origin="layout" path="M 0.48837 2.59259E-6 L -3.33333E-6 2.59259E-6 " pathEditMode="relative" rAng="0" ptsTypes="AA">
                                          <p:cBhvr>
                                            <p:cTn id="13" dur="1100" fill="hold"/>
                                            <p:tgtEl>
                                              <p:spTgt spid="13"/>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kCode">
    <p:spTree>
      <p:nvGrpSpPr>
        <p:cNvPr id="1" name=""/>
        <p:cNvGrpSpPr/>
        <p:nvPr/>
      </p:nvGrpSpPr>
      <p:grpSpPr>
        <a:xfrm>
          <a:off x="0" y="0"/>
          <a:ext cx="0" cy="0"/>
          <a:chOff x="0" y="0"/>
          <a:chExt cx="0" cy="0"/>
        </a:xfrm>
      </p:grpSpPr>
      <p:sp>
        <p:nvSpPr>
          <p:cNvPr id="5" name="Text Placeholder 14"/>
          <p:cNvSpPr>
            <a:spLocks noGrp="1"/>
          </p:cNvSpPr>
          <p:nvPr>
            <p:ph type="body" sz="quarter" idx="16"/>
          </p:nvPr>
        </p:nvSpPr>
        <p:spPr bwMode="blackWhite">
          <a:xfrm>
            <a:off x="602680" y="1492161"/>
            <a:ext cx="8001315" cy="4659258"/>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Click to edit Master text styles</a:t>
            </a:r>
          </a:p>
        </p:txBody>
      </p:sp>
      <p:sp>
        <p:nvSpPr>
          <p:cNvPr id="4"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deSnippets">
    <p:spTree>
      <p:nvGrpSpPr>
        <p:cNvPr id="1" name=""/>
        <p:cNvGrpSpPr/>
        <p:nvPr/>
      </p:nvGrpSpPr>
      <p:grpSpPr>
        <a:xfrm>
          <a:off x="0" y="0"/>
          <a:ext cx="0" cy="0"/>
          <a:chOff x="0" y="0"/>
          <a:chExt cx="0" cy="0"/>
        </a:xfrm>
      </p:grpSpPr>
      <p:sp>
        <p:nvSpPr>
          <p:cNvPr id="13" name="Text Placeholder 12"/>
          <p:cNvSpPr>
            <a:spLocks noGrp="1"/>
          </p:cNvSpPr>
          <p:nvPr>
            <p:ph type="body" sz="quarter" idx="15"/>
          </p:nvPr>
        </p:nvSpPr>
        <p:spPr>
          <a:xfrm>
            <a:off x="611560" y="1494000"/>
            <a:ext cx="7992690" cy="2286000"/>
          </a:xfrm>
          <a:prstGeom prst="rect">
            <a:avLst/>
          </a:prstGeom>
          <a:solidFill>
            <a:schemeClr val="bg1">
              <a:alpha val="69000"/>
            </a:schemeClr>
          </a:solidFill>
        </p:spPr>
        <p:txBody>
          <a:bodyPr tIns="90000">
            <a:normAutofit/>
          </a:bodyPr>
          <a:lstStyle>
            <a:lvl1pPr marL="342900" indent="-342900" algn="l" rtl="0">
              <a:buFontTx/>
              <a:buBlip>
                <a:blip r:embed="rId2"/>
              </a:buBlip>
              <a:defRPr baseline="0">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marL="1600200" indent="-228600" algn="l" rtl="0">
              <a:buFontTx/>
              <a:buBlip>
                <a:blip r:embed="rId2"/>
              </a:buBlip>
              <a:defRPr>
                <a:latin typeface="Segoe" panose="020B0502040504020203" pitchFamily="34" charset="0"/>
              </a:defRPr>
            </a:lvl4pPr>
            <a:lvl5pPr marL="2057400" indent="-228600" algn="l" rtl="0">
              <a:buFontTx/>
              <a:buBlip>
                <a:blip r:embed="rId2"/>
              </a:buBlip>
              <a:defRPr>
                <a:latin typeface="Segoe" panose="020B0502040504020203" pitchFamily="34" charset="0"/>
              </a:defRPr>
            </a:lvl5pPr>
          </a:lstStyle>
          <a:p>
            <a:pPr lvl="0"/>
            <a:r>
              <a:rPr lang="en-US"/>
              <a:t>Click to edit Master text styles</a:t>
            </a:r>
          </a:p>
        </p:txBody>
      </p:sp>
      <p:sp>
        <p:nvSpPr>
          <p:cNvPr id="15" name="Text Placeholder 14"/>
          <p:cNvSpPr>
            <a:spLocks noGrp="1"/>
          </p:cNvSpPr>
          <p:nvPr>
            <p:ph type="body" sz="quarter" idx="16"/>
          </p:nvPr>
        </p:nvSpPr>
        <p:spPr bwMode="blackWhite">
          <a:xfrm>
            <a:off x="602680" y="3873731"/>
            <a:ext cx="8001315" cy="2277687"/>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Click to edit Master text styles</a:t>
            </a:r>
          </a:p>
        </p:txBody>
      </p:sp>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CodeSnippets">
    <p:spTree>
      <p:nvGrpSpPr>
        <p:cNvPr id="1" name=""/>
        <p:cNvGrpSpPr/>
        <p:nvPr/>
      </p:nvGrpSpPr>
      <p:grpSpPr>
        <a:xfrm>
          <a:off x="0" y="0"/>
          <a:ext cx="0" cy="0"/>
          <a:chOff x="0" y="0"/>
          <a:chExt cx="0" cy="0"/>
        </a:xfrm>
      </p:grpSpPr>
      <p:sp>
        <p:nvSpPr>
          <p:cNvPr id="20" name="Text Placeholder 12"/>
          <p:cNvSpPr>
            <a:spLocks noGrp="1"/>
          </p:cNvSpPr>
          <p:nvPr>
            <p:ph type="body" sz="quarter" idx="15"/>
          </p:nvPr>
        </p:nvSpPr>
        <p:spPr>
          <a:xfrm>
            <a:off x="611560" y="1494000"/>
            <a:ext cx="7992690" cy="1502952"/>
          </a:xfrm>
          <a:prstGeom prst="rect">
            <a:avLst/>
          </a:prstGeom>
          <a:solidFill>
            <a:schemeClr val="bg1">
              <a:alpha val="69000"/>
            </a:schemeClr>
          </a:solidFill>
        </p:spPr>
        <p:txBody>
          <a:bodyPr tIns="90000">
            <a:normAutofit/>
          </a:bodyPr>
          <a:lstStyle>
            <a:lvl1pPr marL="342900" indent="-342900" algn="l" rtl="0">
              <a:buFontTx/>
              <a:buBlip>
                <a:blip r:embed="rId2"/>
              </a:buBlip>
              <a:defRPr>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algn="l" rtl="0">
              <a:buFontTx/>
              <a:buBlip>
                <a:blip r:embed="rId3"/>
              </a:buBlip>
              <a:defRPr>
                <a:latin typeface="Segoe" panose="020B0502040504020203" pitchFamily="34" charset="0"/>
              </a:defRPr>
            </a:lvl4pPr>
            <a:lvl5pPr algn="l" rtl="0">
              <a:buFontTx/>
              <a:buBlip>
                <a:blip r:embed="rId3"/>
              </a:buBlip>
              <a:defRPr>
                <a:latin typeface="Segoe" panose="020B0502040504020203" pitchFamily="34" charset="0"/>
              </a:defRPr>
            </a:lvl5pPr>
          </a:lstStyle>
          <a:p>
            <a:pPr lvl="0"/>
            <a:r>
              <a:rPr lang="en-US"/>
              <a:t>Click to edit Master text styles</a:t>
            </a:r>
          </a:p>
        </p:txBody>
      </p:sp>
      <p:sp>
        <p:nvSpPr>
          <p:cNvPr id="21" name="Text Placeholder 14"/>
          <p:cNvSpPr>
            <a:spLocks noGrp="1"/>
          </p:cNvSpPr>
          <p:nvPr>
            <p:ph type="body" sz="quarter" idx="16"/>
          </p:nvPr>
        </p:nvSpPr>
        <p:spPr bwMode="blackWhite">
          <a:xfrm>
            <a:off x="602680" y="3140969"/>
            <a:ext cx="8001315" cy="3010450"/>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Click to edit Master text styles</a:t>
            </a:r>
          </a:p>
        </p:txBody>
      </p:sp>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deSnippets">
    <p:spTree>
      <p:nvGrpSpPr>
        <p:cNvPr id="1" name=""/>
        <p:cNvGrpSpPr/>
        <p:nvPr/>
      </p:nvGrpSpPr>
      <p:grpSpPr>
        <a:xfrm>
          <a:off x="0" y="0"/>
          <a:ext cx="0" cy="0"/>
          <a:chOff x="0" y="0"/>
          <a:chExt cx="0" cy="0"/>
        </a:xfrm>
      </p:grpSpPr>
      <p:sp>
        <p:nvSpPr>
          <p:cNvPr id="22" name="Text Placeholder 12"/>
          <p:cNvSpPr>
            <a:spLocks noGrp="1"/>
          </p:cNvSpPr>
          <p:nvPr>
            <p:ph type="body" sz="quarter" idx="15"/>
          </p:nvPr>
        </p:nvSpPr>
        <p:spPr>
          <a:xfrm>
            <a:off x="611560" y="1494001"/>
            <a:ext cx="8004764" cy="1070904"/>
          </a:xfrm>
          <a:prstGeom prst="rect">
            <a:avLst/>
          </a:prstGeom>
          <a:solidFill>
            <a:schemeClr val="bg1">
              <a:alpha val="69000"/>
            </a:schemeClr>
          </a:solidFill>
        </p:spPr>
        <p:txBody>
          <a:bodyPr tIns="90000">
            <a:normAutofit/>
          </a:bodyPr>
          <a:lstStyle>
            <a:lvl1pPr marL="342900" indent="-342900" algn="l" rtl="0">
              <a:buFontTx/>
              <a:buBlip>
                <a:blip r:embed="rId2"/>
              </a:buBlip>
              <a:defRPr baseline="0">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algn="l" rtl="0">
              <a:buFontTx/>
              <a:buBlip>
                <a:blip r:embed="rId3"/>
              </a:buBlip>
              <a:defRPr>
                <a:latin typeface="Segoe" panose="020B0502040504020203" pitchFamily="34" charset="0"/>
              </a:defRPr>
            </a:lvl3pPr>
            <a:lvl4pPr algn="l" rtl="0">
              <a:buFontTx/>
              <a:buBlip>
                <a:blip r:embed="rId3"/>
              </a:buBlip>
              <a:defRPr>
                <a:latin typeface="Segoe" panose="020B0502040504020203" pitchFamily="34" charset="0"/>
              </a:defRPr>
            </a:lvl4pPr>
            <a:lvl5pPr algn="l" rtl="0">
              <a:buFontTx/>
              <a:buBlip>
                <a:blip r:embed="rId3"/>
              </a:buBlip>
              <a:defRPr>
                <a:latin typeface="Segoe" panose="020B0502040504020203" pitchFamily="34" charset="0"/>
              </a:defRPr>
            </a:lvl5pPr>
          </a:lstStyle>
          <a:p>
            <a:pPr lvl="0"/>
            <a:r>
              <a:rPr lang="en-US"/>
              <a:t>Click to edit Master text styles</a:t>
            </a:r>
          </a:p>
        </p:txBody>
      </p:sp>
      <p:sp>
        <p:nvSpPr>
          <p:cNvPr id="23" name="Text Placeholder 14"/>
          <p:cNvSpPr>
            <a:spLocks noGrp="1"/>
          </p:cNvSpPr>
          <p:nvPr>
            <p:ph type="body" sz="quarter" idx="16"/>
          </p:nvPr>
        </p:nvSpPr>
        <p:spPr bwMode="blackWhite">
          <a:xfrm>
            <a:off x="590849" y="2630516"/>
            <a:ext cx="8013402" cy="1139423"/>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Click to edit Master text styles</a:t>
            </a:r>
          </a:p>
        </p:txBody>
      </p:sp>
      <p:sp>
        <p:nvSpPr>
          <p:cNvPr id="25" name="Text Placeholder 12"/>
          <p:cNvSpPr>
            <a:spLocks noGrp="1"/>
          </p:cNvSpPr>
          <p:nvPr>
            <p:ph type="body" sz="quarter" idx="15"/>
          </p:nvPr>
        </p:nvSpPr>
        <p:spPr>
          <a:xfrm>
            <a:off x="590848" y="3835550"/>
            <a:ext cx="8004764" cy="1072800"/>
          </a:xfrm>
          <a:prstGeom prst="rect">
            <a:avLst/>
          </a:prstGeom>
          <a:solidFill>
            <a:schemeClr val="bg1">
              <a:alpha val="69000"/>
            </a:schemeClr>
          </a:solidFill>
        </p:spPr>
        <p:txBody>
          <a:bodyPr tIns="90000">
            <a:normAutofit/>
          </a:bodyPr>
          <a:lstStyle>
            <a:lvl1pPr marL="342900" indent="-342900" algn="l" rtl="0">
              <a:buFontTx/>
              <a:buBlip>
                <a:blip r:embed="rId2"/>
              </a:buBlip>
              <a:defRPr>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algn="l" rtl="0">
              <a:buFontTx/>
              <a:buBlip>
                <a:blip r:embed="rId3"/>
              </a:buBlip>
              <a:defRPr>
                <a:latin typeface="Segoe" panose="020B0502040504020203" pitchFamily="34" charset="0"/>
              </a:defRPr>
            </a:lvl3pPr>
            <a:lvl4pPr algn="l" rtl="0">
              <a:buFontTx/>
              <a:buBlip>
                <a:blip r:embed="rId3"/>
              </a:buBlip>
              <a:defRPr>
                <a:latin typeface="Segoe" panose="020B0502040504020203" pitchFamily="34" charset="0"/>
              </a:defRPr>
            </a:lvl4pPr>
            <a:lvl5pPr algn="l" rtl="0">
              <a:buFontTx/>
              <a:buBlip>
                <a:blip r:embed="rId3"/>
              </a:buBlip>
              <a:defRPr>
                <a:latin typeface="Segoe" panose="020B0502040504020203" pitchFamily="34" charset="0"/>
              </a:defRPr>
            </a:lvl5pPr>
          </a:lstStyle>
          <a:p>
            <a:pPr lvl="0"/>
            <a:r>
              <a:rPr lang="en-US"/>
              <a:t>Click to edit Master text styles</a:t>
            </a:r>
          </a:p>
        </p:txBody>
      </p:sp>
      <p:sp>
        <p:nvSpPr>
          <p:cNvPr id="26" name="Text Placeholder 14"/>
          <p:cNvSpPr>
            <a:spLocks noGrp="1"/>
          </p:cNvSpPr>
          <p:nvPr>
            <p:ph type="body" sz="quarter" idx="16"/>
          </p:nvPr>
        </p:nvSpPr>
        <p:spPr bwMode="blackWhite">
          <a:xfrm>
            <a:off x="590849" y="4973960"/>
            <a:ext cx="8013402" cy="1139423"/>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Click to edit Master text styles</a:t>
            </a:r>
          </a:p>
        </p:txBody>
      </p:sp>
      <p:sp>
        <p:nvSpPr>
          <p:cNvPr id="7"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7" name="TextBox 6"/>
          <p:cNvSpPr txBox="1"/>
          <p:nvPr userDrawn="1"/>
        </p:nvSpPr>
        <p:spPr>
          <a:xfrm>
            <a:off x="1403648" y="2492896"/>
            <a:ext cx="5545108"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Questions</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71710" y="1988840"/>
            <a:ext cx="1532540" cy="2844235"/>
          </a:xfrm>
          <a:prstGeom prst="rect">
            <a:avLst/>
          </a:prstGeom>
          <a:effectLst>
            <a:outerShdw blurRad="50800" dist="12700" dir="2220000" sx="102000" sy="102000" algn="ctr" rotWithShape="0">
              <a:srgbClr val="000000">
                <a:alpha val="35000"/>
              </a:srgbClr>
            </a:outerShdw>
            <a:softEdge rad="0"/>
          </a:effectLst>
        </p:spPr>
      </p:pic>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100"/>
                                            <p:tgtEl>
                                              <p:spTgt spid="7"/>
                                            </p:tgtEl>
                                          </p:cBhvr>
                                        </p:animEffect>
                                      </p:childTnLst>
                                    </p:cTn>
                                  </p:par>
                                  <p:par>
                                    <p:cTn id="12" presetID="35" presetClass="path" presetSubtype="0" fill="hold" grpId="1" nodeType="withEffect" p14:presetBounceEnd="42000">
                                      <p:stCondLst>
                                        <p:cond delay="500"/>
                                      </p:stCondLst>
                                      <p:childTnLst>
                                        <p:animMotion origin="layout" path="M 0.48837 2.59259E-6 L -4.16667E-6 2.59259E-6 " pathEditMode="relative" rAng="0" ptsTypes="AA" p14:bounceEnd="42000">
                                          <p:cBhvr>
                                            <p:cTn id="13" dur="1100" fill="hold"/>
                                            <p:tgtEl>
                                              <p:spTgt spid="7"/>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100"/>
                                            <p:tgtEl>
                                              <p:spTgt spid="7"/>
                                            </p:tgtEl>
                                          </p:cBhvr>
                                        </p:animEffect>
                                      </p:childTnLst>
                                    </p:cTn>
                                  </p:par>
                                  <p:par>
                                    <p:cTn id="12" presetID="35" presetClass="path" presetSubtype="0" fill="hold" grpId="1" nodeType="withEffect">
                                      <p:stCondLst>
                                        <p:cond delay="500"/>
                                      </p:stCondLst>
                                      <p:childTnLst>
                                        <p:animMotion origin="layout" path="M 0.48837 2.59259E-6 L -4.16667E-6 2.59259E-6 " pathEditMode="relative" rAng="0" ptsTypes="AA">
                                          <p:cBhvr>
                                            <p:cTn id="13" dur="1100" fill="hold"/>
                                            <p:tgtEl>
                                              <p:spTgt spid="7"/>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2" name="Text Placeholder 11"/>
          <p:cNvSpPr>
            <a:spLocks noGrp="1"/>
          </p:cNvSpPr>
          <p:nvPr>
            <p:ph type="body" sz="quarter" idx="13"/>
          </p:nvPr>
        </p:nvSpPr>
        <p:spPr>
          <a:xfrm>
            <a:off x="611560" y="1492161"/>
            <a:ext cx="7992690" cy="4673143"/>
          </a:xfrm>
          <a:prstGeom prst="rect">
            <a:avLst/>
          </a:prstGeom>
          <a:solidFill>
            <a:schemeClr val="bg1">
              <a:alpha val="69000"/>
            </a:schemeClr>
          </a:solidFill>
        </p:spPr>
        <p:txBody>
          <a:bodyPr>
            <a:normAutofit/>
          </a:bodyPr>
          <a:lstStyle>
            <a:lvl1pPr marL="342900" indent="-342900" algn="l" rtl="0">
              <a:buSzPct val="75000"/>
              <a:buFontTx/>
              <a:buBlip>
                <a:blip r:embed="rId2"/>
              </a:buBlip>
              <a:defRPr sz="2800" b="0">
                <a:latin typeface="Segoe" panose="020B0502040504020203" pitchFamily="34" charset="0"/>
              </a:defRPr>
            </a:lvl1pPr>
            <a:lvl2pPr>
              <a:buNone/>
              <a:defRPr/>
            </a:lvl2pPr>
            <a:lvl3pPr>
              <a:buNone/>
              <a:defRPr/>
            </a:lvl3pPr>
            <a:lvl4pPr>
              <a:buNone/>
              <a:defRPr/>
            </a:lvl4pPr>
          </a:lstStyle>
          <a:p>
            <a:pPr lvl="0"/>
            <a:r>
              <a:rPr lang="en-US"/>
              <a:t>Click to edit Master text styles</a:t>
            </a:r>
          </a:p>
        </p:txBody>
      </p:sp>
      <p:sp>
        <p:nvSpPr>
          <p:cNvPr id="5"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oduleAgenda">
    <p:spTree>
      <p:nvGrpSpPr>
        <p:cNvPr id="1" name=""/>
        <p:cNvGrpSpPr/>
        <p:nvPr/>
      </p:nvGrpSpPr>
      <p:grpSpPr>
        <a:xfrm>
          <a:off x="0" y="0"/>
          <a:ext cx="0" cy="0"/>
          <a:chOff x="0" y="0"/>
          <a:chExt cx="0" cy="0"/>
        </a:xfrm>
      </p:grpSpPr>
      <p:sp>
        <p:nvSpPr>
          <p:cNvPr id="13" name="Text Placeholder 11"/>
          <p:cNvSpPr>
            <a:spLocks noGrp="1"/>
          </p:cNvSpPr>
          <p:nvPr>
            <p:ph type="body" sz="quarter" idx="13"/>
          </p:nvPr>
        </p:nvSpPr>
        <p:spPr>
          <a:xfrm>
            <a:off x="611560" y="1492161"/>
            <a:ext cx="7992690" cy="4673143"/>
          </a:xfrm>
          <a:prstGeom prst="rect">
            <a:avLst/>
          </a:prstGeom>
          <a:solidFill>
            <a:schemeClr val="bg1">
              <a:alpha val="69000"/>
            </a:schemeClr>
          </a:solidFill>
        </p:spPr>
        <p:txBody>
          <a:bodyPr>
            <a:normAutofit/>
          </a:bodyPr>
          <a:lstStyle>
            <a:lvl1pPr marL="342900" indent="-342900" algn="l" rtl="0">
              <a:buSzPct val="75000"/>
              <a:buFontTx/>
              <a:buBlip>
                <a:blip r:embed="rId2"/>
              </a:buBlip>
              <a:defRPr sz="2800" b="0">
                <a:latin typeface="Segoe" panose="020B0502040504020203" pitchFamily="34" charset="0"/>
              </a:defRPr>
            </a:lvl1pPr>
            <a:lvl2pPr>
              <a:buNone/>
              <a:defRPr/>
            </a:lvl2pPr>
            <a:lvl3pPr>
              <a:buNone/>
              <a:defRPr/>
            </a:lvl3pPr>
            <a:lvl4pPr>
              <a:buNone/>
              <a:defRPr/>
            </a:lvl4pPr>
          </a:lstStyle>
          <a:p>
            <a:pPr lvl="0"/>
            <a:r>
              <a:rPr lang="en-US"/>
              <a:t>Click to edit Master text styles</a:t>
            </a:r>
          </a:p>
        </p:txBody>
      </p:sp>
      <p:sp>
        <p:nvSpPr>
          <p:cNvPr id="4"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ps">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7380312" y="2348344"/>
            <a:ext cx="1655516" cy="3900056"/>
          </a:xfrm>
          <a:prstGeom prst="rect">
            <a:avLst/>
          </a:prstGeom>
          <a:solidFill>
            <a:schemeClr val="bg1">
              <a:alpha val="69000"/>
            </a:schemeClr>
          </a:solidFill>
        </p:spPr>
        <p:txBody>
          <a:bodyPr>
            <a:normAutofit/>
          </a:bodyPr>
          <a:lstStyle>
            <a:lvl1pPr marL="115888" indent="-115888" algn="l" rtl="0">
              <a:buFont typeface="Arial" pitchFamily="34" charset="0"/>
              <a:buChar char="•"/>
              <a:defRPr sz="1400"/>
            </a:lvl1pPr>
          </a:lstStyle>
          <a:p>
            <a:pPr lvl="0"/>
            <a:r>
              <a:rPr lang="en-US"/>
              <a:t>Click to edit Master text styles</a:t>
            </a:r>
          </a:p>
        </p:txBody>
      </p:sp>
      <p:sp>
        <p:nvSpPr>
          <p:cNvPr id="17" name="Text Placeholder 16"/>
          <p:cNvSpPr>
            <a:spLocks noGrp="1"/>
          </p:cNvSpPr>
          <p:nvPr>
            <p:ph type="body" sz="quarter" idx="16"/>
          </p:nvPr>
        </p:nvSpPr>
        <p:spPr>
          <a:xfrm>
            <a:off x="611560" y="1524000"/>
            <a:ext cx="6553200" cy="4724400"/>
          </a:xfrm>
          <a:prstGeom prst="rect">
            <a:avLst/>
          </a:prstGeom>
          <a:solidFill>
            <a:schemeClr val="bg1">
              <a:alpha val="69000"/>
            </a:schemeClr>
          </a:solidFill>
          <a:ln>
            <a:noFill/>
          </a:ln>
        </p:spPr>
        <p:txBody>
          <a:bodyPr/>
          <a:lstStyle>
            <a:lvl1pPr marL="342900" indent="-342900" algn="l" rtl="0">
              <a:buFontTx/>
              <a:buBlip>
                <a:blip r:embed="rId2"/>
              </a:buBlip>
              <a:defRPr/>
            </a:lvl1pPr>
            <a:lvl2pPr marL="742950" indent="-285750" algn="l" rtl="0">
              <a:buFontTx/>
              <a:buBlip>
                <a:blip r:embed="rId2"/>
              </a:buBlip>
              <a:defRPr/>
            </a:lvl2pPr>
            <a:lvl3pPr marL="1143000" indent="-228600" algn="l" rtl="0">
              <a:buFontTx/>
              <a:buBlip>
                <a:blip r:embed="rId2"/>
              </a:buBlip>
              <a:defRPr/>
            </a:lvl3pPr>
            <a:lvl4pPr marL="1600200" indent="-228600" algn="l" rtl="0">
              <a:buFontTx/>
              <a:buBlip>
                <a:blip r:embed="rId2"/>
              </a:buBlip>
              <a:defRPr/>
            </a:lvl4pPr>
            <a:lvl5pPr marL="2057400" indent="-228600" algn="l" rtl="0">
              <a:buFontTx/>
              <a:buBlip>
                <a:blip r:embed="rId2"/>
              </a:buBlip>
              <a:defRPr/>
            </a:lvl5pPr>
          </a:lstStyle>
          <a:p>
            <a:pPr lvl="0"/>
            <a:r>
              <a:rPr lang="en-US"/>
              <a:t>Click to edit Master text styles</a:t>
            </a:r>
          </a:p>
        </p:txBody>
      </p:sp>
      <p:sp>
        <p:nvSpPr>
          <p:cNvPr id="14" name="TextBox 13"/>
          <p:cNvSpPr txBox="1"/>
          <p:nvPr userDrawn="1"/>
        </p:nvSpPr>
        <p:spPr>
          <a:xfrm>
            <a:off x="7979692" y="1524000"/>
            <a:ext cx="976164" cy="615553"/>
          </a:xfrm>
          <a:prstGeom prst="rect">
            <a:avLst/>
          </a:prstGeom>
          <a:effectLst>
            <a:outerShdw blurRad="50800" dist="12700" dir="2220000" sx="102000" sy="102000" algn="ctr" rotWithShape="0">
              <a:srgbClr val="000000">
                <a:alpha val="35000"/>
              </a:srgbClr>
            </a:outerShdw>
            <a:softEdge rad="0"/>
          </a:effectLst>
        </p:spPr>
        <p:txBody>
          <a:bodyPr vert="horz" wrap="square" lIns="0" tIns="0" rIns="0" bIns="0" rtlCol="0" anchor="t" anchorCtr="0">
            <a:spAutoFit/>
          </a:bodyPr>
          <a:lstStyle>
            <a:lvl1pPr>
              <a:spcBef>
                <a:spcPct val="0"/>
              </a:spcBef>
              <a:buNone/>
              <a:defRPr lang="en-US" sz="4000" b="0" dirty="0" smtClean="0">
                <a:ln w="3175">
                  <a:noFill/>
                </a:ln>
                <a:solidFill>
                  <a:srgbClr val="F08E1B"/>
                </a:solidFill>
                <a:effectLst/>
                <a:latin typeface="Segoe Light" panose="020B0302040504020203" pitchFamily="34" charset="0"/>
                <a:cs typeface="Segoe UI" panose="020B0502040204020203" pitchFamily="34" charset="0"/>
              </a:defRPr>
            </a:lvl1pPr>
          </a:lstStyle>
          <a:p>
            <a:pPr lvl="0"/>
            <a:r>
              <a:rPr lang="en-US" sz="4000" b="1" dirty="0">
                <a:effectLst>
                  <a:outerShdw blurRad="38100" dist="38100" dir="2700000" algn="tl">
                    <a:srgbClr val="000000">
                      <a:alpha val="43137"/>
                    </a:srgbClr>
                  </a:outerShdw>
                </a:effectLst>
                <a:latin typeface="Segoe" panose="020B0502040504020203" pitchFamily="34" charset="0"/>
                <a:cs typeface="Consolas" panose="020B0609020204030204" pitchFamily="49" charset="0"/>
              </a:rPr>
              <a:t>tips</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39090" y="1414674"/>
            <a:ext cx="938110" cy="938110"/>
          </a:xfrm>
          <a:prstGeom prst="rect">
            <a:avLst/>
          </a:prstGeom>
          <a:effectLst>
            <a:outerShdw blurRad="50800" dist="12700" dir="2220000" sx="102000" sy="102000" algn="ctr" rotWithShape="0">
              <a:srgbClr val="000000">
                <a:alpha val="35000"/>
              </a:srgbClr>
            </a:outerShdw>
            <a:softEdge rad="0"/>
          </a:effectLst>
        </p:spPr>
      </p:pic>
      <p:sp>
        <p:nvSpPr>
          <p:cNvPr id="7" name="Title Placeholder 1"/>
          <p:cNvSpPr>
            <a:spLocks noGrp="1"/>
          </p:cNvSpPr>
          <p:nvPr>
            <p:ph type="title" hasCustomPrompt="1"/>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dirty="0"/>
              <a:t>Click to add tips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611560" y="548680"/>
            <a:ext cx="7920880"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560" y="476672"/>
            <a:ext cx="8424268" cy="1015489"/>
          </a:xfrm>
          <a:prstGeom prst="rect">
            <a:avLst/>
          </a:prstGeom>
          <a:ln>
            <a:noFill/>
          </a:ln>
          <a:effectLst/>
        </p:spPr>
        <p:txBody>
          <a:bodyPr vert="horz" lIns="0" tIns="0" rIns="91440" bIns="45720" rtlCol="0" anchor="t" anchorCtr="0">
            <a:normAutofit/>
          </a:bodyPr>
          <a:lstStyle/>
          <a:p>
            <a:endParaRPr lang="en-US" dirty="0"/>
          </a:p>
        </p:txBody>
      </p:sp>
      <p:cxnSp>
        <p:nvCxnSpPr>
          <p:cNvPr id="3" name="Straight Connector 2"/>
          <p:cNvCxnSpPr/>
          <p:nvPr userDrawn="1"/>
        </p:nvCxnSpPr>
        <p:spPr>
          <a:xfrm flipV="1">
            <a:off x="611188" y="6309320"/>
            <a:ext cx="7951904" cy="157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73" r:id="rId2"/>
    <p:sldLayoutId id="2147483650" r:id="rId3"/>
    <p:sldLayoutId id="2147483651" r:id="rId4"/>
    <p:sldLayoutId id="2147483668" r:id="rId5"/>
    <p:sldLayoutId id="2147483669" r:id="rId6"/>
    <p:sldLayoutId id="2147483672" r:id="rId7"/>
    <p:sldLayoutId id="2147483660" r:id="rId8"/>
    <p:sldLayoutId id="2147483661" r:id="rId9"/>
    <p:sldLayoutId id="2147483670" r:id="rId10"/>
    <p:sldLayoutId id="2147483671" r:id="rId11"/>
    <p:sldLayoutId id="2147483662" r:id="rId12"/>
    <p:sldLayoutId id="2147483663" r:id="rId13"/>
    <p:sldLayoutId id="2147483666" r:id="rId14"/>
    <p:sldLayoutId id="2147483665" r:id="rId15"/>
    <p:sldLayoutId id="2147483654" r:id="rId16"/>
  </p:sldLayoutIdLst>
  <p:hf hdr="0" dt="0"/>
  <p:txStyles>
    <p:titleStyle>
      <a:lvl1pPr algn="l" defTabSz="914400" rtl="0" eaLnBrk="1" latinLnBrk="0" hangingPunct="1">
        <a:spcBef>
          <a:spcPct val="0"/>
        </a:spcBef>
        <a:buNone/>
        <a:defRPr lang="en-US" sz="4000" b="0" kern="1200" dirty="0" smtClean="0">
          <a:ln w="3175">
            <a:noFill/>
          </a:ln>
          <a:solidFill>
            <a:srgbClr val="F08E1B"/>
          </a:solidFill>
          <a:effectLst/>
          <a:latin typeface="Segoe Light" panose="020B0302040504020203" pitchFamily="34" charset="0"/>
          <a:ea typeface="+mn-ea"/>
          <a:cs typeface="Segoe UI" panose="020B0502040204020203" pitchFamily="34" charset="0"/>
        </a:defRPr>
      </a:lvl1pPr>
    </p:titleStyle>
    <p:bodyStyle>
      <a:lvl1pPr marL="342900" indent="-34290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1064" userDrawn="1">
          <p15:clr>
            <a:srgbClr val="F26B43"/>
          </p15:clr>
        </p15:guide>
        <p15:guide id="3" pos="54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hyperlink" Target="https://tools.ietf.org/html/rfc7519"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jwt.io/"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uth0/node-jsonwebtoken" TargetMode="Externa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p:cNvSpPr/>
          <p:nvPr/>
        </p:nvSpPr>
        <p:spPr>
          <a:xfrm>
            <a:off x="685800" y="2130480"/>
            <a:ext cx="7771320" cy="1468800"/>
          </a:xfrm>
          <a:prstGeom prst="rect">
            <a:avLst/>
          </a:prstGeom>
        </p:spPr>
        <p:txBody>
          <a:bodyPr lIns="90000" tIns="45000" rIns="90000" bIns="45000" anchor="ctr"/>
          <a:lstStyle/>
          <a:p>
            <a:pPr algn="ctr">
              <a:lnSpc>
                <a:spcPct val="100000"/>
              </a:lnSpc>
            </a:pPr>
            <a:r>
              <a:rPr lang="en-US" sz="4400">
                <a:solidFill>
                  <a:srgbClr val="000000"/>
                </a:solidFill>
                <a:latin typeface="Calibri"/>
              </a:rPr>
              <a:t>Node.js</a:t>
            </a:r>
            <a:endParaRPr/>
          </a:p>
        </p:txBody>
      </p:sp>
      <p:sp>
        <p:nvSpPr>
          <p:cNvPr id="3" name="CustomShape 2"/>
          <p:cNvSpPr/>
          <p:nvPr/>
        </p:nvSpPr>
        <p:spPr>
          <a:xfrm>
            <a:off x="1371600" y="3886200"/>
            <a:ext cx="6399720" cy="1751400"/>
          </a:xfrm>
          <a:prstGeom prst="rect">
            <a:avLst/>
          </a:prstGeom>
        </p:spPr>
        <p:txBody>
          <a:bodyPr lIns="90000" tIns="45000" rIns="90000" bIns="45000"/>
          <a:lstStyle/>
          <a:p>
            <a:pPr algn="ctr">
              <a:lnSpc>
                <a:spcPct val="100000"/>
              </a:lnSpc>
            </a:pPr>
            <a:endParaRPr dirty="0"/>
          </a:p>
        </p:txBody>
      </p:sp>
      <p:pic>
        <p:nvPicPr>
          <p:cNvPr id="4" name="Picture 3"/>
          <p:cNvPicPr/>
          <p:nvPr/>
        </p:nvPicPr>
        <p:blipFill>
          <a:blip r:embed="rId2"/>
          <a:stretch>
            <a:fillRect/>
          </a:stretch>
        </p:blipFill>
        <p:spPr>
          <a:xfrm>
            <a:off x="2071800" y="1600200"/>
            <a:ext cx="4951800" cy="1694520"/>
          </a:xfrm>
          <a:prstGeom prst="rect">
            <a:avLst/>
          </a:prstGeom>
        </p:spPr>
      </p:pic>
      <p:sp>
        <p:nvSpPr>
          <p:cNvPr id="6" name="Text Placeholder 5"/>
          <p:cNvSpPr>
            <a:spLocks noGrp="1"/>
          </p:cNvSpPr>
          <p:nvPr>
            <p:ph type="body" sz="quarter" idx="10"/>
          </p:nvPr>
        </p:nvSpPr>
        <p:spPr>
          <a:xfrm>
            <a:off x="899592" y="3672360"/>
            <a:ext cx="5543476" cy="914400"/>
          </a:xfrm>
        </p:spPr>
        <p:txBody>
          <a:bodyPr/>
          <a:lstStyle/>
          <a:p>
            <a:r>
              <a:rPr lang="en-US" dirty="0"/>
              <a:t>Module 8 – Authentication With Passport </a:t>
            </a:r>
            <a:r>
              <a:rPr lang="en-US"/>
              <a:t>and JWT</a:t>
            </a:r>
            <a:endParaRPr lang="en-US" dirty="0"/>
          </a:p>
          <a:p>
            <a:endParaRPr lang="en-US" dirty="0"/>
          </a:p>
        </p:txBody>
      </p:sp>
    </p:spTree>
    <p:extLst>
      <p:ext uri="{BB962C8B-B14F-4D97-AF65-F5344CB8AC3E}">
        <p14:creationId xmlns:p14="http://schemas.microsoft.com/office/powerpoint/2010/main" val="1521644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0FEC7F-48D7-9D49-926B-69F6D2D4D64E}"/>
              </a:ext>
            </a:extLst>
          </p:cNvPr>
          <p:cNvSpPr>
            <a:spLocks noGrp="1"/>
          </p:cNvSpPr>
          <p:nvPr>
            <p:ph type="body" sz="quarter" idx="13"/>
          </p:nvPr>
        </p:nvSpPr>
        <p:spPr>
          <a:xfrm>
            <a:off x="611560" y="1492161"/>
            <a:ext cx="7992690" cy="4673143"/>
          </a:xfrm>
        </p:spPr>
        <p:txBody>
          <a:bodyPr/>
          <a:lstStyle/>
          <a:p>
            <a:r>
              <a:rPr lang="en-US" dirty="0"/>
              <a:t>Stateful vs. Stateless Authentication</a:t>
            </a:r>
          </a:p>
          <a:p>
            <a:r>
              <a:rPr lang="en-US" dirty="0"/>
              <a:t>OAuth2</a:t>
            </a:r>
          </a:p>
          <a:p>
            <a:r>
              <a:rPr lang="en-US" dirty="0"/>
              <a:t>Passport</a:t>
            </a:r>
          </a:p>
          <a:p>
            <a:r>
              <a:rPr lang="en-US" dirty="0"/>
              <a:t>JWT – JSON Web Tokens</a:t>
            </a:r>
          </a:p>
        </p:txBody>
      </p:sp>
      <p:sp>
        <p:nvSpPr>
          <p:cNvPr id="3" name="Title 2">
            <a:extLst>
              <a:ext uri="{FF2B5EF4-FFF2-40B4-BE49-F238E27FC236}">
                <a16:creationId xmlns:a16="http://schemas.microsoft.com/office/drawing/2014/main" id="{57920EA2-10BB-5D4C-A527-59033CE28F64}"/>
              </a:ext>
            </a:extLst>
          </p:cNvPr>
          <p:cNvSpPr>
            <a:spLocks noGrp="1"/>
          </p:cNvSpPr>
          <p:nvPr>
            <p:ph type="title"/>
          </p:nvPr>
        </p:nvSpPr>
        <p:spPr/>
        <p:txBody>
          <a:bodyPr/>
          <a:lstStyle/>
          <a:p>
            <a:r>
              <a:rPr lang="en-US" dirty="0"/>
              <a:t>Agenda	</a:t>
            </a:r>
          </a:p>
        </p:txBody>
      </p:sp>
    </p:spTree>
    <p:extLst>
      <p:ext uri="{BB962C8B-B14F-4D97-AF65-F5344CB8AC3E}">
        <p14:creationId xmlns:p14="http://schemas.microsoft.com/office/powerpoint/2010/main" val="1222363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410BB3-2951-8247-988C-04B5C189BA13}"/>
              </a:ext>
            </a:extLst>
          </p:cNvPr>
          <p:cNvSpPr>
            <a:spLocks noGrp="1"/>
          </p:cNvSpPr>
          <p:nvPr>
            <p:ph type="body" sz="quarter" idx="13"/>
          </p:nvPr>
        </p:nvSpPr>
        <p:spPr/>
        <p:txBody>
          <a:bodyPr/>
          <a:lstStyle/>
          <a:p>
            <a:r>
              <a:rPr lang="en-US" dirty="0"/>
              <a:t>Historically authentication has always been a stateful service</a:t>
            </a:r>
          </a:p>
          <a:p>
            <a:endParaRPr lang="en-US" dirty="0"/>
          </a:p>
          <a:p>
            <a:r>
              <a:rPr lang="en-US" dirty="0"/>
              <a:t>Now, In modern days web architecture, with multiple clients (SPA, mobile …) it becomes an issue.</a:t>
            </a:r>
          </a:p>
          <a:p>
            <a:endParaRPr lang="en-US" dirty="0"/>
          </a:p>
          <a:p>
            <a:r>
              <a:rPr lang="en-US" dirty="0"/>
              <a:t>Restful services are stateless by definition, and authentication should be that way too.</a:t>
            </a:r>
          </a:p>
        </p:txBody>
      </p:sp>
      <p:sp>
        <p:nvSpPr>
          <p:cNvPr id="3" name="Title 2">
            <a:extLst>
              <a:ext uri="{FF2B5EF4-FFF2-40B4-BE49-F238E27FC236}">
                <a16:creationId xmlns:a16="http://schemas.microsoft.com/office/drawing/2014/main" id="{B840F4AE-B0EA-0740-B87B-E2EA79213860}"/>
              </a:ext>
            </a:extLst>
          </p:cNvPr>
          <p:cNvSpPr>
            <a:spLocks noGrp="1"/>
          </p:cNvSpPr>
          <p:nvPr>
            <p:ph type="title"/>
          </p:nvPr>
        </p:nvSpPr>
        <p:spPr/>
        <p:txBody>
          <a:bodyPr>
            <a:normAutofit fontScale="90000"/>
          </a:bodyPr>
          <a:lstStyle/>
          <a:p>
            <a:r>
              <a:rPr lang="en-US" dirty="0"/>
              <a:t>Stateful vs. Stateless Authentication	</a:t>
            </a:r>
          </a:p>
        </p:txBody>
      </p:sp>
    </p:spTree>
    <p:extLst>
      <p:ext uri="{BB962C8B-B14F-4D97-AF65-F5344CB8AC3E}">
        <p14:creationId xmlns:p14="http://schemas.microsoft.com/office/powerpoint/2010/main" val="3312166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5EE3B-0561-0746-99FA-AC090F4346C4}"/>
              </a:ext>
            </a:extLst>
          </p:cNvPr>
          <p:cNvSpPr>
            <a:spLocks noGrp="1"/>
          </p:cNvSpPr>
          <p:nvPr>
            <p:ph type="title"/>
          </p:nvPr>
        </p:nvSpPr>
        <p:spPr/>
        <p:txBody>
          <a:bodyPr/>
          <a:lstStyle/>
          <a:p>
            <a:r>
              <a:rPr lang="en-US" dirty="0"/>
              <a:t>Token based Authentication</a:t>
            </a:r>
          </a:p>
        </p:txBody>
      </p:sp>
      <p:sp>
        <p:nvSpPr>
          <p:cNvPr id="3" name="Content Placeholder 2">
            <a:extLst>
              <a:ext uri="{FF2B5EF4-FFF2-40B4-BE49-F238E27FC236}">
                <a16:creationId xmlns:a16="http://schemas.microsoft.com/office/drawing/2014/main" id="{E4A783BC-7E71-E145-A29D-525871DC8632}"/>
              </a:ext>
            </a:extLst>
          </p:cNvPr>
          <p:cNvSpPr>
            <a:spLocks noGrp="1"/>
          </p:cNvSpPr>
          <p:nvPr>
            <p:ph idx="1"/>
          </p:nvPr>
        </p:nvSpPr>
        <p:spPr/>
        <p:txBody>
          <a:bodyPr/>
          <a:lstStyle/>
          <a:p>
            <a:r>
              <a:rPr lang="en-US" dirty="0"/>
              <a:t>Token based authentication ensures that each request to a server is accompanied by a signed token which the server can verify it’s authenticity.</a:t>
            </a:r>
          </a:p>
          <a:p>
            <a:pPr marL="0" indent="0">
              <a:buNone/>
            </a:pPr>
            <a:endParaRPr lang="en-US" dirty="0"/>
          </a:p>
          <a:p>
            <a:r>
              <a:rPr lang="en-US" dirty="0"/>
              <a:t>Tokens are self-contained and contain all the information needed for authentication, this makes them stateless, scalable and decoupled</a:t>
            </a:r>
          </a:p>
          <a:p>
            <a:pPr marL="0" indent="0">
              <a:buNone/>
            </a:pPr>
            <a:r>
              <a:rPr lang="en-US" dirty="0"/>
              <a:t> </a:t>
            </a:r>
          </a:p>
          <a:p>
            <a:endParaRPr lang="en-US" dirty="0"/>
          </a:p>
        </p:txBody>
      </p:sp>
    </p:spTree>
    <p:extLst>
      <p:ext uri="{BB962C8B-B14F-4D97-AF65-F5344CB8AC3E}">
        <p14:creationId xmlns:p14="http://schemas.microsoft.com/office/powerpoint/2010/main" val="2333270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OAuth2?</a:t>
            </a:r>
          </a:p>
        </p:txBody>
      </p:sp>
      <p:sp>
        <p:nvSpPr>
          <p:cNvPr id="3" name="Content Placeholder 2"/>
          <p:cNvSpPr>
            <a:spLocks noGrp="1"/>
          </p:cNvSpPr>
          <p:nvPr>
            <p:ph idx="1"/>
          </p:nvPr>
        </p:nvSpPr>
        <p:spPr/>
        <p:txBody>
          <a:bodyPr/>
          <a:lstStyle/>
          <a:p>
            <a:r>
              <a:rPr lang="en-US" dirty="0"/>
              <a:t> Version 2 of the OAuth protocol </a:t>
            </a:r>
          </a:p>
          <a:p>
            <a:r>
              <a:rPr lang="en-US" dirty="0"/>
              <a:t>This protocol allows third-party applications to grant limited access to an HTTP service, either on behalf of a resource owner or by allowing the third-party application to obtain access on its own behalf.</a:t>
            </a:r>
            <a:endParaRPr lang="he-IL" dirty="0"/>
          </a:p>
        </p:txBody>
      </p:sp>
      <p:pic>
        <p:nvPicPr>
          <p:cNvPr id="4" name="Picture 3"/>
          <p:cNvPicPr>
            <a:picLocks noChangeAspect="1"/>
          </p:cNvPicPr>
          <p:nvPr/>
        </p:nvPicPr>
        <p:blipFill>
          <a:blip r:embed="rId2"/>
          <a:stretch>
            <a:fillRect/>
          </a:stretch>
        </p:blipFill>
        <p:spPr>
          <a:xfrm>
            <a:off x="7020272" y="453936"/>
            <a:ext cx="1009650" cy="1038225"/>
          </a:xfrm>
          <a:prstGeom prst="rect">
            <a:avLst/>
          </a:prstGeom>
        </p:spPr>
      </p:pic>
    </p:spTree>
    <p:extLst>
      <p:ext uri="{BB962C8B-B14F-4D97-AF65-F5344CB8AC3E}">
        <p14:creationId xmlns:p14="http://schemas.microsoft.com/office/powerpoint/2010/main" val="726465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Roles</a:t>
            </a:r>
            <a:br>
              <a:rPr lang="en-US" dirty="0"/>
            </a:br>
            <a:endParaRPr lang="he-IL" dirty="0"/>
          </a:p>
        </p:txBody>
      </p:sp>
      <p:sp>
        <p:nvSpPr>
          <p:cNvPr id="3" name="Content Placeholder 2"/>
          <p:cNvSpPr>
            <a:spLocks noGrp="1"/>
          </p:cNvSpPr>
          <p:nvPr>
            <p:ph idx="1"/>
          </p:nvPr>
        </p:nvSpPr>
        <p:spPr/>
        <p:txBody>
          <a:bodyPr>
            <a:normAutofit fontScale="92500" lnSpcReduction="20000"/>
          </a:bodyPr>
          <a:lstStyle/>
          <a:p>
            <a:r>
              <a:rPr lang="en-US" b="1" dirty="0"/>
              <a:t>Resource Owner</a:t>
            </a:r>
            <a:r>
              <a:rPr lang="en-US" dirty="0"/>
              <a:t>: generally yourself.</a:t>
            </a:r>
          </a:p>
          <a:p>
            <a:r>
              <a:rPr lang="en-US" b="1" dirty="0"/>
              <a:t>Resource Server</a:t>
            </a:r>
            <a:r>
              <a:rPr lang="en-US" dirty="0"/>
              <a:t>: server hosting protected data (for example Google hosting your profile and personal information).</a:t>
            </a:r>
          </a:p>
          <a:p>
            <a:r>
              <a:rPr lang="en-US" b="1" dirty="0"/>
              <a:t>Client</a:t>
            </a:r>
            <a:r>
              <a:rPr lang="en-US" dirty="0"/>
              <a:t>: application requesting access to a resource server (it can be your PHP website, a </a:t>
            </a:r>
            <a:r>
              <a:rPr lang="en-US" dirty="0" err="1"/>
              <a:t>Javascript</a:t>
            </a:r>
            <a:r>
              <a:rPr lang="en-US" dirty="0"/>
              <a:t> application or a mobile application).</a:t>
            </a:r>
          </a:p>
          <a:p>
            <a:r>
              <a:rPr lang="en-US" b="1" dirty="0"/>
              <a:t>Authorization Server</a:t>
            </a:r>
            <a:r>
              <a:rPr lang="en-US" dirty="0"/>
              <a:t>: server issuing access token to the client. This token will be used for the client to request the resource server. This server can be the same as the authorization server (same physical server and same application), and it is often the case.</a:t>
            </a:r>
            <a:endParaRPr lang="he-IL" dirty="0"/>
          </a:p>
        </p:txBody>
      </p:sp>
    </p:spTree>
    <p:extLst>
      <p:ext uri="{BB962C8B-B14F-4D97-AF65-F5344CB8AC3E}">
        <p14:creationId xmlns:p14="http://schemas.microsoft.com/office/powerpoint/2010/main" val="352662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Tokens</a:t>
            </a:r>
            <a:br>
              <a:rPr lang="en-US" dirty="0"/>
            </a:br>
            <a:endParaRPr lang="he-IL" dirty="0"/>
          </a:p>
        </p:txBody>
      </p:sp>
      <p:sp>
        <p:nvSpPr>
          <p:cNvPr id="3" name="Content Placeholder 2"/>
          <p:cNvSpPr>
            <a:spLocks noGrp="1"/>
          </p:cNvSpPr>
          <p:nvPr>
            <p:ph idx="1"/>
          </p:nvPr>
        </p:nvSpPr>
        <p:spPr/>
        <p:txBody>
          <a:bodyPr/>
          <a:lstStyle/>
          <a:p>
            <a:r>
              <a:rPr lang="en-US" dirty="0"/>
              <a:t>Tokens are random strings generated by the authorization server and are issued when the client requests them.</a:t>
            </a:r>
            <a:endParaRPr lang="he-IL" dirty="0"/>
          </a:p>
          <a:p>
            <a:pPr lvl="1"/>
            <a:r>
              <a:rPr lang="en-US" b="1" dirty="0"/>
              <a:t>Access Token</a:t>
            </a:r>
            <a:endParaRPr lang="he-IL" b="1" dirty="0"/>
          </a:p>
          <a:p>
            <a:pPr lvl="1"/>
            <a:r>
              <a:rPr lang="en-US" b="1" dirty="0"/>
              <a:t>Refresh Token</a:t>
            </a:r>
            <a:endParaRPr lang="he-IL" b="1" dirty="0"/>
          </a:p>
          <a:p>
            <a:r>
              <a:rPr lang="en-US" b="1" dirty="0"/>
              <a:t>Scope </a:t>
            </a:r>
            <a:r>
              <a:rPr lang="en-US" dirty="0"/>
              <a:t>is a parameter used to limit the rights of the access token.</a:t>
            </a:r>
            <a:endParaRPr lang="he-IL" dirty="0"/>
          </a:p>
        </p:txBody>
      </p:sp>
    </p:spTree>
    <p:extLst>
      <p:ext uri="{BB962C8B-B14F-4D97-AF65-F5344CB8AC3E}">
        <p14:creationId xmlns:p14="http://schemas.microsoft.com/office/powerpoint/2010/main" val="2906334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Authorization grant types</a:t>
            </a:r>
            <a:br>
              <a:rPr lang="en-US" dirty="0"/>
            </a:br>
            <a:endParaRPr lang="he-IL" dirty="0"/>
          </a:p>
        </p:txBody>
      </p:sp>
      <p:sp>
        <p:nvSpPr>
          <p:cNvPr id="3" name="Content Placeholder 2"/>
          <p:cNvSpPr>
            <a:spLocks noGrp="1"/>
          </p:cNvSpPr>
          <p:nvPr>
            <p:ph idx="1"/>
          </p:nvPr>
        </p:nvSpPr>
        <p:spPr/>
        <p:txBody>
          <a:bodyPr/>
          <a:lstStyle/>
          <a:p>
            <a:r>
              <a:rPr lang="en-US" dirty="0"/>
              <a:t>OAuth2 defines 4 grant types depending on the location and the nature of the client involved in obtaining an access token.</a:t>
            </a:r>
            <a:endParaRPr lang="he-IL" dirty="0"/>
          </a:p>
          <a:p>
            <a:r>
              <a:rPr lang="en-US" dirty="0"/>
              <a:t>Authorization Code Grant (server-side Applications)</a:t>
            </a:r>
          </a:p>
          <a:p>
            <a:r>
              <a:rPr lang="en-US" dirty="0"/>
              <a:t>Implicit Grant (redirect to login page)</a:t>
            </a:r>
          </a:p>
          <a:p>
            <a:r>
              <a:rPr lang="en-US" dirty="0"/>
              <a:t>Resource Owner Password Credentials Grant</a:t>
            </a:r>
          </a:p>
          <a:p>
            <a:r>
              <a:rPr lang="en-US" dirty="0"/>
              <a:t>Client Credentials Grant (client credentials )</a:t>
            </a:r>
          </a:p>
          <a:p>
            <a:pPr marL="0" indent="0">
              <a:buNone/>
            </a:pPr>
            <a:endParaRPr lang="he-IL" dirty="0"/>
          </a:p>
        </p:txBody>
      </p:sp>
    </p:spTree>
    <p:extLst>
      <p:ext uri="{BB962C8B-B14F-4D97-AF65-F5344CB8AC3E}">
        <p14:creationId xmlns:p14="http://schemas.microsoft.com/office/powerpoint/2010/main" val="71824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Resource Owner Password Credentials Grant</a:t>
            </a:r>
          </a:p>
        </p:txBody>
      </p:sp>
      <p:sp>
        <p:nvSpPr>
          <p:cNvPr id="3" name="Content Placeholder 2"/>
          <p:cNvSpPr>
            <a:spLocks noGrp="1"/>
          </p:cNvSpPr>
          <p:nvPr>
            <p:ph idx="1"/>
          </p:nvPr>
        </p:nvSpPr>
        <p:spPr/>
        <p:txBody>
          <a:bodyPr>
            <a:normAutofit fontScale="92500" lnSpcReduction="10000"/>
          </a:bodyPr>
          <a:lstStyle/>
          <a:p>
            <a:r>
              <a:rPr lang="en-US" dirty="0"/>
              <a:t>Resource Owner: You have an account on AbcCompany.com website of the </a:t>
            </a:r>
            <a:r>
              <a:rPr lang="en-US" dirty="0" err="1"/>
              <a:t>Abc</a:t>
            </a:r>
            <a:r>
              <a:rPr lang="en-US" dirty="0"/>
              <a:t> company</a:t>
            </a:r>
          </a:p>
          <a:p>
            <a:endParaRPr lang="en-US" dirty="0"/>
          </a:p>
          <a:p>
            <a:r>
              <a:rPr lang="en-US" dirty="0"/>
              <a:t>Client: </a:t>
            </a:r>
            <a:r>
              <a:rPr lang="en-US" b="1" dirty="0" err="1"/>
              <a:t>abc.com</a:t>
            </a:r>
            <a:r>
              <a:rPr lang="en-US" dirty="0"/>
              <a:t> SPA/mobile app askes for your credentials inside a login page.</a:t>
            </a:r>
          </a:p>
          <a:p>
            <a:endParaRPr lang="en-US" dirty="0"/>
          </a:p>
          <a:p>
            <a:r>
              <a:rPr lang="en-US" dirty="0"/>
              <a:t>Resource Server: </a:t>
            </a:r>
            <a:r>
              <a:rPr lang="en-US" dirty="0" err="1"/>
              <a:t>Abc</a:t>
            </a:r>
            <a:r>
              <a:rPr lang="en-US" dirty="0"/>
              <a:t> company is exposing its API at </a:t>
            </a:r>
            <a:r>
              <a:rPr lang="en-US" b="1" dirty="0"/>
              <a:t>api.abc.com</a:t>
            </a:r>
          </a:p>
          <a:p>
            <a:endParaRPr lang="en-US" dirty="0"/>
          </a:p>
          <a:p>
            <a:r>
              <a:rPr lang="en-US" dirty="0"/>
              <a:t>Authorization Server: an </a:t>
            </a:r>
            <a:r>
              <a:rPr lang="en-US" dirty="0" err="1"/>
              <a:t>Abc</a:t>
            </a:r>
            <a:r>
              <a:rPr lang="en-US" dirty="0"/>
              <a:t> company server hosted at </a:t>
            </a:r>
            <a:r>
              <a:rPr lang="en-US" b="1" dirty="0" err="1"/>
              <a:t>auth.abc.com</a:t>
            </a:r>
            <a:endParaRPr lang="en-US" b="1" dirty="0"/>
          </a:p>
          <a:p>
            <a:endParaRPr lang="en-US" dirty="0"/>
          </a:p>
          <a:p>
            <a:endParaRPr lang="en-US" dirty="0"/>
          </a:p>
          <a:p>
            <a:endParaRPr lang="he-IL" dirty="0"/>
          </a:p>
          <a:p>
            <a:pPr marL="0" indent="0">
              <a:buNone/>
            </a:pPr>
            <a:endParaRPr lang="he-IL" dirty="0"/>
          </a:p>
        </p:txBody>
      </p:sp>
    </p:spTree>
    <p:extLst>
      <p:ext uri="{BB962C8B-B14F-4D97-AF65-F5344CB8AC3E}">
        <p14:creationId xmlns:p14="http://schemas.microsoft.com/office/powerpoint/2010/main" val="56939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Resource Owner Password Credentials Grant</a:t>
            </a:r>
          </a:p>
        </p:txBody>
      </p:sp>
      <p:pic>
        <p:nvPicPr>
          <p:cNvPr id="3" name="תמונה 2"/>
          <p:cNvPicPr>
            <a:picLocks noChangeAspect="1"/>
          </p:cNvPicPr>
          <p:nvPr/>
        </p:nvPicPr>
        <p:blipFill>
          <a:blip r:embed="rId2"/>
          <a:stretch>
            <a:fillRect/>
          </a:stretch>
        </p:blipFill>
        <p:spPr>
          <a:xfrm>
            <a:off x="611560" y="1496638"/>
            <a:ext cx="7953550" cy="4308626"/>
          </a:xfrm>
          <a:prstGeom prst="rect">
            <a:avLst/>
          </a:prstGeom>
        </p:spPr>
      </p:pic>
      <p:sp>
        <p:nvSpPr>
          <p:cNvPr id="5" name="הסבר מלבני מעוגל 4"/>
          <p:cNvSpPr/>
          <p:nvPr/>
        </p:nvSpPr>
        <p:spPr>
          <a:xfrm>
            <a:off x="1403648" y="1700808"/>
            <a:ext cx="1872207" cy="504056"/>
          </a:xfrm>
          <a:prstGeom prst="wedgeRoundRectCallo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US" dirty="0">
                <a:ln w="0"/>
                <a:solidFill>
                  <a:schemeClr val="tx1"/>
                </a:solidFill>
                <a:effectLst>
                  <a:outerShdw blurRad="38100" dist="19050" dir="2700000" algn="tl" rotWithShape="0">
                    <a:schemeClr val="dk1">
                      <a:alpha val="40000"/>
                    </a:schemeClr>
                  </a:outerShdw>
                </a:effectLst>
              </a:rPr>
              <a:t>Login Page</a:t>
            </a:r>
            <a:endParaRPr lang="he-IL" dirty="0">
              <a:ln w="0"/>
              <a:solidFill>
                <a:schemeClr val="tx1"/>
              </a:solidFill>
              <a:effectLst>
                <a:outerShdw blurRad="38100" dist="19050" dir="2700000" algn="tl" rotWithShape="0">
                  <a:schemeClr val="dk1">
                    <a:alpha val="40000"/>
                  </a:schemeClr>
                </a:outerShdw>
              </a:effectLst>
            </a:endParaRPr>
          </a:p>
        </p:txBody>
      </p:sp>
      <p:sp>
        <p:nvSpPr>
          <p:cNvPr id="6" name="הסבר מלבני מעוגל 5"/>
          <p:cNvSpPr/>
          <p:nvPr/>
        </p:nvSpPr>
        <p:spPr>
          <a:xfrm>
            <a:off x="6475228" y="2392297"/>
            <a:ext cx="1872207" cy="504056"/>
          </a:xfrm>
          <a:prstGeom prst="wedgeRoundRectCallo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US" dirty="0" err="1">
                <a:ln w="0"/>
                <a:solidFill>
                  <a:schemeClr val="tx1"/>
                </a:solidFill>
                <a:effectLst>
                  <a:outerShdw blurRad="38100" dist="19050" dir="2700000" algn="tl" rotWithShape="0">
                    <a:schemeClr val="dk1">
                      <a:alpha val="40000"/>
                    </a:schemeClr>
                  </a:outerShdw>
                </a:effectLst>
              </a:rPr>
              <a:t>Node.JS</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Oauth</a:t>
            </a:r>
            <a:endParaRPr lang="he-IL" dirty="0">
              <a:ln w="0"/>
              <a:solidFill>
                <a:schemeClr val="tx1"/>
              </a:solidFill>
              <a:effectLst>
                <a:outerShdw blurRad="38100" dist="19050" dir="2700000" algn="tl" rotWithShape="0">
                  <a:schemeClr val="dk1">
                    <a:alpha val="40000"/>
                  </a:schemeClr>
                </a:outerShdw>
              </a:effectLst>
            </a:endParaRPr>
          </a:p>
        </p:txBody>
      </p:sp>
      <p:sp>
        <p:nvSpPr>
          <p:cNvPr id="7" name="הסבר מלבני מעוגל 6"/>
          <p:cNvSpPr/>
          <p:nvPr/>
        </p:nvSpPr>
        <p:spPr>
          <a:xfrm>
            <a:off x="6508226" y="3792011"/>
            <a:ext cx="1872207" cy="504056"/>
          </a:xfrm>
          <a:prstGeom prst="wedgeRoundRectCallo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US" dirty="0">
                <a:ln w="0"/>
                <a:solidFill>
                  <a:schemeClr val="tx1"/>
                </a:solidFill>
                <a:effectLst>
                  <a:outerShdw blurRad="38100" dist="19050" dir="2700000" algn="tl" rotWithShape="0">
                    <a:schemeClr val="dk1">
                      <a:alpha val="40000"/>
                    </a:schemeClr>
                  </a:outerShdw>
                </a:effectLst>
              </a:rPr>
              <a:t>Express API</a:t>
            </a:r>
            <a:endParaRPr lang="he-IL"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0703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BFA0-3B66-034A-B0F0-CD6BB6D7C1DA}"/>
              </a:ext>
            </a:extLst>
          </p:cNvPr>
          <p:cNvSpPr>
            <a:spLocks noGrp="1"/>
          </p:cNvSpPr>
          <p:nvPr>
            <p:ph type="title"/>
          </p:nvPr>
        </p:nvSpPr>
        <p:spPr/>
        <p:txBody>
          <a:bodyPr/>
          <a:lstStyle/>
          <a:p>
            <a:r>
              <a:rPr lang="en-US" dirty="0"/>
              <a:t>Passport	</a:t>
            </a:r>
          </a:p>
        </p:txBody>
      </p:sp>
      <p:sp>
        <p:nvSpPr>
          <p:cNvPr id="3" name="Content Placeholder 2">
            <a:extLst>
              <a:ext uri="{FF2B5EF4-FFF2-40B4-BE49-F238E27FC236}">
                <a16:creationId xmlns:a16="http://schemas.microsoft.com/office/drawing/2014/main" id="{78587F5C-3244-5E4B-956D-ADAF63F66D66}"/>
              </a:ext>
            </a:extLst>
          </p:cNvPr>
          <p:cNvSpPr>
            <a:spLocks noGrp="1"/>
          </p:cNvSpPr>
          <p:nvPr>
            <p:ph idx="1"/>
          </p:nvPr>
        </p:nvSpPr>
        <p:spPr/>
        <p:txBody>
          <a:bodyPr/>
          <a:lstStyle/>
          <a:p>
            <a:r>
              <a:rPr lang="en-US" dirty="0"/>
              <a:t>Passport is an authentication middleware for Node.js</a:t>
            </a:r>
          </a:p>
          <a:p>
            <a:pPr marL="0" indent="0">
              <a:buNone/>
            </a:pPr>
            <a:endParaRPr lang="en-US" dirty="0"/>
          </a:p>
          <a:p>
            <a:r>
              <a:rPr lang="en-US" dirty="0"/>
              <a:t>It can be dropped into any Express based web application.</a:t>
            </a:r>
          </a:p>
          <a:p>
            <a:endParaRPr lang="en-US" dirty="0"/>
          </a:p>
          <a:p>
            <a:r>
              <a:rPr lang="en-US" dirty="0"/>
              <a:t>Passport's sole purpose is to authenticate requests, which it does through an extensible set of plugins known as </a:t>
            </a:r>
            <a:r>
              <a:rPr lang="en-US" i="1" dirty="0"/>
              <a:t>strategies.</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13141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51E63E-570E-C84E-92E5-67A13C952553}"/>
              </a:ext>
            </a:extLst>
          </p:cNvPr>
          <p:cNvSpPr>
            <a:spLocks noGrp="1"/>
          </p:cNvSpPr>
          <p:nvPr>
            <p:ph type="body" sz="quarter" idx="15"/>
          </p:nvPr>
        </p:nvSpPr>
        <p:spPr/>
        <p:txBody>
          <a:bodyPr>
            <a:normAutofit fontScale="92500" lnSpcReduction="20000"/>
          </a:bodyPr>
          <a:lstStyle/>
          <a:p>
            <a:r>
              <a:rPr lang="en-US" dirty="0"/>
              <a:t>Passport uses the concept of strategies to authenticate requests.</a:t>
            </a:r>
          </a:p>
          <a:p>
            <a:r>
              <a:rPr lang="en-US" dirty="0"/>
              <a:t>Strategies can range from verifying username and password credentials, delegated authentication using OAuth (for example, via Facebook or Twitter), or federated authentication using OpenID.</a:t>
            </a:r>
          </a:p>
        </p:txBody>
      </p:sp>
      <p:sp>
        <p:nvSpPr>
          <p:cNvPr id="5" name="Text Placeholder 4">
            <a:extLst>
              <a:ext uri="{FF2B5EF4-FFF2-40B4-BE49-F238E27FC236}">
                <a16:creationId xmlns:a16="http://schemas.microsoft.com/office/drawing/2014/main" id="{1BAD3D6E-1EDD-CC48-AEBC-270A4D69CEB3}"/>
              </a:ext>
            </a:extLst>
          </p:cNvPr>
          <p:cNvSpPr>
            <a:spLocks noGrp="1"/>
          </p:cNvSpPr>
          <p:nvPr>
            <p:ph type="body" sz="quarter" idx="16"/>
          </p:nvPr>
        </p:nvSpPr>
        <p:spPr/>
        <p:txBody>
          <a:bodyPr>
            <a:normAutofit fontScale="85000" lnSpcReduction="10000"/>
          </a:bodyPr>
          <a:lstStyle/>
          <a:p>
            <a:r>
              <a:rPr lang="en-US" dirty="0" err="1"/>
              <a:t>passport.use</a:t>
            </a:r>
            <a:r>
              <a:rPr lang="en-US" dirty="0"/>
              <a:t>(</a:t>
            </a:r>
            <a:r>
              <a:rPr lang="en-US" b="1" dirty="0"/>
              <a:t>new </a:t>
            </a:r>
            <a:r>
              <a:rPr lang="en-US" dirty="0" err="1"/>
              <a:t>LocalStrategy</a:t>
            </a:r>
            <a:r>
              <a:rPr lang="en-US" dirty="0"/>
              <a:t>(</a:t>
            </a:r>
            <a:br>
              <a:rPr lang="en-US" dirty="0"/>
            </a:br>
            <a:r>
              <a:rPr lang="en-US" dirty="0"/>
              <a:t>  </a:t>
            </a:r>
            <a:r>
              <a:rPr lang="en-US" b="1" dirty="0"/>
              <a:t>function</a:t>
            </a:r>
            <a:r>
              <a:rPr lang="en-US" dirty="0"/>
              <a:t>(username, password, done) {</a:t>
            </a:r>
            <a:br>
              <a:rPr lang="en-US" dirty="0"/>
            </a:br>
            <a:r>
              <a:rPr lang="en-US" dirty="0"/>
              <a:t>    </a:t>
            </a:r>
            <a:r>
              <a:rPr lang="en-US" dirty="0" err="1"/>
              <a:t>User.findOne</a:t>
            </a:r>
            <a:r>
              <a:rPr lang="en-US" dirty="0"/>
              <a:t>({ username: username }, </a:t>
            </a:r>
            <a:r>
              <a:rPr lang="en-US" b="1" dirty="0"/>
              <a:t>function </a:t>
            </a:r>
            <a:r>
              <a:rPr lang="en-US" dirty="0"/>
              <a:t>(err, user) {</a:t>
            </a:r>
            <a:br>
              <a:rPr lang="en-US" dirty="0"/>
            </a:br>
            <a:r>
              <a:rPr lang="en-US" dirty="0"/>
              <a:t>      </a:t>
            </a:r>
            <a:r>
              <a:rPr lang="en-US" b="1" dirty="0"/>
              <a:t>if </a:t>
            </a:r>
            <a:r>
              <a:rPr lang="en-US" dirty="0"/>
              <a:t>(err) { </a:t>
            </a:r>
            <a:r>
              <a:rPr lang="en-US" b="1" dirty="0"/>
              <a:t>return </a:t>
            </a:r>
            <a:r>
              <a:rPr lang="en-US" dirty="0"/>
              <a:t>done(err); }</a:t>
            </a:r>
            <a:br>
              <a:rPr lang="en-US" dirty="0"/>
            </a:br>
            <a:r>
              <a:rPr lang="en-US" dirty="0"/>
              <a:t>      </a:t>
            </a:r>
            <a:r>
              <a:rPr lang="en-US" b="1" dirty="0"/>
              <a:t>if </a:t>
            </a:r>
            <a:r>
              <a:rPr lang="en-US" dirty="0"/>
              <a:t>(!user) { </a:t>
            </a:r>
            <a:r>
              <a:rPr lang="en-US" b="1" dirty="0"/>
              <a:t>return </a:t>
            </a:r>
            <a:r>
              <a:rPr lang="en-US" dirty="0"/>
              <a:t>done(</a:t>
            </a:r>
            <a:r>
              <a:rPr lang="en-US" b="1" dirty="0"/>
              <a:t>null</a:t>
            </a:r>
            <a:r>
              <a:rPr lang="en-US" dirty="0"/>
              <a:t>, </a:t>
            </a:r>
            <a:r>
              <a:rPr lang="en-US" b="1" dirty="0"/>
              <a:t>false</a:t>
            </a:r>
            <a:r>
              <a:rPr lang="en-US" dirty="0"/>
              <a:t>); }</a:t>
            </a:r>
            <a:br>
              <a:rPr lang="en-US" dirty="0"/>
            </a:br>
            <a:r>
              <a:rPr lang="en-US" dirty="0"/>
              <a:t>      </a:t>
            </a:r>
            <a:r>
              <a:rPr lang="en-US" b="1" dirty="0"/>
              <a:t>if </a:t>
            </a:r>
            <a:r>
              <a:rPr lang="en-US" dirty="0"/>
              <a:t>(!</a:t>
            </a:r>
            <a:r>
              <a:rPr lang="en-US" dirty="0" err="1"/>
              <a:t>user.verifyPassword</a:t>
            </a:r>
            <a:r>
              <a:rPr lang="en-US" dirty="0"/>
              <a:t>(password)) { </a:t>
            </a:r>
            <a:r>
              <a:rPr lang="en-US" b="1" dirty="0"/>
              <a:t>return </a:t>
            </a:r>
            <a:r>
              <a:rPr lang="en-US" dirty="0"/>
              <a:t>done(</a:t>
            </a:r>
            <a:r>
              <a:rPr lang="en-US" b="1" dirty="0"/>
              <a:t>null</a:t>
            </a:r>
            <a:r>
              <a:rPr lang="en-US" dirty="0"/>
              <a:t>, </a:t>
            </a:r>
            <a:r>
              <a:rPr lang="en-US" b="1" dirty="0"/>
              <a:t>false</a:t>
            </a:r>
            <a:r>
              <a:rPr lang="en-US" dirty="0"/>
              <a:t>); }</a:t>
            </a:r>
            <a:br>
              <a:rPr lang="en-US" dirty="0"/>
            </a:br>
            <a:r>
              <a:rPr lang="en-US" dirty="0"/>
              <a:t>      </a:t>
            </a:r>
            <a:r>
              <a:rPr lang="en-US" b="1" dirty="0"/>
              <a:t>return </a:t>
            </a:r>
            <a:r>
              <a:rPr lang="en-US" dirty="0"/>
              <a:t>done(</a:t>
            </a:r>
            <a:r>
              <a:rPr lang="en-US" b="1" dirty="0"/>
              <a:t>null</a:t>
            </a:r>
            <a:r>
              <a:rPr lang="en-US" dirty="0"/>
              <a:t>, user);</a:t>
            </a:r>
            <a:br>
              <a:rPr lang="en-US" dirty="0"/>
            </a:br>
            <a:r>
              <a:rPr lang="en-US" dirty="0"/>
              <a:t>    });</a:t>
            </a:r>
            <a:br>
              <a:rPr lang="en-US" dirty="0"/>
            </a:br>
            <a:r>
              <a:rPr lang="en-US" dirty="0"/>
              <a:t>  }</a:t>
            </a:r>
            <a:br>
              <a:rPr lang="en-US" dirty="0"/>
            </a:br>
            <a:r>
              <a:rPr lang="en-US" dirty="0"/>
              <a:t>));</a:t>
            </a:r>
          </a:p>
        </p:txBody>
      </p:sp>
      <p:sp>
        <p:nvSpPr>
          <p:cNvPr id="2" name="Title 1">
            <a:extLst>
              <a:ext uri="{FF2B5EF4-FFF2-40B4-BE49-F238E27FC236}">
                <a16:creationId xmlns:a16="http://schemas.microsoft.com/office/drawing/2014/main" id="{DEE4FF5B-64E9-DC4A-A1D9-CA3435771CED}"/>
              </a:ext>
            </a:extLst>
          </p:cNvPr>
          <p:cNvSpPr>
            <a:spLocks noGrp="1"/>
          </p:cNvSpPr>
          <p:nvPr>
            <p:ph type="title"/>
          </p:nvPr>
        </p:nvSpPr>
        <p:spPr/>
        <p:txBody>
          <a:bodyPr/>
          <a:lstStyle/>
          <a:p>
            <a:r>
              <a:rPr lang="en-US" dirty="0"/>
              <a:t>Strategies</a:t>
            </a:r>
          </a:p>
        </p:txBody>
      </p:sp>
    </p:spTree>
    <p:extLst>
      <p:ext uri="{BB962C8B-B14F-4D97-AF65-F5344CB8AC3E}">
        <p14:creationId xmlns:p14="http://schemas.microsoft.com/office/powerpoint/2010/main" val="2851248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700D12-3B5F-1643-A919-7CD5F96264BA}"/>
              </a:ext>
            </a:extLst>
          </p:cNvPr>
          <p:cNvSpPr>
            <a:spLocks noGrp="1"/>
          </p:cNvSpPr>
          <p:nvPr>
            <p:ph type="body" sz="quarter" idx="15"/>
          </p:nvPr>
        </p:nvSpPr>
        <p:spPr/>
        <p:txBody>
          <a:bodyPr/>
          <a:lstStyle/>
          <a:p>
            <a:r>
              <a:rPr lang="en-US" dirty="0"/>
              <a:t>To use Passport in an Express-based application, configure it with the required </a:t>
            </a:r>
            <a:r>
              <a:rPr lang="en-US" sz="2400" i="1" dirty="0" err="1">
                <a:latin typeface="Consolas" panose="020B0609020204030204" pitchFamily="49" charset="0"/>
                <a:cs typeface="Consolas" panose="020B0609020204030204" pitchFamily="49" charset="0"/>
              </a:rPr>
              <a:t>passport.initialize</a:t>
            </a:r>
            <a:r>
              <a:rPr lang="en-US" sz="2400" i="1" dirty="0">
                <a:latin typeface="Consolas" panose="020B0609020204030204" pitchFamily="49" charset="0"/>
                <a:cs typeface="Consolas" panose="020B0609020204030204" pitchFamily="49" charset="0"/>
              </a:rPr>
              <a:t>()</a:t>
            </a:r>
            <a:r>
              <a:rPr lang="en-US" dirty="0"/>
              <a:t> middleware</a:t>
            </a:r>
          </a:p>
        </p:txBody>
      </p:sp>
      <p:sp>
        <p:nvSpPr>
          <p:cNvPr id="3" name="Text Placeholder 2">
            <a:extLst>
              <a:ext uri="{FF2B5EF4-FFF2-40B4-BE49-F238E27FC236}">
                <a16:creationId xmlns:a16="http://schemas.microsoft.com/office/drawing/2014/main" id="{FC66DE49-6395-6E4A-A170-C6D74603FA26}"/>
              </a:ext>
            </a:extLst>
          </p:cNvPr>
          <p:cNvSpPr>
            <a:spLocks noGrp="1"/>
          </p:cNvSpPr>
          <p:nvPr>
            <p:ph type="body" sz="quarter" idx="16"/>
          </p:nvPr>
        </p:nvSpPr>
        <p:spPr/>
        <p:txBody>
          <a:bodyPr/>
          <a:lstStyle/>
          <a:p>
            <a:r>
              <a:rPr lang="en-US" b="1" dirty="0"/>
              <a:t>const </a:t>
            </a:r>
            <a:r>
              <a:rPr lang="en-US" dirty="0"/>
              <a:t>app = express();</a:t>
            </a:r>
          </a:p>
          <a:p>
            <a:r>
              <a:rPr lang="en-US" dirty="0" err="1"/>
              <a:t>app.use</a:t>
            </a:r>
            <a:r>
              <a:rPr lang="en-US" dirty="0"/>
              <a:t>(require('serve-static')(__</a:t>
            </a:r>
            <a:r>
              <a:rPr lang="en-US" dirty="0" err="1"/>
              <a:t>dirname</a:t>
            </a:r>
            <a:r>
              <a:rPr lang="en-US" dirty="0"/>
              <a:t> + '/../public’));</a:t>
            </a:r>
          </a:p>
          <a:p>
            <a:r>
              <a:rPr lang="en-US" dirty="0" err="1"/>
              <a:t>app.use</a:t>
            </a:r>
            <a:r>
              <a:rPr lang="en-US" dirty="0"/>
              <a:t>(require('cookie-parser')());</a:t>
            </a:r>
          </a:p>
          <a:p>
            <a:r>
              <a:rPr lang="en-US" dirty="0" err="1"/>
              <a:t>app.use</a:t>
            </a:r>
            <a:r>
              <a:rPr lang="en-US" dirty="0"/>
              <a:t>(require('body-parser').</a:t>
            </a:r>
            <a:r>
              <a:rPr lang="en-US" dirty="0" err="1"/>
              <a:t>urlencoded</a:t>
            </a:r>
            <a:r>
              <a:rPr lang="en-US" dirty="0"/>
              <a:t>({</a:t>
            </a:r>
            <a:r>
              <a:rPr lang="en-US" dirty="0" err="1"/>
              <a:t>extended:true</a:t>
            </a:r>
            <a:r>
              <a:rPr lang="en-US" b="1" dirty="0"/>
              <a:t> </a:t>
            </a:r>
            <a:r>
              <a:rPr lang="en-US" dirty="0"/>
              <a:t>}));</a:t>
            </a:r>
          </a:p>
          <a:p>
            <a:r>
              <a:rPr lang="en-US" b="1" dirty="0" err="1"/>
              <a:t>app.use</a:t>
            </a:r>
            <a:r>
              <a:rPr lang="en-US" b="1" dirty="0"/>
              <a:t>(</a:t>
            </a:r>
            <a:r>
              <a:rPr lang="en-US" b="1" dirty="0" err="1"/>
              <a:t>passport.initialize</a:t>
            </a:r>
            <a:r>
              <a:rPr lang="en-US" b="1" dirty="0"/>
              <a:t>());</a:t>
            </a:r>
          </a:p>
        </p:txBody>
      </p:sp>
      <p:sp>
        <p:nvSpPr>
          <p:cNvPr id="4" name="Title 3">
            <a:extLst>
              <a:ext uri="{FF2B5EF4-FFF2-40B4-BE49-F238E27FC236}">
                <a16:creationId xmlns:a16="http://schemas.microsoft.com/office/drawing/2014/main" id="{05090B81-5526-934E-A1F8-B054E3DA4082}"/>
              </a:ext>
            </a:extLst>
          </p:cNvPr>
          <p:cNvSpPr>
            <a:spLocks noGrp="1"/>
          </p:cNvSpPr>
          <p:nvPr>
            <p:ph type="title"/>
          </p:nvPr>
        </p:nvSpPr>
        <p:spPr/>
        <p:txBody>
          <a:bodyPr/>
          <a:lstStyle/>
          <a:p>
            <a:r>
              <a:rPr lang="en-US" dirty="0"/>
              <a:t>Passport Middleware</a:t>
            </a:r>
          </a:p>
        </p:txBody>
      </p:sp>
    </p:spTree>
    <p:extLst>
      <p:ext uri="{BB962C8B-B14F-4D97-AF65-F5344CB8AC3E}">
        <p14:creationId xmlns:p14="http://schemas.microsoft.com/office/powerpoint/2010/main" val="1699942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D07DC4-753E-6844-86D2-4E05B6ED0223}"/>
              </a:ext>
            </a:extLst>
          </p:cNvPr>
          <p:cNvSpPr>
            <a:spLocks noGrp="1"/>
          </p:cNvSpPr>
          <p:nvPr>
            <p:ph type="body" sz="quarter" idx="15"/>
          </p:nvPr>
        </p:nvSpPr>
        <p:spPr/>
        <p:txBody>
          <a:bodyPr>
            <a:normAutofit fontScale="92500" lnSpcReduction="20000"/>
          </a:bodyPr>
          <a:lstStyle/>
          <a:p>
            <a:r>
              <a:rPr lang="en-US" dirty="0"/>
              <a:t>The most widely used way for websites to authenticate users is via a username and password.</a:t>
            </a:r>
          </a:p>
          <a:p>
            <a:r>
              <a:rPr lang="en-US" dirty="0"/>
              <a:t>Support for this mechanism is provided by the passport-local module.</a:t>
            </a:r>
          </a:p>
        </p:txBody>
      </p:sp>
      <p:sp>
        <p:nvSpPr>
          <p:cNvPr id="3" name="Text Placeholder 2">
            <a:extLst>
              <a:ext uri="{FF2B5EF4-FFF2-40B4-BE49-F238E27FC236}">
                <a16:creationId xmlns:a16="http://schemas.microsoft.com/office/drawing/2014/main" id="{E72BB50E-6A19-4443-B97F-AC231BA136F7}"/>
              </a:ext>
            </a:extLst>
          </p:cNvPr>
          <p:cNvSpPr>
            <a:spLocks noGrp="1"/>
          </p:cNvSpPr>
          <p:nvPr>
            <p:ph type="body" sz="quarter" idx="16"/>
          </p:nvPr>
        </p:nvSpPr>
        <p:spPr/>
        <p:txBody>
          <a:bodyPr>
            <a:normAutofit fontScale="92500" lnSpcReduction="10000"/>
          </a:bodyPr>
          <a:lstStyle/>
          <a:p>
            <a:r>
              <a:rPr lang="en-US" dirty="0" err="1"/>
              <a:t>passport.use</a:t>
            </a:r>
            <a:r>
              <a:rPr lang="en-US" dirty="0"/>
              <a:t>(</a:t>
            </a:r>
            <a:r>
              <a:rPr lang="en-US" b="1" dirty="0"/>
              <a:t>new </a:t>
            </a:r>
            <a:r>
              <a:rPr lang="en-US" dirty="0" err="1"/>
              <a:t>LocalStrategy</a:t>
            </a:r>
            <a:r>
              <a:rPr lang="en-US" dirty="0"/>
              <a:t>(</a:t>
            </a:r>
            <a:br>
              <a:rPr lang="en-US" dirty="0"/>
            </a:br>
            <a:r>
              <a:rPr lang="en-US" dirty="0"/>
              <a:t>  </a:t>
            </a:r>
            <a:r>
              <a:rPr lang="en-US" b="1" dirty="0"/>
              <a:t>function</a:t>
            </a:r>
            <a:r>
              <a:rPr lang="en-US" dirty="0"/>
              <a:t>(username, password, done) {</a:t>
            </a:r>
            <a:br>
              <a:rPr lang="en-US" dirty="0"/>
            </a:br>
            <a:r>
              <a:rPr lang="en-US" dirty="0"/>
              <a:t>    </a:t>
            </a:r>
            <a:r>
              <a:rPr lang="en-US" dirty="0" err="1"/>
              <a:t>User.findOne</a:t>
            </a:r>
            <a:r>
              <a:rPr lang="en-US" dirty="0"/>
              <a:t>({ username: username }, </a:t>
            </a:r>
            <a:r>
              <a:rPr lang="en-US" b="1" dirty="0"/>
              <a:t>function </a:t>
            </a:r>
            <a:r>
              <a:rPr lang="en-US" dirty="0"/>
              <a:t>(err, user) {</a:t>
            </a:r>
            <a:br>
              <a:rPr lang="en-US" dirty="0"/>
            </a:br>
            <a:r>
              <a:rPr lang="en-US" dirty="0"/>
              <a:t>      </a:t>
            </a:r>
            <a:r>
              <a:rPr lang="en-US" b="1" dirty="0"/>
              <a:t>if </a:t>
            </a:r>
            <a:r>
              <a:rPr lang="en-US" dirty="0"/>
              <a:t>(err) { </a:t>
            </a:r>
            <a:r>
              <a:rPr lang="en-US" b="1" dirty="0"/>
              <a:t>return </a:t>
            </a:r>
            <a:r>
              <a:rPr lang="en-US" dirty="0"/>
              <a:t>done(err); }</a:t>
            </a:r>
            <a:br>
              <a:rPr lang="en-US" dirty="0"/>
            </a:br>
            <a:r>
              <a:rPr lang="en-US" dirty="0"/>
              <a:t>      </a:t>
            </a:r>
            <a:r>
              <a:rPr lang="en-US" b="1" dirty="0"/>
              <a:t>if </a:t>
            </a:r>
            <a:r>
              <a:rPr lang="en-US" dirty="0"/>
              <a:t>(!user) { </a:t>
            </a:r>
            <a:r>
              <a:rPr lang="en-US" b="1" dirty="0"/>
              <a:t>return </a:t>
            </a:r>
            <a:r>
              <a:rPr lang="en-US" dirty="0"/>
              <a:t>done(</a:t>
            </a:r>
            <a:r>
              <a:rPr lang="en-US" b="1" dirty="0"/>
              <a:t>null</a:t>
            </a:r>
            <a:r>
              <a:rPr lang="en-US" dirty="0"/>
              <a:t>, </a:t>
            </a:r>
            <a:r>
              <a:rPr lang="en-US" b="1" dirty="0"/>
              <a:t>false</a:t>
            </a:r>
            <a:r>
              <a:rPr lang="en-US" dirty="0"/>
              <a:t>); }</a:t>
            </a:r>
            <a:br>
              <a:rPr lang="en-US" dirty="0"/>
            </a:br>
            <a:r>
              <a:rPr lang="en-US" dirty="0"/>
              <a:t>      </a:t>
            </a:r>
            <a:r>
              <a:rPr lang="en-US" b="1" dirty="0"/>
              <a:t>if </a:t>
            </a:r>
            <a:r>
              <a:rPr lang="en-US" dirty="0"/>
              <a:t>(!</a:t>
            </a:r>
            <a:r>
              <a:rPr lang="en-US" dirty="0" err="1"/>
              <a:t>user.verifyPassword</a:t>
            </a:r>
            <a:r>
              <a:rPr lang="en-US" dirty="0"/>
              <a:t>(password)) { </a:t>
            </a:r>
            <a:r>
              <a:rPr lang="en-US" b="1" dirty="0"/>
              <a:t>return </a:t>
            </a:r>
            <a:r>
              <a:rPr lang="en-US" dirty="0"/>
              <a:t>done(</a:t>
            </a:r>
            <a:r>
              <a:rPr lang="en-US" b="1" dirty="0"/>
              <a:t>null</a:t>
            </a:r>
            <a:r>
              <a:rPr lang="en-US" dirty="0"/>
              <a:t>, </a:t>
            </a:r>
            <a:r>
              <a:rPr lang="en-US" b="1" dirty="0"/>
              <a:t>false</a:t>
            </a:r>
            <a:r>
              <a:rPr lang="en-US" dirty="0"/>
              <a:t>); }</a:t>
            </a:r>
            <a:br>
              <a:rPr lang="en-US" dirty="0"/>
            </a:br>
            <a:r>
              <a:rPr lang="en-US" dirty="0"/>
              <a:t>      </a:t>
            </a:r>
            <a:r>
              <a:rPr lang="en-US" b="1" dirty="0"/>
              <a:t>return </a:t>
            </a:r>
            <a:r>
              <a:rPr lang="en-US" dirty="0"/>
              <a:t>done(</a:t>
            </a:r>
            <a:r>
              <a:rPr lang="en-US" b="1" dirty="0"/>
              <a:t>null</a:t>
            </a:r>
            <a:r>
              <a:rPr lang="en-US" dirty="0"/>
              <a:t>, user);</a:t>
            </a:r>
            <a:br>
              <a:rPr lang="en-US" dirty="0"/>
            </a:br>
            <a:r>
              <a:rPr lang="en-US" dirty="0"/>
              <a:t>    });</a:t>
            </a:r>
            <a:br>
              <a:rPr lang="en-US" dirty="0"/>
            </a:br>
            <a:r>
              <a:rPr lang="en-US" dirty="0"/>
              <a:t>  }</a:t>
            </a:r>
            <a:br>
              <a:rPr lang="en-US" dirty="0"/>
            </a:br>
            <a:r>
              <a:rPr lang="en-US" dirty="0"/>
              <a:t>));</a:t>
            </a:r>
          </a:p>
          <a:p>
            <a:endParaRPr lang="en-US" dirty="0"/>
          </a:p>
        </p:txBody>
      </p:sp>
      <p:sp>
        <p:nvSpPr>
          <p:cNvPr id="4" name="Title 3">
            <a:extLst>
              <a:ext uri="{FF2B5EF4-FFF2-40B4-BE49-F238E27FC236}">
                <a16:creationId xmlns:a16="http://schemas.microsoft.com/office/drawing/2014/main" id="{564BC332-D001-FB4B-979A-75F9C8721F80}"/>
              </a:ext>
            </a:extLst>
          </p:cNvPr>
          <p:cNvSpPr>
            <a:spLocks noGrp="1"/>
          </p:cNvSpPr>
          <p:nvPr>
            <p:ph type="title"/>
          </p:nvPr>
        </p:nvSpPr>
        <p:spPr/>
        <p:txBody>
          <a:bodyPr/>
          <a:lstStyle/>
          <a:p>
            <a:r>
              <a:rPr lang="en-US" dirty="0"/>
              <a:t>Passport Local </a:t>
            </a:r>
            <a:r>
              <a:rPr lang="en-US" dirty="0" err="1"/>
              <a:t>Startegy</a:t>
            </a:r>
            <a:endParaRPr lang="en-US" dirty="0"/>
          </a:p>
        </p:txBody>
      </p:sp>
    </p:spTree>
    <p:extLst>
      <p:ext uri="{BB962C8B-B14F-4D97-AF65-F5344CB8AC3E}">
        <p14:creationId xmlns:p14="http://schemas.microsoft.com/office/powerpoint/2010/main" val="2879773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DF3CB2-2EBD-C946-AE79-72340F027ABB}"/>
              </a:ext>
            </a:extLst>
          </p:cNvPr>
          <p:cNvSpPr>
            <a:spLocks noGrp="1"/>
          </p:cNvSpPr>
          <p:nvPr>
            <p:ph type="title"/>
          </p:nvPr>
        </p:nvSpPr>
        <p:spPr/>
        <p:txBody>
          <a:bodyPr/>
          <a:lstStyle/>
          <a:p>
            <a:r>
              <a:rPr lang="en-US" dirty="0"/>
              <a:t>JWT – JSON Web Tokens</a:t>
            </a:r>
          </a:p>
        </p:txBody>
      </p:sp>
      <p:sp>
        <p:nvSpPr>
          <p:cNvPr id="4" name="Content Placeholder 3">
            <a:extLst>
              <a:ext uri="{FF2B5EF4-FFF2-40B4-BE49-F238E27FC236}">
                <a16:creationId xmlns:a16="http://schemas.microsoft.com/office/drawing/2014/main" id="{C8480D15-B8BA-524A-BE2E-207D3FBDFAA9}"/>
              </a:ext>
            </a:extLst>
          </p:cNvPr>
          <p:cNvSpPr>
            <a:spLocks noGrp="1"/>
          </p:cNvSpPr>
          <p:nvPr>
            <p:ph idx="1"/>
          </p:nvPr>
        </p:nvSpPr>
        <p:spPr/>
        <p:txBody>
          <a:bodyPr>
            <a:noAutofit/>
          </a:bodyPr>
          <a:lstStyle/>
          <a:p>
            <a:r>
              <a:rPr lang="en-US" dirty="0"/>
              <a:t>JWT is a compact URL-safe means of representing claims to be transferred between two parties.</a:t>
            </a:r>
          </a:p>
          <a:p>
            <a:endParaRPr lang="en-US" dirty="0"/>
          </a:p>
          <a:p>
            <a:r>
              <a:rPr lang="en-US" dirty="0"/>
              <a:t>The claims are encoded as a JSON object that is digitally signed by hashing it using a shared secret between the parties.</a:t>
            </a:r>
            <a:br>
              <a:rPr lang="en-US" dirty="0"/>
            </a:br>
            <a:endParaRPr lang="en-US" dirty="0"/>
          </a:p>
          <a:p>
            <a:r>
              <a:rPr lang="en-US" dirty="0"/>
              <a:t>JWT is an open, industry standard </a:t>
            </a:r>
            <a:r>
              <a:rPr lang="en-US" b="1" dirty="0">
                <a:hlinkClick r:id="rId2"/>
              </a:rPr>
              <a:t>RFC 7519</a:t>
            </a:r>
            <a:endParaRPr lang="en-US" b="1" dirty="0"/>
          </a:p>
          <a:p>
            <a:endParaRPr lang="en-US" b="1" dirty="0"/>
          </a:p>
          <a:p>
            <a:pPr marL="0" indent="0">
              <a:buNone/>
            </a:pPr>
            <a:br>
              <a:rPr lang="en-US" b="1" dirty="0"/>
            </a:br>
            <a:endParaRPr lang="en-US" b="1" dirty="0"/>
          </a:p>
          <a:p>
            <a:endParaRPr lang="en-US" dirty="0"/>
          </a:p>
        </p:txBody>
      </p:sp>
    </p:spTree>
    <p:extLst>
      <p:ext uri="{BB962C8B-B14F-4D97-AF65-F5344CB8AC3E}">
        <p14:creationId xmlns:p14="http://schemas.microsoft.com/office/powerpoint/2010/main" val="1268714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634A-8BA6-494D-8376-2A71F858B6D0}"/>
              </a:ext>
            </a:extLst>
          </p:cNvPr>
          <p:cNvSpPr>
            <a:spLocks noGrp="1"/>
          </p:cNvSpPr>
          <p:nvPr>
            <p:ph type="title"/>
          </p:nvPr>
        </p:nvSpPr>
        <p:spPr/>
        <p:txBody>
          <a:bodyPr>
            <a:normAutofit/>
          </a:bodyPr>
          <a:lstStyle/>
          <a:p>
            <a:r>
              <a:rPr lang="en-US" b="1" dirty="0"/>
              <a:t>JSON Web Token structure</a:t>
            </a:r>
            <a:endParaRPr lang="en-US" dirty="0"/>
          </a:p>
        </p:txBody>
      </p:sp>
      <p:sp>
        <p:nvSpPr>
          <p:cNvPr id="3" name="Content Placeholder 2">
            <a:extLst>
              <a:ext uri="{FF2B5EF4-FFF2-40B4-BE49-F238E27FC236}">
                <a16:creationId xmlns:a16="http://schemas.microsoft.com/office/drawing/2014/main" id="{0A418D8B-C5FC-644C-9AE7-2619E9936F89}"/>
              </a:ext>
            </a:extLst>
          </p:cNvPr>
          <p:cNvSpPr>
            <a:spLocks noGrp="1"/>
          </p:cNvSpPr>
          <p:nvPr>
            <p:ph idx="1"/>
          </p:nvPr>
        </p:nvSpPr>
        <p:spPr/>
        <p:txBody>
          <a:bodyPr/>
          <a:lstStyle/>
          <a:p>
            <a:r>
              <a:rPr lang="en-US" dirty="0"/>
              <a:t>JSON Web Tokens consist of three parts separated by dots (.), which are:</a:t>
            </a:r>
          </a:p>
          <a:p>
            <a:pPr lvl="1"/>
            <a:r>
              <a:rPr lang="en-US" dirty="0"/>
              <a:t>Header </a:t>
            </a:r>
          </a:p>
          <a:p>
            <a:pPr lvl="1"/>
            <a:r>
              <a:rPr lang="en-US" dirty="0"/>
              <a:t>Payload</a:t>
            </a:r>
          </a:p>
          <a:p>
            <a:pPr lvl="1"/>
            <a:r>
              <a:rPr lang="en-US" dirty="0"/>
              <a:t>Signature</a:t>
            </a:r>
          </a:p>
          <a:p>
            <a:pPr marL="0" indent="0">
              <a:buNone/>
            </a:pPr>
            <a:endParaRPr lang="en-US" dirty="0"/>
          </a:p>
          <a:p>
            <a:endParaRPr lang="en-US" dirty="0"/>
          </a:p>
        </p:txBody>
      </p:sp>
      <p:pic>
        <p:nvPicPr>
          <p:cNvPr id="5" name="Picture 4">
            <a:extLst>
              <a:ext uri="{FF2B5EF4-FFF2-40B4-BE49-F238E27FC236}">
                <a16:creationId xmlns:a16="http://schemas.microsoft.com/office/drawing/2014/main" id="{CA310E24-94EA-3443-AFA6-592B8D016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59" y="4077071"/>
            <a:ext cx="7992889" cy="2063289"/>
          </a:xfrm>
          <a:prstGeom prst="rect">
            <a:avLst/>
          </a:prstGeom>
        </p:spPr>
      </p:pic>
    </p:spTree>
    <p:extLst>
      <p:ext uri="{BB962C8B-B14F-4D97-AF65-F5344CB8AC3E}">
        <p14:creationId xmlns:p14="http://schemas.microsoft.com/office/powerpoint/2010/main" val="1930906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634A-8BA6-494D-8376-2A71F858B6D0}"/>
              </a:ext>
            </a:extLst>
          </p:cNvPr>
          <p:cNvSpPr>
            <a:spLocks noGrp="1"/>
          </p:cNvSpPr>
          <p:nvPr>
            <p:ph type="title"/>
          </p:nvPr>
        </p:nvSpPr>
        <p:spPr>
          <a:xfrm>
            <a:off x="611560" y="116632"/>
            <a:ext cx="8352928" cy="720000"/>
          </a:xfrm>
        </p:spPr>
        <p:txBody>
          <a:bodyPr>
            <a:normAutofit fontScale="90000"/>
          </a:bodyPr>
          <a:lstStyle/>
          <a:p>
            <a:r>
              <a:rPr lang="en-US" b="1" dirty="0"/>
              <a:t>JSON Web Token Decoded (</a:t>
            </a:r>
            <a:r>
              <a:rPr lang="en-US" b="1" dirty="0">
                <a:hlinkClick r:id="rId2"/>
              </a:rPr>
              <a:t>https://</a:t>
            </a:r>
            <a:r>
              <a:rPr lang="en-US" b="1" dirty="0" err="1">
                <a:hlinkClick r:id="rId2"/>
              </a:rPr>
              <a:t>jwt.io</a:t>
            </a:r>
            <a:r>
              <a:rPr lang="en-US" b="1" dirty="0">
                <a:hlinkClick r:id="rId2"/>
              </a:rPr>
              <a:t>/</a:t>
            </a:r>
            <a:r>
              <a:rPr lang="en-US" b="1" dirty="0"/>
              <a:t>)</a:t>
            </a:r>
            <a:endParaRPr lang="en-US" dirty="0"/>
          </a:p>
        </p:txBody>
      </p:sp>
      <p:pic>
        <p:nvPicPr>
          <p:cNvPr id="6" name="Content Placeholder 5">
            <a:extLst>
              <a:ext uri="{FF2B5EF4-FFF2-40B4-BE49-F238E27FC236}">
                <a16:creationId xmlns:a16="http://schemas.microsoft.com/office/drawing/2014/main" id="{5BCE1048-6C2A-1C4D-8477-C27895F0EF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73407" y="692696"/>
            <a:ext cx="5334897" cy="5857184"/>
          </a:xfrm>
        </p:spPr>
      </p:pic>
    </p:spTree>
    <p:extLst>
      <p:ext uri="{BB962C8B-B14F-4D97-AF65-F5344CB8AC3E}">
        <p14:creationId xmlns:p14="http://schemas.microsoft.com/office/powerpoint/2010/main" val="1932149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C4C9FB6-151B-D04E-AD6B-4D3B306AE2FD}"/>
              </a:ext>
            </a:extLst>
          </p:cNvPr>
          <p:cNvSpPr>
            <a:spLocks noGrp="1"/>
          </p:cNvSpPr>
          <p:nvPr>
            <p:ph type="body" sz="quarter" idx="15"/>
          </p:nvPr>
        </p:nvSpPr>
        <p:spPr/>
        <p:txBody>
          <a:bodyPr/>
          <a:lstStyle/>
          <a:p>
            <a:r>
              <a:rPr lang="en-US" dirty="0">
                <a:hlinkClick r:id="rId2"/>
              </a:rPr>
              <a:t>Jsonwebtoken</a:t>
            </a:r>
            <a:r>
              <a:rPr lang="en-US" dirty="0"/>
              <a:t> – </a:t>
            </a:r>
            <a:r>
              <a:rPr lang="en-US" dirty="0" err="1"/>
              <a:t>node.js</a:t>
            </a:r>
            <a:r>
              <a:rPr lang="en-US" dirty="0"/>
              <a:t> library for creating, verifying and decoding JWT.</a:t>
            </a:r>
          </a:p>
        </p:txBody>
      </p:sp>
      <p:sp>
        <p:nvSpPr>
          <p:cNvPr id="6" name="Text Placeholder 5">
            <a:extLst>
              <a:ext uri="{FF2B5EF4-FFF2-40B4-BE49-F238E27FC236}">
                <a16:creationId xmlns:a16="http://schemas.microsoft.com/office/drawing/2014/main" id="{7B720D15-3711-C443-847B-DAAC25BF17FE}"/>
              </a:ext>
            </a:extLst>
          </p:cNvPr>
          <p:cNvSpPr>
            <a:spLocks noGrp="1"/>
          </p:cNvSpPr>
          <p:nvPr>
            <p:ph type="body" sz="quarter" idx="16"/>
          </p:nvPr>
        </p:nvSpPr>
        <p:spPr/>
        <p:txBody>
          <a:bodyPr/>
          <a:lstStyle/>
          <a:p>
            <a:r>
              <a:rPr lang="en-US" dirty="0"/>
              <a:t>&gt; </a:t>
            </a:r>
            <a:r>
              <a:rPr lang="en-US" dirty="0" err="1"/>
              <a:t>npm</a:t>
            </a:r>
            <a:r>
              <a:rPr lang="en-US" dirty="0"/>
              <a:t> install </a:t>
            </a:r>
            <a:r>
              <a:rPr lang="en-US" dirty="0" err="1"/>
              <a:t>jsonwebtoken</a:t>
            </a:r>
            <a:endParaRPr lang="en-US" dirty="0"/>
          </a:p>
        </p:txBody>
      </p:sp>
      <p:sp>
        <p:nvSpPr>
          <p:cNvPr id="2" name="Title 1">
            <a:extLst>
              <a:ext uri="{FF2B5EF4-FFF2-40B4-BE49-F238E27FC236}">
                <a16:creationId xmlns:a16="http://schemas.microsoft.com/office/drawing/2014/main" id="{A9EAE1C3-F52C-2347-AD4D-D7535CB9FB1C}"/>
              </a:ext>
            </a:extLst>
          </p:cNvPr>
          <p:cNvSpPr>
            <a:spLocks noGrp="1"/>
          </p:cNvSpPr>
          <p:nvPr>
            <p:ph type="title"/>
          </p:nvPr>
        </p:nvSpPr>
        <p:spPr/>
        <p:txBody>
          <a:bodyPr/>
          <a:lstStyle/>
          <a:p>
            <a:r>
              <a:rPr lang="en-US" dirty="0"/>
              <a:t>Passport and JWT</a:t>
            </a:r>
          </a:p>
        </p:txBody>
      </p:sp>
    </p:spTree>
    <p:extLst>
      <p:ext uri="{BB962C8B-B14F-4D97-AF65-F5344CB8AC3E}">
        <p14:creationId xmlns:p14="http://schemas.microsoft.com/office/powerpoint/2010/main" val="3185274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247DD481-6267-45D0-97AB-37DC996B9B82}"/>
              </a:ext>
            </a:extLst>
          </p:cNvPr>
          <p:cNvSpPr>
            <a:spLocks noGrp="1"/>
          </p:cNvSpPr>
          <p:nvPr>
            <p:ph type="title"/>
          </p:nvPr>
        </p:nvSpPr>
        <p:spPr/>
        <p:txBody>
          <a:bodyPr/>
          <a:lstStyle/>
          <a:p>
            <a:r>
              <a:rPr lang="en-US" dirty="0"/>
              <a:t>LOGIN SERVER</a:t>
            </a:r>
            <a:endParaRPr lang="he-IL" dirty="0"/>
          </a:p>
        </p:txBody>
      </p:sp>
      <p:pic>
        <p:nvPicPr>
          <p:cNvPr id="8" name="תמונה 7">
            <a:extLst>
              <a:ext uri="{FF2B5EF4-FFF2-40B4-BE49-F238E27FC236}">
                <a16:creationId xmlns:a16="http://schemas.microsoft.com/office/drawing/2014/main" id="{A6A10286-9AAE-0642-6382-10C108BBD64E}"/>
              </a:ext>
            </a:extLst>
          </p:cNvPr>
          <p:cNvPicPr>
            <a:picLocks noChangeAspect="1"/>
          </p:cNvPicPr>
          <p:nvPr/>
        </p:nvPicPr>
        <p:blipFill>
          <a:blip r:embed="rId2"/>
          <a:stretch>
            <a:fillRect/>
          </a:stretch>
        </p:blipFill>
        <p:spPr>
          <a:xfrm>
            <a:off x="971600" y="1412776"/>
            <a:ext cx="5019675" cy="3590925"/>
          </a:xfrm>
          <a:prstGeom prst="rect">
            <a:avLst/>
          </a:prstGeom>
        </p:spPr>
      </p:pic>
      <p:sp>
        <p:nvSpPr>
          <p:cNvPr id="10" name="תיבת טקסט 9">
            <a:extLst>
              <a:ext uri="{FF2B5EF4-FFF2-40B4-BE49-F238E27FC236}">
                <a16:creationId xmlns:a16="http://schemas.microsoft.com/office/drawing/2014/main" id="{C97AE845-3F31-D421-6931-05F988A92F32}"/>
              </a:ext>
            </a:extLst>
          </p:cNvPr>
          <p:cNvSpPr txBox="1"/>
          <p:nvPr/>
        </p:nvSpPr>
        <p:spPr>
          <a:xfrm>
            <a:off x="1195436" y="5301208"/>
            <a:ext cx="5320779" cy="646331"/>
          </a:xfrm>
          <a:prstGeom prst="rect">
            <a:avLst/>
          </a:prstGeom>
          <a:noFill/>
        </p:spPr>
        <p:txBody>
          <a:bodyPr wrap="square">
            <a:spAutoFit/>
          </a:bodyPr>
          <a:lstStyle/>
          <a:p>
            <a:r>
              <a:rPr lang="en-US" dirty="0"/>
              <a:t>Part5 / server2</a:t>
            </a:r>
          </a:p>
          <a:p>
            <a:r>
              <a:rPr lang="he-IL" dirty="0" err="1">
                <a:highlight>
                  <a:srgbClr val="FFFF00"/>
                </a:highlight>
              </a:rPr>
              <a:t>npm</a:t>
            </a:r>
            <a:r>
              <a:rPr lang="he-IL" dirty="0">
                <a:highlight>
                  <a:srgbClr val="FFFF00"/>
                </a:highlight>
              </a:rPr>
              <a:t> i </a:t>
            </a:r>
            <a:r>
              <a:rPr lang="he-IL" dirty="0" err="1">
                <a:highlight>
                  <a:srgbClr val="FFFF00"/>
                </a:highlight>
              </a:rPr>
              <a:t>express</a:t>
            </a:r>
            <a:r>
              <a:rPr lang="he-IL" dirty="0">
                <a:highlight>
                  <a:srgbClr val="FFFF00"/>
                </a:highlight>
              </a:rPr>
              <a:t> </a:t>
            </a:r>
            <a:r>
              <a:rPr lang="he-IL" dirty="0" err="1">
                <a:highlight>
                  <a:srgbClr val="FFFF00"/>
                </a:highlight>
              </a:rPr>
              <a:t>ejs</a:t>
            </a:r>
            <a:r>
              <a:rPr lang="he-IL" dirty="0">
                <a:highlight>
                  <a:srgbClr val="FFFF00"/>
                </a:highlight>
              </a:rPr>
              <a:t> </a:t>
            </a:r>
            <a:r>
              <a:rPr lang="he-IL" dirty="0" err="1">
                <a:highlight>
                  <a:srgbClr val="FFFF00"/>
                </a:highlight>
              </a:rPr>
              <a:t>nodemon</a:t>
            </a:r>
            <a:r>
              <a:rPr lang="he-IL" dirty="0">
                <a:highlight>
                  <a:srgbClr val="FFFF00"/>
                </a:highlight>
              </a:rPr>
              <a:t> </a:t>
            </a:r>
            <a:r>
              <a:rPr lang="he-IL" dirty="0" err="1">
                <a:highlight>
                  <a:srgbClr val="FFFF00"/>
                </a:highlight>
              </a:rPr>
              <a:t>dotenv</a:t>
            </a:r>
            <a:endParaRPr lang="he-IL" dirty="0">
              <a:highlight>
                <a:srgbClr val="FFFF00"/>
              </a:highlight>
            </a:endParaRPr>
          </a:p>
        </p:txBody>
      </p:sp>
    </p:spTree>
    <p:extLst>
      <p:ext uri="{BB962C8B-B14F-4D97-AF65-F5344CB8AC3E}">
        <p14:creationId xmlns:p14="http://schemas.microsoft.com/office/powerpoint/2010/main" val="2312240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1">
            <a:extLst>
              <a:ext uri="{FF2B5EF4-FFF2-40B4-BE49-F238E27FC236}">
                <a16:creationId xmlns:a16="http://schemas.microsoft.com/office/drawing/2014/main" id="{B35BD1DD-8DB5-0C8F-0EFB-3DD7A95D0938}"/>
              </a:ext>
            </a:extLst>
          </p:cNvPr>
          <p:cNvSpPr>
            <a:spLocks noGrp="1"/>
          </p:cNvSpPr>
          <p:nvPr>
            <p:ph type="body" sz="quarter" idx="15"/>
          </p:nvPr>
        </p:nvSpPr>
        <p:spPr>
          <a:xfrm>
            <a:off x="611560" y="1494000"/>
            <a:ext cx="8004764" cy="3447167"/>
          </a:xfrm>
        </p:spPr>
        <p:txBody>
          <a:bodyPr/>
          <a:lstStyle/>
          <a:p>
            <a:r>
              <a:rPr lang="en-US" dirty="0"/>
              <a:t>.env</a:t>
            </a:r>
          </a:p>
          <a:p>
            <a:r>
              <a:rPr lang="en-US" dirty="0"/>
              <a:t>.</a:t>
            </a:r>
            <a:r>
              <a:rPr lang="en-US" dirty="0" err="1"/>
              <a:t>gitignore</a:t>
            </a:r>
            <a:endParaRPr lang="en-US" dirty="0"/>
          </a:p>
          <a:p>
            <a:endParaRPr lang="he-IL" dirty="0"/>
          </a:p>
        </p:txBody>
      </p:sp>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dirty="0"/>
              <a:t>SERVER</a:t>
            </a:r>
            <a:endParaRPr lang="he-IL" dirty="0"/>
          </a:p>
        </p:txBody>
      </p:sp>
      <p:pic>
        <p:nvPicPr>
          <p:cNvPr id="8" name="תמונה 7">
            <a:extLst>
              <a:ext uri="{FF2B5EF4-FFF2-40B4-BE49-F238E27FC236}">
                <a16:creationId xmlns:a16="http://schemas.microsoft.com/office/drawing/2014/main" id="{07B9D7EF-E7BE-621D-3542-FDC25AE7E567}"/>
              </a:ext>
            </a:extLst>
          </p:cNvPr>
          <p:cNvPicPr>
            <a:picLocks noChangeAspect="1"/>
          </p:cNvPicPr>
          <p:nvPr/>
        </p:nvPicPr>
        <p:blipFill>
          <a:blip r:embed="rId2"/>
          <a:stretch>
            <a:fillRect/>
          </a:stretch>
        </p:blipFill>
        <p:spPr>
          <a:xfrm>
            <a:off x="899592" y="2928112"/>
            <a:ext cx="2457450" cy="2238375"/>
          </a:xfrm>
          <a:prstGeom prst="rect">
            <a:avLst/>
          </a:prstGeom>
        </p:spPr>
      </p:pic>
    </p:spTree>
    <p:extLst>
      <p:ext uri="{BB962C8B-B14F-4D97-AF65-F5344CB8AC3E}">
        <p14:creationId xmlns:p14="http://schemas.microsoft.com/office/powerpoint/2010/main" val="3085739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1">
            <a:extLst>
              <a:ext uri="{FF2B5EF4-FFF2-40B4-BE49-F238E27FC236}">
                <a16:creationId xmlns:a16="http://schemas.microsoft.com/office/drawing/2014/main" id="{B35BD1DD-8DB5-0C8F-0EFB-3DD7A95D0938}"/>
              </a:ext>
            </a:extLst>
          </p:cNvPr>
          <p:cNvSpPr>
            <a:spLocks noGrp="1"/>
          </p:cNvSpPr>
          <p:nvPr>
            <p:ph type="body" sz="quarter" idx="15"/>
          </p:nvPr>
        </p:nvSpPr>
        <p:spPr>
          <a:xfrm>
            <a:off x="611560" y="1494000"/>
            <a:ext cx="8004764" cy="3447167"/>
          </a:xfrm>
        </p:spPr>
        <p:txBody>
          <a:bodyPr/>
          <a:lstStyle/>
          <a:p>
            <a:r>
              <a:rPr lang="en-US" dirty="0"/>
              <a:t>EJS files typically have an .</a:t>
            </a:r>
            <a:r>
              <a:rPr lang="en-US" dirty="0" err="1"/>
              <a:t>ejs</a:t>
            </a:r>
            <a:r>
              <a:rPr lang="en-US" dirty="0"/>
              <a:t> extension (like </a:t>
            </a:r>
            <a:r>
              <a:rPr lang="en-US" dirty="0" err="1"/>
              <a:t>index.ejs</a:t>
            </a:r>
            <a:r>
              <a:rPr lang="en-US" dirty="0"/>
              <a:t>). They can contain both standard HTML and embedded JavaScript code. The JavaScript code is placed between &lt;% %&gt; delimiters.</a:t>
            </a:r>
            <a:endParaRPr lang="he-IL" dirty="0"/>
          </a:p>
        </p:txBody>
      </p:sp>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b="1" i="0" dirty="0">
                <a:solidFill>
                  <a:srgbClr val="374151"/>
                </a:solidFill>
                <a:effectLst/>
                <a:latin typeface="Söhne"/>
              </a:rPr>
              <a:t>template engines</a:t>
            </a:r>
            <a:endParaRPr lang="he-IL" dirty="0"/>
          </a:p>
        </p:txBody>
      </p:sp>
    </p:spTree>
    <p:extLst>
      <p:ext uri="{BB962C8B-B14F-4D97-AF65-F5344CB8AC3E}">
        <p14:creationId xmlns:p14="http://schemas.microsoft.com/office/powerpoint/2010/main" val="1387430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b="1" i="0" dirty="0">
                <a:solidFill>
                  <a:srgbClr val="374151"/>
                </a:solidFill>
                <a:effectLst/>
                <a:latin typeface="Söhne"/>
              </a:rPr>
              <a:t>template engines</a:t>
            </a:r>
            <a:endParaRPr lang="he-IL" dirty="0"/>
          </a:p>
        </p:txBody>
      </p:sp>
      <p:pic>
        <p:nvPicPr>
          <p:cNvPr id="7" name="תמונה 6">
            <a:extLst>
              <a:ext uri="{FF2B5EF4-FFF2-40B4-BE49-F238E27FC236}">
                <a16:creationId xmlns:a16="http://schemas.microsoft.com/office/drawing/2014/main" id="{F822C901-A219-2654-D1B2-EBD50CCFE615}"/>
              </a:ext>
            </a:extLst>
          </p:cNvPr>
          <p:cNvPicPr>
            <a:picLocks noChangeAspect="1"/>
          </p:cNvPicPr>
          <p:nvPr/>
        </p:nvPicPr>
        <p:blipFill>
          <a:blip r:embed="rId2"/>
          <a:stretch>
            <a:fillRect/>
          </a:stretch>
        </p:blipFill>
        <p:spPr>
          <a:xfrm>
            <a:off x="395536" y="1254848"/>
            <a:ext cx="3657600" cy="2324100"/>
          </a:xfrm>
          <a:prstGeom prst="rect">
            <a:avLst/>
          </a:prstGeom>
        </p:spPr>
      </p:pic>
      <p:pic>
        <p:nvPicPr>
          <p:cNvPr id="9" name="תמונה 8">
            <a:extLst>
              <a:ext uri="{FF2B5EF4-FFF2-40B4-BE49-F238E27FC236}">
                <a16:creationId xmlns:a16="http://schemas.microsoft.com/office/drawing/2014/main" id="{11476D16-BA3F-1584-0D08-62A4FF442977}"/>
              </a:ext>
            </a:extLst>
          </p:cNvPr>
          <p:cNvPicPr>
            <a:picLocks noChangeAspect="1"/>
          </p:cNvPicPr>
          <p:nvPr/>
        </p:nvPicPr>
        <p:blipFill>
          <a:blip r:embed="rId3"/>
          <a:stretch>
            <a:fillRect/>
          </a:stretch>
        </p:blipFill>
        <p:spPr>
          <a:xfrm>
            <a:off x="273199" y="4797152"/>
            <a:ext cx="5429250" cy="1019175"/>
          </a:xfrm>
          <a:prstGeom prst="rect">
            <a:avLst/>
          </a:prstGeom>
        </p:spPr>
      </p:pic>
      <p:pic>
        <p:nvPicPr>
          <p:cNvPr id="11" name="תמונה 10">
            <a:extLst>
              <a:ext uri="{FF2B5EF4-FFF2-40B4-BE49-F238E27FC236}">
                <a16:creationId xmlns:a16="http://schemas.microsoft.com/office/drawing/2014/main" id="{6E957DAF-C1CD-0770-6BBE-98E45FB844F6}"/>
              </a:ext>
            </a:extLst>
          </p:cNvPr>
          <p:cNvPicPr>
            <a:picLocks noChangeAspect="1"/>
          </p:cNvPicPr>
          <p:nvPr/>
        </p:nvPicPr>
        <p:blipFill>
          <a:blip r:embed="rId4"/>
          <a:stretch>
            <a:fillRect/>
          </a:stretch>
        </p:blipFill>
        <p:spPr>
          <a:xfrm>
            <a:off x="6084168" y="1713988"/>
            <a:ext cx="2828925" cy="2324100"/>
          </a:xfrm>
          <a:prstGeom prst="rect">
            <a:avLst/>
          </a:prstGeom>
        </p:spPr>
      </p:pic>
      <p:sp>
        <p:nvSpPr>
          <p:cNvPr id="12" name="סימן חיבור 11">
            <a:extLst>
              <a:ext uri="{FF2B5EF4-FFF2-40B4-BE49-F238E27FC236}">
                <a16:creationId xmlns:a16="http://schemas.microsoft.com/office/drawing/2014/main" id="{97105DC1-BFE8-443B-7988-6E1500EF5F94}"/>
              </a:ext>
            </a:extLst>
          </p:cNvPr>
          <p:cNvSpPr/>
          <p:nvPr/>
        </p:nvSpPr>
        <p:spPr>
          <a:xfrm>
            <a:off x="1835696" y="3970754"/>
            <a:ext cx="936104" cy="36004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שווה ל 12">
            <a:extLst>
              <a:ext uri="{FF2B5EF4-FFF2-40B4-BE49-F238E27FC236}">
                <a16:creationId xmlns:a16="http://schemas.microsoft.com/office/drawing/2014/main" id="{ED869871-8920-9F05-EA1F-9D026A1EFFBF}"/>
              </a:ext>
            </a:extLst>
          </p:cNvPr>
          <p:cNvSpPr/>
          <p:nvPr/>
        </p:nvSpPr>
        <p:spPr>
          <a:xfrm>
            <a:off x="4572000" y="2876038"/>
            <a:ext cx="1224136" cy="840994"/>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489546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1">
            <a:extLst>
              <a:ext uri="{FF2B5EF4-FFF2-40B4-BE49-F238E27FC236}">
                <a16:creationId xmlns:a16="http://schemas.microsoft.com/office/drawing/2014/main" id="{B35BD1DD-8DB5-0C8F-0EFB-3DD7A95D0938}"/>
              </a:ext>
            </a:extLst>
          </p:cNvPr>
          <p:cNvSpPr>
            <a:spLocks noGrp="1"/>
          </p:cNvSpPr>
          <p:nvPr>
            <p:ph type="body" sz="quarter" idx="15"/>
          </p:nvPr>
        </p:nvSpPr>
        <p:spPr>
          <a:xfrm>
            <a:off x="611560" y="1494000"/>
            <a:ext cx="8004764" cy="3447167"/>
          </a:xfrm>
        </p:spPr>
        <p:txBody>
          <a:bodyPr/>
          <a:lstStyle/>
          <a:p>
            <a:r>
              <a:rPr lang="en-US" dirty="0"/>
              <a:t>.env</a:t>
            </a:r>
          </a:p>
          <a:p>
            <a:r>
              <a:rPr lang="en-US" dirty="0"/>
              <a:t>.</a:t>
            </a:r>
            <a:r>
              <a:rPr lang="en-US" dirty="0" err="1"/>
              <a:t>gitignore</a:t>
            </a:r>
            <a:endParaRPr lang="en-US" dirty="0"/>
          </a:p>
          <a:p>
            <a:endParaRPr lang="he-IL" dirty="0"/>
          </a:p>
        </p:txBody>
      </p:sp>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dirty="0"/>
              <a:t>SERVER</a:t>
            </a:r>
            <a:endParaRPr lang="he-IL" dirty="0"/>
          </a:p>
        </p:txBody>
      </p:sp>
      <p:sp>
        <p:nvSpPr>
          <p:cNvPr id="4" name="תיבת טקסט 3">
            <a:extLst>
              <a:ext uri="{FF2B5EF4-FFF2-40B4-BE49-F238E27FC236}">
                <a16:creationId xmlns:a16="http://schemas.microsoft.com/office/drawing/2014/main" id="{36EAA022-875B-7B9F-19D3-D06DE2FB2FE2}"/>
              </a:ext>
            </a:extLst>
          </p:cNvPr>
          <p:cNvSpPr txBox="1"/>
          <p:nvPr/>
        </p:nvSpPr>
        <p:spPr>
          <a:xfrm>
            <a:off x="827584" y="3789040"/>
            <a:ext cx="4572000" cy="369332"/>
          </a:xfrm>
          <a:prstGeom prst="rect">
            <a:avLst/>
          </a:prstGeom>
          <a:noFill/>
        </p:spPr>
        <p:txBody>
          <a:bodyPr wrap="square">
            <a:spAutoFit/>
          </a:bodyPr>
          <a:lstStyle/>
          <a:p>
            <a:r>
              <a:rPr lang="he-IL" dirty="0" err="1"/>
              <a:t>npm</a:t>
            </a:r>
            <a:r>
              <a:rPr lang="he-IL" dirty="0"/>
              <a:t> i  </a:t>
            </a:r>
            <a:r>
              <a:rPr lang="he-IL" dirty="0" err="1"/>
              <a:t>bcrypt</a:t>
            </a:r>
            <a:r>
              <a:rPr lang="he-IL" dirty="0"/>
              <a:t> </a:t>
            </a:r>
            <a:r>
              <a:rPr lang="en-US" dirty="0"/>
              <a:t> //to secure the app</a:t>
            </a:r>
            <a:endParaRPr lang="he-IL" dirty="0"/>
          </a:p>
        </p:txBody>
      </p:sp>
      <p:sp>
        <p:nvSpPr>
          <p:cNvPr id="7" name="תיבת טקסט 6">
            <a:extLst>
              <a:ext uri="{FF2B5EF4-FFF2-40B4-BE49-F238E27FC236}">
                <a16:creationId xmlns:a16="http://schemas.microsoft.com/office/drawing/2014/main" id="{F619BFDC-F885-B991-55BB-0734352B3501}"/>
              </a:ext>
            </a:extLst>
          </p:cNvPr>
          <p:cNvSpPr txBox="1"/>
          <p:nvPr/>
        </p:nvSpPr>
        <p:spPr>
          <a:xfrm>
            <a:off x="851979" y="4365103"/>
            <a:ext cx="4572000" cy="369332"/>
          </a:xfrm>
          <a:prstGeom prst="rect">
            <a:avLst/>
          </a:prstGeom>
          <a:noFill/>
        </p:spPr>
        <p:txBody>
          <a:bodyPr wrap="square">
            <a:spAutoFit/>
          </a:bodyPr>
          <a:lstStyle/>
          <a:p>
            <a:r>
              <a:rPr lang="he-IL" dirty="0" err="1"/>
              <a:t>npm</a:t>
            </a:r>
            <a:r>
              <a:rPr lang="he-IL" dirty="0"/>
              <a:t> </a:t>
            </a:r>
            <a:r>
              <a:rPr lang="he-IL" dirty="0" err="1"/>
              <a:t>install</a:t>
            </a:r>
            <a:r>
              <a:rPr lang="he-IL" dirty="0"/>
              <a:t> </a:t>
            </a:r>
            <a:r>
              <a:rPr lang="he-IL" dirty="0" err="1"/>
              <a:t>uuid</a:t>
            </a:r>
            <a:r>
              <a:rPr lang="he-IL" dirty="0"/>
              <a:t> </a:t>
            </a:r>
            <a:r>
              <a:rPr lang="en-US" dirty="0"/>
              <a:t> //universal </a:t>
            </a:r>
            <a:r>
              <a:rPr lang="en-US" dirty="0" err="1"/>
              <a:t>uniqe</a:t>
            </a:r>
            <a:r>
              <a:rPr lang="en-US" dirty="0"/>
              <a:t> id</a:t>
            </a:r>
            <a:endParaRPr lang="he-IL" dirty="0"/>
          </a:p>
        </p:txBody>
      </p:sp>
      <p:sp>
        <p:nvSpPr>
          <p:cNvPr id="9" name="תיבת טקסט 8">
            <a:extLst>
              <a:ext uri="{FF2B5EF4-FFF2-40B4-BE49-F238E27FC236}">
                <a16:creationId xmlns:a16="http://schemas.microsoft.com/office/drawing/2014/main" id="{8A55B35C-C602-1C9D-D9DB-9FB14D363E4D}"/>
              </a:ext>
            </a:extLst>
          </p:cNvPr>
          <p:cNvSpPr txBox="1"/>
          <p:nvPr/>
        </p:nvSpPr>
        <p:spPr>
          <a:xfrm>
            <a:off x="851978" y="4824732"/>
            <a:ext cx="6096285" cy="369332"/>
          </a:xfrm>
          <a:prstGeom prst="rect">
            <a:avLst/>
          </a:prstGeom>
          <a:noFill/>
        </p:spPr>
        <p:txBody>
          <a:bodyPr wrap="square">
            <a:spAutoFit/>
          </a:bodyPr>
          <a:lstStyle/>
          <a:p>
            <a:r>
              <a:rPr lang="he-IL" dirty="0" err="1"/>
              <a:t>npm</a:t>
            </a:r>
            <a:r>
              <a:rPr lang="he-IL" dirty="0"/>
              <a:t> i </a:t>
            </a:r>
            <a:r>
              <a:rPr lang="he-IL" dirty="0" err="1"/>
              <a:t>passport</a:t>
            </a:r>
            <a:r>
              <a:rPr lang="he-IL" dirty="0"/>
              <a:t> </a:t>
            </a:r>
            <a:r>
              <a:rPr lang="he-IL" dirty="0" err="1"/>
              <a:t>passport-local</a:t>
            </a:r>
            <a:r>
              <a:rPr lang="he-IL" dirty="0"/>
              <a:t> </a:t>
            </a:r>
            <a:r>
              <a:rPr lang="he-IL" dirty="0" err="1"/>
              <a:t>express-session</a:t>
            </a:r>
            <a:r>
              <a:rPr lang="he-IL" dirty="0"/>
              <a:t> </a:t>
            </a:r>
            <a:r>
              <a:rPr lang="he-IL" dirty="0" err="1"/>
              <a:t>express-flash</a:t>
            </a:r>
            <a:endParaRPr lang="he-IL" dirty="0"/>
          </a:p>
        </p:txBody>
      </p:sp>
    </p:spTree>
    <p:extLst>
      <p:ext uri="{BB962C8B-B14F-4D97-AF65-F5344CB8AC3E}">
        <p14:creationId xmlns:p14="http://schemas.microsoft.com/office/powerpoint/2010/main" val="98275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dirty="0"/>
              <a:t>SERVER</a:t>
            </a:r>
            <a:endParaRPr lang="he-IL" dirty="0"/>
          </a:p>
        </p:txBody>
      </p:sp>
      <p:sp>
        <p:nvSpPr>
          <p:cNvPr id="10" name="תיבת טקסט 9">
            <a:extLst>
              <a:ext uri="{FF2B5EF4-FFF2-40B4-BE49-F238E27FC236}">
                <a16:creationId xmlns:a16="http://schemas.microsoft.com/office/drawing/2014/main" id="{C8CFBA06-3E91-14EC-CF59-BD354FD67CBC}"/>
              </a:ext>
            </a:extLst>
          </p:cNvPr>
          <p:cNvSpPr txBox="1"/>
          <p:nvPr/>
        </p:nvSpPr>
        <p:spPr>
          <a:xfrm>
            <a:off x="635456" y="1700808"/>
            <a:ext cx="7536944" cy="1477328"/>
          </a:xfrm>
          <a:prstGeom prst="rect">
            <a:avLst/>
          </a:prstGeom>
          <a:noFill/>
        </p:spPr>
        <p:txBody>
          <a:bodyPr wrap="square">
            <a:spAutoFit/>
          </a:bodyPr>
          <a:lstStyle/>
          <a:p>
            <a:pPr algn="l"/>
            <a:r>
              <a:rPr lang="en-US" b="1" i="0" dirty="0">
                <a:solidFill>
                  <a:srgbClr val="374151"/>
                </a:solidFill>
                <a:effectLst/>
                <a:latin typeface="Söhne"/>
              </a:rPr>
              <a:t>passport</a:t>
            </a:r>
            <a:r>
              <a:rPr lang="en-US" b="0" i="0" dirty="0">
                <a:solidFill>
                  <a:srgbClr val="374151"/>
                </a:solidFill>
                <a:effectLst/>
                <a:latin typeface="Söhne"/>
              </a:rPr>
              <a:t>:</a:t>
            </a:r>
          </a:p>
          <a:p>
            <a:pPr algn="l">
              <a:buFont typeface="Arial" panose="020B0604020202020204" pitchFamily="34" charset="0"/>
              <a:buChar char="•"/>
            </a:pPr>
            <a:r>
              <a:rPr lang="en-US" b="1" i="0" dirty="0">
                <a:solidFill>
                  <a:srgbClr val="374151"/>
                </a:solidFill>
                <a:effectLst/>
                <a:latin typeface="Söhne"/>
              </a:rPr>
              <a:t>Explanation</a:t>
            </a:r>
            <a:r>
              <a:rPr lang="en-US" b="0" i="0" dirty="0">
                <a:solidFill>
                  <a:srgbClr val="374151"/>
                </a:solidFill>
                <a:effectLst/>
                <a:latin typeface="Söhne"/>
              </a:rPr>
              <a:t>: Passport is authentication middleware for Node.js. It's incredibly flexible and supports various authentication methods, known as "strategies" (e.g., local, OAuth, JWT).</a:t>
            </a:r>
          </a:p>
          <a:p>
            <a:pPr algn="l">
              <a:buFont typeface="Arial" panose="020B0604020202020204" pitchFamily="34" charset="0"/>
              <a:buChar char="•"/>
            </a:pPr>
            <a:r>
              <a:rPr lang="en-US" b="1" i="0" dirty="0">
                <a:solidFill>
                  <a:srgbClr val="374151"/>
                </a:solidFill>
                <a:effectLst/>
                <a:latin typeface="Söhne"/>
              </a:rPr>
              <a:t>Usage</a:t>
            </a:r>
            <a:r>
              <a:rPr lang="en-US" b="0" i="0" dirty="0">
                <a:solidFill>
                  <a:srgbClr val="374151"/>
                </a:solidFill>
                <a:effectLst/>
                <a:latin typeface="Söhne"/>
              </a:rPr>
              <a:t>: You'd typically use Passport when you need to authenticate users.</a:t>
            </a:r>
          </a:p>
        </p:txBody>
      </p:sp>
      <p:sp>
        <p:nvSpPr>
          <p:cNvPr id="12" name="תיבת טקסט 11">
            <a:extLst>
              <a:ext uri="{FF2B5EF4-FFF2-40B4-BE49-F238E27FC236}">
                <a16:creationId xmlns:a16="http://schemas.microsoft.com/office/drawing/2014/main" id="{AF8E76D5-893A-67C3-6F8B-5351E2CA91DF}"/>
              </a:ext>
            </a:extLst>
          </p:cNvPr>
          <p:cNvSpPr txBox="1"/>
          <p:nvPr/>
        </p:nvSpPr>
        <p:spPr>
          <a:xfrm>
            <a:off x="635456" y="3732133"/>
            <a:ext cx="8113008" cy="1754326"/>
          </a:xfrm>
          <a:prstGeom prst="rect">
            <a:avLst/>
          </a:prstGeom>
          <a:noFill/>
        </p:spPr>
        <p:txBody>
          <a:bodyPr wrap="square">
            <a:spAutoFit/>
          </a:bodyPr>
          <a:lstStyle/>
          <a:p>
            <a:pPr algn="l"/>
            <a:r>
              <a:rPr lang="en-US" b="1" i="0" dirty="0">
                <a:solidFill>
                  <a:srgbClr val="374151"/>
                </a:solidFill>
                <a:effectLst/>
                <a:latin typeface="Söhne"/>
              </a:rPr>
              <a:t>express-session</a:t>
            </a:r>
            <a:r>
              <a:rPr lang="en-US" b="0" i="0" dirty="0">
                <a:solidFill>
                  <a:srgbClr val="374151"/>
                </a:solidFill>
                <a:effectLst/>
                <a:latin typeface="Söhne"/>
              </a:rPr>
              <a:t>:</a:t>
            </a:r>
          </a:p>
          <a:p>
            <a:pPr algn="l">
              <a:buFont typeface="Arial" panose="020B0604020202020204" pitchFamily="34" charset="0"/>
              <a:buChar char="•"/>
            </a:pPr>
            <a:r>
              <a:rPr lang="en-US" b="1" i="0" dirty="0">
                <a:solidFill>
                  <a:srgbClr val="374151"/>
                </a:solidFill>
                <a:effectLst/>
                <a:latin typeface="Söhne"/>
              </a:rPr>
              <a:t>Explanation</a:t>
            </a:r>
            <a:r>
              <a:rPr lang="en-US" b="0" i="0" dirty="0">
                <a:solidFill>
                  <a:srgbClr val="374151"/>
                </a:solidFill>
                <a:effectLst/>
                <a:latin typeface="Söhne"/>
              </a:rPr>
              <a:t>: This middleware handles session management in Express applications. Sessions allow you to store data between HTTP requests, which is essential for maintaining state in stateless protocols like HTTP.</a:t>
            </a:r>
          </a:p>
          <a:p>
            <a:pPr algn="l">
              <a:buFont typeface="Arial" panose="020B0604020202020204" pitchFamily="34" charset="0"/>
              <a:buChar char="•"/>
            </a:pPr>
            <a:r>
              <a:rPr lang="en-US" b="1" i="0" dirty="0">
                <a:solidFill>
                  <a:srgbClr val="374151"/>
                </a:solidFill>
                <a:effectLst/>
                <a:latin typeface="Söhne"/>
              </a:rPr>
              <a:t>Usage</a:t>
            </a:r>
            <a:r>
              <a:rPr lang="en-US" b="0" i="0" dirty="0">
                <a:solidFill>
                  <a:srgbClr val="374151"/>
                </a:solidFill>
                <a:effectLst/>
                <a:latin typeface="Söhne"/>
              </a:rPr>
              <a:t>: You'd use this for tracking logged-in users and storing user-specific data between requests.</a:t>
            </a:r>
          </a:p>
        </p:txBody>
      </p:sp>
    </p:spTree>
    <p:extLst>
      <p:ext uri="{BB962C8B-B14F-4D97-AF65-F5344CB8AC3E}">
        <p14:creationId xmlns:p14="http://schemas.microsoft.com/office/powerpoint/2010/main" val="1152590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dirty="0"/>
              <a:t>SERVER</a:t>
            </a:r>
            <a:endParaRPr lang="he-IL" dirty="0"/>
          </a:p>
        </p:txBody>
      </p:sp>
      <p:sp>
        <p:nvSpPr>
          <p:cNvPr id="5" name="תיבת טקסט 4">
            <a:extLst>
              <a:ext uri="{FF2B5EF4-FFF2-40B4-BE49-F238E27FC236}">
                <a16:creationId xmlns:a16="http://schemas.microsoft.com/office/drawing/2014/main" id="{C4ACAB30-2633-7515-A418-8FCA6B4E9305}"/>
              </a:ext>
            </a:extLst>
          </p:cNvPr>
          <p:cNvSpPr txBox="1"/>
          <p:nvPr/>
        </p:nvSpPr>
        <p:spPr>
          <a:xfrm>
            <a:off x="539552" y="1484784"/>
            <a:ext cx="7920880" cy="1754326"/>
          </a:xfrm>
          <a:prstGeom prst="rect">
            <a:avLst/>
          </a:prstGeom>
          <a:noFill/>
        </p:spPr>
        <p:txBody>
          <a:bodyPr wrap="square">
            <a:spAutoFit/>
          </a:bodyPr>
          <a:lstStyle/>
          <a:p>
            <a:pPr algn="l"/>
            <a:r>
              <a:rPr lang="en-US" b="1" i="0" dirty="0">
                <a:solidFill>
                  <a:srgbClr val="374151"/>
                </a:solidFill>
                <a:effectLst/>
                <a:latin typeface="Söhne"/>
              </a:rPr>
              <a:t>express-flash</a:t>
            </a:r>
            <a:r>
              <a:rPr lang="en-US" b="0" i="0" dirty="0">
                <a:solidFill>
                  <a:srgbClr val="374151"/>
                </a:solidFill>
                <a:effectLst/>
                <a:latin typeface="Söhne"/>
              </a:rPr>
              <a:t>:</a:t>
            </a:r>
          </a:p>
          <a:p>
            <a:pPr algn="l">
              <a:buFont typeface="Arial" panose="020B0604020202020204" pitchFamily="34" charset="0"/>
              <a:buChar char="•"/>
            </a:pPr>
            <a:r>
              <a:rPr lang="en-US" b="1" i="0" dirty="0">
                <a:solidFill>
                  <a:srgbClr val="374151"/>
                </a:solidFill>
                <a:effectLst/>
                <a:latin typeface="Söhne"/>
              </a:rPr>
              <a:t>Explanation</a:t>
            </a:r>
            <a:r>
              <a:rPr lang="en-US" b="0" i="0" dirty="0">
                <a:solidFill>
                  <a:srgbClr val="374151"/>
                </a:solidFill>
                <a:effectLst/>
                <a:latin typeface="Söhne"/>
              </a:rPr>
              <a:t>: Express-flash is middleware that facilitates displaying flash messages to users. Flash messages are typically used to display one-time messages to the user, like success or error notifications.</a:t>
            </a:r>
          </a:p>
          <a:p>
            <a:pPr algn="l">
              <a:buFont typeface="Arial" panose="020B0604020202020204" pitchFamily="34" charset="0"/>
              <a:buChar char="•"/>
            </a:pPr>
            <a:r>
              <a:rPr lang="en-US" b="1" i="0" dirty="0">
                <a:solidFill>
                  <a:srgbClr val="374151"/>
                </a:solidFill>
                <a:effectLst/>
                <a:latin typeface="Söhne"/>
              </a:rPr>
              <a:t>Usage</a:t>
            </a:r>
            <a:r>
              <a:rPr lang="en-US" b="0" i="0" dirty="0">
                <a:solidFill>
                  <a:srgbClr val="374151"/>
                </a:solidFill>
                <a:effectLst/>
                <a:latin typeface="Söhne"/>
              </a:rPr>
              <a:t>: You'd use this to show messages after certain operations, e.g., after a failed login attempt or after successfully saving data.</a:t>
            </a:r>
          </a:p>
        </p:txBody>
      </p:sp>
    </p:spTree>
    <p:extLst>
      <p:ext uri="{BB962C8B-B14F-4D97-AF65-F5344CB8AC3E}">
        <p14:creationId xmlns:p14="http://schemas.microsoft.com/office/powerpoint/2010/main" val="1765828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b="0" i="0" dirty="0">
                <a:solidFill>
                  <a:srgbClr val="374151"/>
                </a:solidFill>
                <a:effectLst/>
                <a:latin typeface="Söhne"/>
              </a:rPr>
              <a:t>strategy</a:t>
            </a:r>
            <a:endParaRPr lang="he-IL" dirty="0"/>
          </a:p>
        </p:txBody>
      </p:sp>
      <p:sp>
        <p:nvSpPr>
          <p:cNvPr id="3" name="תיבת טקסט 2">
            <a:extLst>
              <a:ext uri="{FF2B5EF4-FFF2-40B4-BE49-F238E27FC236}">
                <a16:creationId xmlns:a16="http://schemas.microsoft.com/office/drawing/2014/main" id="{7428D890-F644-1F79-F881-48D5F782FDA9}"/>
              </a:ext>
            </a:extLst>
          </p:cNvPr>
          <p:cNvSpPr txBox="1"/>
          <p:nvPr/>
        </p:nvSpPr>
        <p:spPr>
          <a:xfrm>
            <a:off x="395536" y="1484784"/>
            <a:ext cx="8568952" cy="3693319"/>
          </a:xfrm>
          <a:prstGeom prst="rect">
            <a:avLst/>
          </a:prstGeom>
          <a:noFill/>
        </p:spPr>
        <p:txBody>
          <a:bodyPr wrap="square">
            <a:spAutoFit/>
          </a:bodyPr>
          <a:lstStyle/>
          <a:p>
            <a:pPr algn="l"/>
            <a:r>
              <a:rPr lang="en-US" b="0" i="0" dirty="0">
                <a:solidFill>
                  <a:srgbClr val="374151"/>
                </a:solidFill>
                <a:effectLst/>
                <a:latin typeface="Söhne"/>
              </a:rPr>
              <a:t>In the context of authentication systems, especially with Passport.js in Node.js, a "strategy" refers to a method or mechanism by which authentication can be achieved.</a:t>
            </a:r>
          </a:p>
          <a:p>
            <a:pPr algn="l"/>
            <a:r>
              <a:rPr lang="en-US" b="0" i="0" dirty="0">
                <a:solidFill>
                  <a:srgbClr val="374151"/>
                </a:solidFill>
                <a:effectLst/>
                <a:latin typeface="Söhne"/>
              </a:rPr>
              <a:t>Passport.js, as a middleware, abstracts away much of the boilerplate of handling different authentication methods, but it does so in a way that's extensible. This extensibility comes from "strategies."</a:t>
            </a:r>
          </a:p>
          <a:p>
            <a:pPr algn="l"/>
            <a:r>
              <a:rPr lang="en-US" b="0" i="0" dirty="0">
                <a:solidFill>
                  <a:srgbClr val="374151"/>
                </a:solidFill>
                <a:effectLst/>
                <a:latin typeface="Söhne"/>
              </a:rPr>
              <a:t>Here's a deeper look at what a strategy is:</a:t>
            </a:r>
          </a:p>
          <a:p>
            <a:pPr algn="l">
              <a:buFont typeface="+mj-lt"/>
              <a:buAutoNum type="arabicPeriod"/>
            </a:pPr>
            <a:r>
              <a:rPr lang="en-US" b="1" i="0" dirty="0">
                <a:solidFill>
                  <a:srgbClr val="374151"/>
                </a:solidFill>
                <a:effectLst/>
                <a:latin typeface="Söhne"/>
              </a:rPr>
              <a:t>Abstracted Authentication Mechanism</a:t>
            </a:r>
            <a:r>
              <a:rPr lang="en-US" b="0" i="0" dirty="0">
                <a:solidFill>
                  <a:srgbClr val="374151"/>
                </a:solidFill>
                <a:effectLst/>
                <a:latin typeface="Söhne"/>
              </a:rPr>
              <a:t>: Each strategy is an abstracted authentication mechanism. Whether it's verifying a username and password against a database, checking an OAuth token against Google's authentication servers, or verifying a JSON Web Token, each of these mechanisms can be wrapped up in a strategy.</a:t>
            </a:r>
          </a:p>
          <a:p>
            <a:pPr algn="l">
              <a:buFont typeface="+mj-lt"/>
              <a:buAutoNum type="arabicPeriod"/>
            </a:pPr>
            <a:r>
              <a:rPr lang="en-US" b="1" i="0" dirty="0">
                <a:solidFill>
                  <a:srgbClr val="374151"/>
                </a:solidFill>
                <a:effectLst/>
                <a:latin typeface="Söhne"/>
              </a:rPr>
              <a:t>Plug-and-Play</a:t>
            </a:r>
            <a:r>
              <a:rPr lang="en-US" b="0" i="0" dirty="0">
                <a:solidFill>
                  <a:srgbClr val="374151"/>
                </a:solidFill>
                <a:effectLst/>
                <a:latin typeface="Söhne"/>
              </a:rPr>
              <a:t>: Because of this design, developers can mix and match strategies as needed. Need local authentication and Google OAuth in the same app? No problem. Just configure both strategies, and you're good to go.</a:t>
            </a:r>
          </a:p>
        </p:txBody>
      </p:sp>
    </p:spTree>
    <p:extLst>
      <p:ext uri="{BB962C8B-B14F-4D97-AF65-F5344CB8AC3E}">
        <p14:creationId xmlns:p14="http://schemas.microsoft.com/office/powerpoint/2010/main" val="1103628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BC1A87C8-EF5B-D806-7AAF-4934D18C10B9}"/>
              </a:ext>
            </a:extLst>
          </p:cNvPr>
          <p:cNvSpPr>
            <a:spLocks noGrp="1"/>
          </p:cNvSpPr>
          <p:nvPr>
            <p:ph type="title"/>
          </p:nvPr>
        </p:nvSpPr>
        <p:spPr/>
        <p:txBody>
          <a:bodyPr/>
          <a:lstStyle/>
          <a:p>
            <a:r>
              <a:rPr lang="en-US" b="0" i="0" dirty="0">
                <a:solidFill>
                  <a:srgbClr val="374151"/>
                </a:solidFill>
                <a:effectLst/>
                <a:latin typeface="Söhne"/>
              </a:rPr>
              <a:t>strategy</a:t>
            </a:r>
            <a:endParaRPr lang="he-IL" dirty="0"/>
          </a:p>
        </p:txBody>
      </p:sp>
      <p:sp>
        <p:nvSpPr>
          <p:cNvPr id="3" name="תיבת טקסט 2">
            <a:extLst>
              <a:ext uri="{FF2B5EF4-FFF2-40B4-BE49-F238E27FC236}">
                <a16:creationId xmlns:a16="http://schemas.microsoft.com/office/drawing/2014/main" id="{7428D890-F644-1F79-F881-48D5F782FDA9}"/>
              </a:ext>
            </a:extLst>
          </p:cNvPr>
          <p:cNvSpPr txBox="1"/>
          <p:nvPr/>
        </p:nvSpPr>
        <p:spPr>
          <a:xfrm>
            <a:off x="395536" y="1484784"/>
            <a:ext cx="8568952" cy="369332"/>
          </a:xfrm>
          <a:prstGeom prst="rect">
            <a:avLst/>
          </a:prstGeom>
          <a:noFill/>
        </p:spPr>
        <p:txBody>
          <a:bodyPr wrap="square">
            <a:spAutoFit/>
          </a:bodyPr>
          <a:lstStyle/>
          <a:p>
            <a:pPr algn="l"/>
            <a:endParaRPr lang="en-US" b="0" i="0" dirty="0">
              <a:solidFill>
                <a:srgbClr val="374151"/>
              </a:solidFill>
              <a:effectLst/>
              <a:latin typeface="Söhne"/>
            </a:endParaRPr>
          </a:p>
        </p:txBody>
      </p:sp>
      <p:sp>
        <p:nvSpPr>
          <p:cNvPr id="5" name="תיבת טקסט 4">
            <a:extLst>
              <a:ext uri="{FF2B5EF4-FFF2-40B4-BE49-F238E27FC236}">
                <a16:creationId xmlns:a16="http://schemas.microsoft.com/office/drawing/2014/main" id="{CDC8F23A-7E3F-A989-5F42-57DD5E6CD2A4}"/>
              </a:ext>
            </a:extLst>
          </p:cNvPr>
          <p:cNvSpPr txBox="1"/>
          <p:nvPr/>
        </p:nvSpPr>
        <p:spPr>
          <a:xfrm>
            <a:off x="971600" y="1471451"/>
            <a:ext cx="6678488" cy="4524315"/>
          </a:xfrm>
          <a:prstGeom prst="rect">
            <a:avLst/>
          </a:prstGeom>
          <a:noFill/>
        </p:spPr>
        <p:txBody>
          <a:bodyPr wrap="square">
            <a:spAutoFit/>
          </a:bodyPr>
          <a:lstStyle/>
          <a:p>
            <a:pPr algn="l">
              <a:buFont typeface="+mj-lt"/>
              <a:buAutoNum type="arabicPeriod"/>
            </a:pPr>
            <a:r>
              <a:rPr lang="en-US" b="1" i="0" dirty="0">
                <a:solidFill>
                  <a:srgbClr val="374151"/>
                </a:solidFill>
                <a:effectLst/>
                <a:latin typeface="Söhne"/>
              </a:rPr>
              <a:t>Examples</a:t>
            </a:r>
            <a:r>
              <a:rPr lang="en-US" b="0" i="0" dirty="0">
                <a:solidFill>
                  <a:srgbClr val="374151"/>
                </a:solidFill>
                <a:effectLst/>
                <a:latin typeface="Söhne"/>
              </a:rPr>
              <a:t>:</a:t>
            </a:r>
          </a:p>
          <a:p>
            <a:pPr marL="742950" lvl="1" indent="-285750" algn="l">
              <a:buFont typeface="+mj-lt"/>
              <a:buAutoNum type="arabicPeriod"/>
            </a:pPr>
            <a:r>
              <a:rPr lang="en-US" b="1" i="0" dirty="0" err="1">
                <a:solidFill>
                  <a:srgbClr val="374151"/>
                </a:solidFill>
                <a:effectLst/>
                <a:latin typeface="Söhne"/>
              </a:rPr>
              <a:t>LocalStrategy</a:t>
            </a:r>
            <a:r>
              <a:rPr lang="en-US" b="0" i="0" dirty="0">
                <a:solidFill>
                  <a:srgbClr val="374151"/>
                </a:solidFill>
                <a:effectLst/>
                <a:latin typeface="Söhne"/>
              </a:rPr>
              <a:t>: Used for local username (or email) and password authentication.</a:t>
            </a:r>
          </a:p>
          <a:p>
            <a:pPr marL="742950" lvl="1" indent="-285750" algn="l">
              <a:buFont typeface="+mj-lt"/>
              <a:buAutoNum type="arabicPeriod"/>
            </a:pPr>
            <a:r>
              <a:rPr lang="en-US" b="1" i="0" dirty="0">
                <a:solidFill>
                  <a:srgbClr val="374151"/>
                </a:solidFill>
                <a:effectLst/>
                <a:latin typeface="Söhne"/>
              </a:rPr>
              <a:t>OAuth2Strategy</a:t>
            </a:r>
            <a:r>
              <a:rPr lang="en-US" b="0" i="0" dirty="0">
                <a:solidFill>
                  <a:srgbClr val="374151"/>
                </a:solidFill>
                <a:effectLst/>
                <a:latin typeface="Söhne"/>
              </a:rPr>
              <a:t>: Used for OAuth 2.0 authentication (like logging in with Google, Facebook, etc.)</a:t>
            </a:r>
          </a:p>
          <a:p>
            <a:pPr marL="742950" lvl="1" indent="-285750" algn="l">
              <a:buFont typeface="+mj-lt"/>
              <a:buAutoNum type="arabicPeriod"/>
            </a:pPr>
            <a:r>
              <a:rPr lang="en-US" b="1" i="0" dirty="0" err="1">
                <a:solidFill>
                  <a:srgbClr val="374151"/>
                </a:solidFill>
                <a:effectLst/>
                <a:latin typeface="Söhne"/>
              </a:rPr>
              <a:t>BearerStrategy</a:t>
            </a:r>
            <a:r>
              <a:rPr lang="en-US" b="0" i="0" dirty="0">
                <a:solidFill>
                  <a:srgbClr val="374151"/>
                </a:solidFill>
                <a:effectLst/>
                <a:latin typeface="Söhne"/>
              </a:rPr>
              <a:t>: Used for token-based authentication, like JWT.</a:t>
            </a:r>
          </a:p>
          <a:p>
            <a:pPr algn="l">
              <a:buFont typeface="+mj-lt"/>
              <a:buAutoNum type="arabicPeriod"/>
            </a:pPr>
            <a:r>
              <a:rPr lang="en-US" b="1" i="0" dirty="0">
                <a:solidFill>
                  <a:srgbClr val="374151"/>
                </a:solidFill>
                <a:effectLst/>
                <a:latin typeface="Söhne"/>
              </a:rPr>
              <a:t>Custom Strategies</a:t>
            </a:r>
            <a:r>
              <a:rPr lang="en-US" b="0" i="0" dirty="0">
                <a:solidFill>
                  <a:srgbClr val="374151"/>
                </a:solidFill>
                <a:effectLst/>
                <a:latin typeface="Söhne"/>
              </a:rPr>
              <a:t>: If none of the many community-contributed strategies do what you need, you can create your own strategy. This provides the flexibility to integrate with virtually any authentication system or backend.</a:t>
            </a:r>
          </a:p>
          <a:p>
            <a:pPr algn="l"/>
            <a:r>
              <a:rPr lang="en-US" b="0" i="0" dirty="0">
                <a:solidFill>
                  <a:srgbClr val="374151"/>
                </a:solidFill>
                <a:effectLst/>
                <a:latin typeface="Söhne"/>
              </a:rPr>
              <a:t>In essence, a strategy in Passport.js (and in other systems that adopt a similar architecture) encapsulates a specific authentication mechanism in a way that's easy to integrate, consistent, and modular. This design choice is what has made Passport.js one of the go-to authentication libraries for Node.js developers.</a:t>
            </a:r>
          </a:p>
        </p:txBody>
      </p:sp>
    </p:spTree>
    <p:extLst>
      <p:ext uri="{BB962C8B-B14F-4D97-AF65-F5344CB8AC3E}">
        <p14:creationId xmlns:p14="http://schemas.microsoft.com/office/powerpoint/2010/main" val="1392695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1">
            <a:extLst>
              <a:ext uri="{FF2B5EF4-FFF2-40B4-BE49-F238E27FC236}">
                <a16:creationId xmlns:a16="http://schemas.microsoft.com/office/drawing/2014/main" id="{166A55F2-4E54-EAE3-3B57-E4CACB2DC9DB}"/>
              </a:ext>
            </a:extLst>
          </p:cNvPr>
          <p:cNvSpPr>
            <a:spLocks noGrp="1"/>
          </p:cNvSpPr>
          <p:nvPr>
            <p:ph type="body" sz="quarter" idx="15"/>
          </p:nvPr>
        </p:nvSpPr>
        <p:spPr/>
        <p:txBody>
          <a:bodyPr/>
          <a:lstStyle/>
          <a:p>
            <a:r>
              <a:rPr lang="en-US" dirty="0"/>
              <a:t>server3</a:t>
            </a:r>
            <a:endParaRPr lang="he-IL" dirty="0"/>
          </a:p>
        </p:txBody>
      </p:sp>
      <p:sp>
        <p:nvSpPr>
          <p:cNvPr id="4" name="מציין מיקום טקסט 3">
            <a:extLst>
              <a:ext uri="{FF2B5EF4-FFF2-40B4-BE49-F238E27FC236}">
                <a16:creationId xmlns:a16="http://schemas.microsoft.com/office/drawing/2014/main" id="{EB6CFF9F-5AF1-4935-A37D-EC7FD794A969}"/>
              </a:ext>
            </a:extLst>
          </p:cNvPr>
          <p:cNvSpPr>
            <a:spLocks noGrp="1"/>
          </p:cNvSpPr>
          <p:nvPr>
            <p:ph type="body" sz="quarter" idx="15"/>
          </p:nvPr>
        </p:nvSpPr>
        <p:spPr>
          <a:xfrm>
            <a:off x="611560" y="2685877"/>
            <a:ext cx="8004764" cy="1072800"/>
          </a:xfrm>
        </p:spPr>
        <p:txBody>
          <a:bodyPr/>
          <a:lstStyle/>
          <a:p>
            <a:r>
              <a:rPr lang="en-US" b="0" i="0" dirty="0" err="1">
                <a:effectLst/>
                <a:latin typeface="Söhne Mono"/>
              </a:rPr>
              <a:t>npm</a:t>
            </a:r>
            <a:r>
              <a:rPr lang="en-US" b="0" i="0" dirty="0">
                <a:effectLst/>
                <a:latin typeface="Söhne Mono"/>
              </a:rPr>
              <a:t> install express </a:t>
            </a:r>
            <a:r>
              <a:rPr lang="en-US" b="0" i="0" dirty="0" err="1">
                <a:effectLst/>
                <a:latin typeface="Söhne Mono"/>
              </a:rPr>
              <a:t>ejs</a:t>
            </a:r>
            <a:r>
              <a:rPr lang="en-US" b="0" i="0" dirty="0">
                <a:effectLst/>
                <a:latin typeface="Söhne Mono"/>
              </a:rPr>
              <a:t> </a:t>
            </a:r>
            <a:r>
              <a:rPr lang="en-US" b="0" i="0" dirty="0" err="1">
                <a:effectLst/>
                <a:latin typeface="Söhne Mono"/>
              </a:rPr>
              <a:t>bcryptjs</a:t>
            </a:r>
            <a:r>
              <a:rPr lang="en-US" b="0" i="0" dirty="0">
                <a:effectLst/>
                <a:latin typeface="Söhne Mono"/>
              </a:rPr>
              <a:t> </a:t>
            </a:r>
            <a:r>
              <a:rPr lang="en-US" b="0" i="0" dirty="0" err="1">
                <a:effectLst/>
                <a:latin typeface="Söhne Mono"/>
              </a:rPr>
              <a:t>jsonwebtoken</a:t>
            </a:r>
            <a:endParaRPr lang="he-IL" dirty="0"/>
          </a:p>
        </p:txBody>
      </p:sp>
      <p:sp>
        <p:nvSpPr>
          <p:cNvPr id="6" name="כותרת 5">
            <a:extLst>
              <a:ext uri="{FF2B5EF4-FFF2-40B4-BE49-F238E27FC236}">
                <a16:creationId xmlns:a16="http://schemas.microsoft.com/office/drawing/2014/main" id="{FD7EE659-F15B-639C-4E88-759FE3CBEB9F}"/>
              </a:ext>
            </a:extLst>
          </p:cNvPr>
          <p:cNvSpPr>
            <a:spLocks noGrp="1"/>
          </p:cNvSpPr>
          <p:nvPr>
            <p:ph type="title"/>
          </p:nvPr>
        </p:nvSpPr>
        <p:spPr/>
        <p:txBody>
          <a:bodyPr/>
          <a:lstStyle/>
          <a:p>
            <a:r>
              <a:rPr lang="en-US" dirty="0"/>
              <a:t>JWT TOCKEN</a:t>
            </a:r>
            <a:endParaRPr lang="he-IL" dirty="0"/>
          </a:p>
        </p:txBody>
      </p:sp>
      <p:sp>
        <p:nvSpPr>
          <p:cNvPr id="8" name="תיבת טקסט 7">
            <a:extLst>
              <a:ext uri="{FF2B5EF4-FFF2-40B4-BE49-F238E27FC236}">
                <a16:creationId xmlns:a16="http://schemas.microsoft.com/office/drawing/2014/main" id="{566CD3BF-6C0D-847C-C330-CC26D2E7224A}"/>
              </a:ext>
            </a:extLst>
          </p:cNvPr>
          <p:cNvSpPr txBox="1"/>
          <p:nvPr/>
        </p:nvSpPr>
        <p:spPr>
          <a:xfrm>
            <a:off x="899592" y="3510317"/>
            <a:ext cx="4572000" cy="369332"/>
          </a:xfrm>
          <a:prstGeom prst="rect">
            <a:avLst/>
          </a:prstGeom>
          <a:noFill/>
        </p:spPr>
        <p:txBody>
          <a:bodyPr wrap="square">
            <a:spAutoFit/>
          </a:bodyPr>
          <a:lstStyle/>
          <a:p>
            <a:r>
              <a:rPr lang="he-IL" dirty="0"/>
              <a:t>http://calebb.net/</a:t>
            </a:r>
          </a:p>
        </p:txBody>
      </p:sp>
    </p:spTree>
    <p:extLst>
      <p:ext uri="{BB962C8B-B14F-4D97-AF65-F5344CB8AC3E}">
        <p14:creationId xmlns:p14="http://schemas.microsoft.com/office/powerpoint/2010/main" val="90042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FD7EE659-F15B-639C-4E88-759FE3CBEB9F}"/>
              </a:ext>
            </a:extLst>
          </p:cNvPr>
          <p:cNvSpPr>
            <a:spLocks noGrp="1"/>
          </p:cNvSpPr>
          <p:nvPr>
            <p:ph type="title"/>
          </p:nvPr>
        </p:nvSpPr>
        <p:spPr/>
        <p:txBody>
          <a:bodyPr/>
          <a:lstStyle/>
          <a:p>
            <a:r>
              <a:rPr lang="en-US" dirty="0"/>
              <a:t>JWT TOKEN</a:t>
            </a:r>
            <a:endParaRPr lang="he-IL" dirty="0"/>
          </a:p>
        </p:txBody>
      </p:sp>
      <p:pic>
        <p:nvPicPr>
          <p:cNvPr id="10" name="תמונה 9">
            <a:extLst>
              <a:ext uri="{FF2B5EF4-FFF2-40B4-BE49-F238E27FC236}">
                <a16:creationId xmlns:a16="http://schemas.microsoft.com/office/drawing/2014/main" id="{4AAC14B4-121C-C3C4-7127-E592767068F0}"/>
              </a:ext>
            </a:extLst>
          </p:cNvPr>
          <p:cNvPicPr>
            <a:picLocks noChangeAspect="1"/>
          </p:cNvPicPr>
          <p:nvPr/>
        </p:nvPicPr>
        <p:blipFill>
          <a:blip r:embed="rId2"/>
          <a:stretch>
            <a:fillRect/>
          </a:stretch>
        </p:blipFill>
        <p:spPr>
          <a:xfrm>
            <a:off x="180975" y="1556792"/>
            <a:ext cx="8782050" cy="2057400"/>
          </a:xfrm>
          <a:prstGeom prst="rect">
            <a:avLst/>
          </a:prstGeom>
        </p:spPr>
      </p:pic>
      <p:pic>
        <p:nvPicPr>
          <p:cNvPr id="12" name="תמונה 11">
            <a:extLst>
              <a:ext uri="{FF2B5EF4-FFF2-40B4-BE49-F238E27FC236}">
                <a16:creationId xmlns:a16="http://schemas.microsoft.com/office/drawing/2014/main" id="{5572FA88-4A45-0E07-4939-B7E4AA2A033D}"/>
              </a:ext>
            </a:extLst>
          </p:cNvPr>
          <p:cNvPicPr>
            <a:picLocks noChangeAspect="1"/>
          </p:cNvPicPr>
          <p:nvPr/>
        </p:nvPicPr>
        <p:blipFill>
          <a:blip r:embed="rId3"/>
          <a:stretch>
            <a:fillRect/>
          </a:stretch>
        </p:blipFill>
        <p:spPr>
          <a:xfrm>
            <a:off x="-180975" y="4077072"/>
            <a:ext cx="9144000" cy="1680232"/>
          </a:xfrm>
          <a:prstGeom prst="rect">
            <a:avLst/>
          </a:prstGeom>
        </p:spPr>
      </p:pic>
    </p:spTree>
    <p:extLst>
      <p:ext uri="{BB962C8B-B14F-4D97-AF65-F5344CB8AC3E}">
        <p14:creationId xmlns:p14="http://schemas.microsoft.com/office/powerpoint/2010/main" val="1138726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תמונה 7">
            <a:extLst>
              <a:ext uri="{FF2B5EF4-FFF2-40B4-BE49-F238E27FC236}">
                <a16:creationId xmlns:a16="http://schemas.microsoft.com/office/drawing/2014/main" id="{62D0B3BE-ECF6-9C42-282C-FB8F3A6EE046}"/>
              </a:ext>
            </a:extLst>
          </p:cNvPr>
          <p:cNvPicPr>
            <a:picLocks noChangeAspect="1"/>
          </p:cNvPicPr>
          <p:nvPr/>
        </p:nvPicPr>
        <p:blipFill>
          <a:blip r:embed="rId2"/>
          <a:stretch>
            <a:fillRect/>
          </a:stretch>
        </p:blipFill>
        <p:spPr>
          <a:xfrm>
            <a:off x="116954" y="12043"/>
            <a:ext cx="4133850" cy="1704975"/>
          </a:xfrm>
          <a:prstGeom prst="rect">
            <a:avLst/>
          </a:prstGeom>
        </p:spPr>
      </p:pic>
      <p:pic>
        <p:nvPicPr>
          <p:cNvPr id="10" name="תמונה 9">
            <a:extLst>
              <a:ext uri="{FF2B5EF4-FFF2-40B4-BE49-F238E27FC236}">
                <a16:creationId xmlns:a16="http://schemas.microsoft.com/office/drawing/2014/main" id="{BDAFFD27-5626-6537-37DB-B93A49A8751B}"/>
              </a:ext>
            </a:extLst>
          </p:cNvPr>
          <p:cNvPicPr>
            <a:picLocks noChangeAspect="1"/>
          </p:cNvPicPr>
          <p:nvPr/>
        </p:nvPicPr>
        <p:blipFill>
          <a:blip r:embed="rId3"/>
          <a:stretch>
            <a:fillRect/>
          </a:stretch>
        </p:blipFill>
        <p:spPr>
          <a:xfrm>
            <a:off x="3635896" y="1529690"/>
            <a:ext cx="5391150" cy="1076325"/>
          </a:xfrm>
          <a:prstGeom prst="rect">
            <a:avLst/>
          </a:prstGeom>
        </p:spPr>
      </p:pic>
      <p:pic>
        <p:nvPicPr>
          <p:cNvPr id="12" name="תמונה 11">
            <a:extLst>
              <a:ext uri="{FF2B5EF4-FFF2-40B4-BE49-F238E27FC236}">
                <a16:creationId xmlns:a16="http://schemas.microsoft.com/office/drawing/2014/main" id="{C81B7FA7-B571-BFCB-7D5E-54794BB395B8}"/>
              </a:ext>
            </a:extLst>
          </p:cNvPr>
          <p:cNvPicPr>
            <a:picLocks noChangeAspect="1"/>
          </p:cNvPicPr>
          <p:nvPr/>
        </p:nvPicPr>
        <p:blipFill>
          <a:blip r:embed="rId4"/>
          <a:stretch>
            <a:fillRect/>
          </a:stretch>
        </p:blipFill>
        <p:spPr>
          <a:xfrm>
            <a:off x="15366" y="2867025"/>
            <a:ext cx="5514975" cy="3990975"/>
          </a:xfrm>
          <a:prstGeom prst="rect">
            <a:avLst/>
          </a:prstGeom>
        </p:spPr>
      </p:pic>
    </p:spTree>
    <p:extLst>
      <p:ext uri="{BB962C8B-B14F-4D97-AF65-F5344CB8AC3E}">
        <p14:creationId xmlns:p14="http://schemas.microsoft.com/office/powerpoint/2010/main" val="1704933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7CC76CA0-B829-C57E-85A0-8A2D6DDB6874}"/>
              </a:ext>
            </a:extLst>
          </p:cNvPr>
          <p:cNvSpPr txBox="1"/>
          <p:nvPr/>
        </p:nvSpPr>
        <p:spPr>
          <a:xfrm>
            <a:off x="611560" y="1124744"/>
            <a:ext cx="4572000" cy="646331"/>
          </a:xfrm>
          <a:prstGeom prst="rect">
            <a:avLst/>
          </a:prstGeom>
          <a:noFill/>
        </p:spPr>
        <p:txBody>
          <a:bodyPr wrap="square">
            <a:spAutoFit/>
          </a:bodyPr>
          <a:lstStyle/>
          <a:p>
            <a:r>
              <a:rPr lang="en-US" dirty="0"/>
              <a:t>Server side :</a:t>
            </a:r>
          </a:p>
          <a:p>
            <a:r>
              <a:rPr lang="he-IL" dirty="0" err="1"/>
              <a:t>npm</a:t>
            </a:r>
            <a:r>
              <a:rPr lang="he-IL" dirty="0"/>
              <a:t> </a:t>
            </a:r>
            <a:r>
              <a:rPr lang="he-IL" dirty="0" err="1"/>
              <a:t>install</a:t>
            </a:r>
            <a:r>
              <a:rPr lang="he-IL" dirty="0"/>
              <a:t> </a:t>
            </a:r>
            <a:r>
              <a:rPr lang="he-IL" dirty="0" err="1"/>
              <a:t>cookie-parser</a:t>
            </a:r>
            <a:endParaRPr lang="he-IL" dirty="0"/>
          </a:p>
        </p:txBody>
      </p:sp>
    </p:spTree>
    <p:extLst>
      <p:ext uri="{BB962C8B-B14F-4D97-AF65-F5344CB8AC3E}">
        <p14:creationId xmlns:p14="http://schemas.microsoft.com/office/powerpoint/2010/main" val="1958871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1">
            <a:extLst>
              <a:ext uri="{FF2B5EF4-FFF2-40B4-BE49-F238E27FC236}">
                <a16:creationId xmlns:a16="http://schemas.microsoft.com/office/drawing/2014/main" id="{97A8E898-7615-C1C6-6A7F-E51ADBDBC1D9}"/>
              </a:ext>
            </a:extLst>
          </p:cNvPr>
          <p:cNvSpPr>
            <a:spLocks noGrp="1"/>
          </p:cNvSpPr>
          <p:nvPr>
            <p:ph type="body" sz="quarter" idx="15"/>
          </p:nvPr>
        </p:nvSpPr>
        <p:spPr/>
        <p:txBody>
          <a:bodyPr/>
          <a:lstStyle/>
          <a:p>
            <a:r>
              <a:rPr lang="en-US" dirty="0"/>
              <a:t>Server4 </a:t>
            </a:r>
            <a:endParaRPr lang="he-IL" dirty="0"/>
          </a:p>
        </p:txBody>
      </p:sp>
      <p:sp>
        <p:nvSpPr>
          <p:cNvPr id="4" name="מציין מיקום טקסט 3">
            <a:extLst>
              <a:ext uri="{FF2B5EF4-FFF2-40B4-BE49-F238E27FC236}">
                <a16:creationId xmlns:a16="http://schemas.microsoft.com/office/drawing/2014/main" id="{EFF9C78B-6529-DC96-AE72-C7CDFF102655}"/>
              </a:ext>
            </a:extLst>
          </p:cNvPr>
          <p:cNvSpPr>
            <a:spLocks noGrp="1"/>
          </p:cNvSpPr>
          <p:nvPr>
            <p:ph type="body" sz="quarter" idx="15"/>
          </p:nvPr>
        </p:nvSpPr>
        <p:spPr>
          <a:xfrm>
            <a:off x="827584" y="2560421"/>
            <a:ext cx="8004764" cy="1072800"/>
          </a:xfrm>
        </p:spPr>
        <p:txBody>
          <a:bodyPr/>
          <a:lstStyle/>
          <a:p>
            <a:r>
              <a:rPr lang="en-US" dirty="0" err="1"/>
              <a:t>npm</a:t>
            </a:r>
            <a:r>
              <a:rPr lang="en-US" dirty="0"/>
              <a:t> install express passport passport-oauth2 cookie-session </a:t>
            </a:r>
            <a:r>
              <a:rPr lang="en-US" dirty="0" err="1"/>
              <a:t>dotenv</a:t>
            </a:r>
            <a:endParaRPr lang="en-US" dirty="0"/>
          </a:p>
          <a:p>
            <a:endParaRPr lang="he-IL" dirty="0"/>
          </a:p>
        </p:txBody>
      </p:sp>
      <p:sp>
        <p:nvSpPr>
          <p:cNvPr id="6" name="כותרת 5">
            <a:extLst>
              <a:ext uri="{FF2B5EF4-FFF2-40B4-BE49-F238E27FC236}">
                <a16:creationId xmlns:a16="http://schemas.microsoft.com/office/drawing/2014/main" id="{1C1D6C1C-F0B9-7E08-07D7-D820ECB89B08}"/>
              </a:ext>
            </a:extLst>
          </p:cNvPr>
          <p:cNvSpPr>
            <a:spLocks noGrp="1"/>
          </p:cNvSpPr>
          <p:nvPr>
            <p:ph type="title"/>
          </p:nvPr>
        </p:nvSpPr>
        <p:spPr/>
        <p:txBody>
          <a:bodyPr/>
          <a:lstStyle/>
          <a:p>
            <a:r>
              <a:rPr lang="en-US" dirty="0"/>
              <a:t>OAuth2</a:t>
            </a:r>
            <a:endParaRPr lang="he-IL" dirty="0"/>
          </a:p>
        </p:txBody>
      </p:sp>
      <p:sp>
        <p:nvSpPr>
          <p:cNvPr id="8" name="תיבת טקסט 7">
            <a:extLst>
              <a:ext uri="{FF2B5EF4-FFF2-40B4-BE49-F238E27FC236}">
                <a16:creationId xmlns:a16="http://schemas.microsoft.com/office/drawing/2014/main" id="{4825DDC9-D355-ECA9-3478-AEADC78AEA4F}"/>
              </a:ext>
            </a:extLst>
          </p:cNvPr>
          <p:cNvSpPr txBox="1"/>
          <p:nvPr/>
        </p:nvSpPr>
        <p:spPr>
          <a:xfrm>
            <a:off x="1115616" y="4149080"/>
            <a:ext cx="4572000" cy="369332"/>
          </a:xfrm>
          <a:prstGeom prst="rect">
            <a:avLst/>
          </a:prstGeom>
          <a:noFill/>
        </p:spPr>
        <p:txBody>
          <a:bodyPr wrap="square">
            <a:spAutoFit/>
          </a:bodyPr>
          <a:lstStyle/>
          <a:p>
            <a:r>
              <a:rPr lang="he-IL" dirty="0" err="1"/>
              <a:t>npm</a:t>
            </a:r>
            <a:r>
              <a:rPr lang="he-IL" dirty="0"/>
              <a:t> </a:t>
            </a:r>
            <a:r>
              <a:rPr lang="he-IL" dirty="0" err="1"/>
              <a:t>install</a:t>
            </a:r>
            <a:r>
              <a:rPr lang="he-IL" dirty="0"/>
              <a:t> passport-google-oauth20</a:t>
            </a:r>
          </a:p>
        </p:txBody>
      </p:sp>
    </p:spTree>
    <p:extLst>
      <p:ext uri="{BB962C8B-B14F-4D97-AF65-F5344CB8AC3E}">
        <p14:creationId xmlns:p14="http://schemas.microsoft.com/office/powerpoint/2010/main" val="374188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5">
            <a:extLst>
              <a:ext uri="{FF2B5EF4-FFF2-40B4-BE49-F238E27FC236}">
                <a16:creationId xmlns:a16="http://schemas.microsoft.com/office/drawing/2014/main" id="{606A3901-527B-5446-E761-DDE7337DF9E9}"/>
              </a:ext>
            </a:extLst>
          </p:cNvPr>
          <p:cNvSpPr>
            <a:spLocks noGrp="1"/>
          </p:cNvSpPr>
          <p:nvPr>
            <p:ph type="title"/>
          </p:nvPr>
        </p:nvSpPr>
        <p:spPr/>
        <p:txBody>
          <a:bodyPr>
            <a:normAutofit fontScale="90000"/>
          </a:bodyPr>
          <a:lstStyle/>
          <a:p>
            <a:r>
              <a:rPr lang="en-US" b="1" i="0" dirty="0">
                <a:effectLst/>
                <a:latin typeface="Söhne"/>
              </a:rPr>
              <a:t>Setting up Google Developers Console</a:t>
            </a:r>
            <a:br>
              <a:rPr lang="en-US" b="1" i="0" dirty="0">
                <a:effectLst/>
                <a:latin typeface="Söhne"/>
              </a:rPr>
            </a:br>
            <a:endParaRPr lang="he-IL" dirty="0"/>
          </a:p>
        </p:txBody>
      </p:sp>
      <p:sp>
        <p:nvSpPr>
          <p:cNvPr id="10" name="תיבת טקסט 9">
            <a:extLst>
              <a:ext uri="{FF2B5EF4-FFF2-40B4-BE49-F238E27FC236}">
                <a16:creationId xmlns:a16="http://schemas.microsoft.com/office/drawing/2014/main" id="{23E3AF2F-A74D-3126-F10A-B1EFBF5FA027}"/>
              </a:ext>
            </a:extLst>
          </p:cNvPr>
          <p:cNvSpPr txBox="1"/>
          <p:nvPr/>
        </p:nvSpPr>
        <p:spPr>
          <a:xfrm>
            <a:off x="683568" y="1859340"/>
            <a:ext cx="6174432" cy="2585323"/>
          </a:xfrm>
          <a:prstGeom prst="rect">
            <a:avLst/>
          </a:prstGeom>
          <a:noFill/>
        </p:spPr>
        <p:txBody>
          <a:bodyPr wrap="square">
            <a:spAutoFit/>
          </a:bodyPr>
          <a:lstStyle/>
          <a:p>
            <a:r>
              <a:rPr lang="he-IL" dirty="0" err="1"/>
              <a:t>Setting</a:t>
            </a:r>
            <a:r>
              <a:rPr lang="he-IL" dirty="0"/>
              <a:t> </a:t>
            </a:r>
            <a:r>
              <a:rPr lang="he-IL" dirty="0" err="1"/>
              <a:t>up</a:t>
            </a:r>
            <a:r>
              <a:rPr lang="he-IL" dirty="0"/>
              <a:t> </a:t>
            </a:r>
            <a:r>
              <a:rPr lang="he-IL" dirty="0" err="1"/>
              <a:t>Google</a:t>
            </a:r>
            <a:r>
              <a:rPr lang="he-IL" dirty="0"/>
              <a:t> </a:t>
            </a:r>
            <a:r>
              <a:rPr lang="he-IL" dirty="0" err="1"/>
              <a:t>Developers</a:t>
            </a:r>
            <a:r>
              <a:rPr lang="he-IL" dirty="0"/>
              <a:t> </a:t>
            </a:r>
            <a:r>
              <a:rPr lang="he-IL" dirty="0" err="1"/>
              <a:t>Console</a:t>
            </a:r>
            <a:r>
              <a:rPr lang="he-IL" dirty="0"/>
              <a:t>:</a:t>
            </a:r>
          </a:p>
          <a:p>
            <a:r>
              <a:rPr lang="he-IL" dirty="0" err="1"/>
              <a:t>Go</a:t>
            </a:r>
            <a:r>
              <a:rPr lang="he-IL" dirty="0"/>
              <a:t> </a:t>
            </a:r>
            <a:r>
              <a:rPr lang="he-IL" dirty="0" err="1"/>
              <a:t>to</a:t>
            </a:r>
            <a:r>
              <a:rPr lang="he-IL" dirty="0"/>
              <a:t> </a:t>
            </a:r>
            <a:r>
              <a:rPr lang="he-IL" dirty="0" err="1"/>
              <a:t>Google</a:t>
            </a:r>
            <a:r>
              <a:rPr lang="he-IL" dirty="0"/>
              <a:t> </a:t>
            </a:r>
            <a:r>
              <a:rPr lang="he-IL" dirty="0" err="1"/>
              <a:t>Developers</a:t>
            </a:r>
            <a:r>
              <a:rPr lang="he-IL" dirty="0"/>
              <a:t> </a:t>
            </a:r>
            <a:r>
              <a:rPr lang="he-IL" dirty="0" err="1"/>
              <a:t>Console</a:t>
            </a:r>
            <a:r>
              <a:rPr lang="he-IL" dirty="0"/>
              <a:t>.</a:t>
            </a:r>
          </a:p>
          <a:p>
            <a:r>
              <a:rPr lang="he-IL" dirty="0" err="1"/>
              <a:t>Create</a:t>
            </a:r>
            <a:r>
              <a:rPr lang="he-IL" dirty="0"/>
              <a:t> a </a:t>
            </a:r>
            <a:r>
              <a:rPr lang="he-IL" dirty="0" err="1"/>
              <a:t>new</a:t>
            </a:r>
            <a:r>
              <a:rPr lang="he-IL" dirty="0"/>
              <a:t> </a:t>
            </a:r>
            <a:r>
              <a:rPr lang="he-IL" dirty="0" err="1"/>
              <a:t>project</a:t>
            </a:r>
            <a:r>
              <a:rPr lang="he-IL" dirty="0"/>
              <a:t>.</a:t>
            </a:r>
          </a:p>
          <a:p>
            <a:r>
              <a:rPr lang="he-IL" dirty="0" err="1"/>
              <a:t>Navigate</a:t>
            </a:r>
            <a:r>
              <a:rPr lang="he-IL" dirty="0"/>
              <a:t> </a:t>
            </a:r>
            <a:r>
              <a:rPr lang="he-IL" dirty="0" err="1"/>
              <a:t>to</a:t>
            </a:r>
            <a:r>
              <a:rPr lang="he-IL" dirty="0"/>
              <a:t> </a:t>
            </a:r>
            <a:r>
              <a:rPr lang="he-IL" dirty="0" err="1"/>
              <a:t>OAuth</a:t>
            </a:r>
            <a:r>
              <a:rPr lang="he-IL" dirty="0"/>
              <a:t> 2.0 </a:t>
            </a:r>
            <a:r>
              <a:rPr lang="he-IL" dirty="0" err="1"/>
              <a:t>Client</a:t>
            </a:r>
            <a:r>
              <a:rPr lang="he-IL" dirty="0"/>
              <a:t> </a:t>
            </a:r>
            <a:r>
              <a:rPr lang="he-IL" dirty="0" err="1"/>
              <a:t>IDs</a:t>
            </a:r>
            <a:r>
              <a:rPr lang="he-IL" dirty="0"/>
              <a:t> </a:t>
            </a:r>
            <a:r>
              <a:rPr lang="he-IL" dirty="0" err="1"/>
              <a:t>under</a:t>
            </a:r>
            <a:r>
              <a:rPr lang="he-IL" dirty="0"/>
              <a:t> </a:t>
            </a:r>
            <a:r>
              <a:rPr lang="he-IL" dirty="0" err="1"/>
              <a:t>Credentials</a:t>
            </a:r>
            <a:r>
              <a:rPr lang="he-IL" dirty="0"/>
              <a:t>.</a:t>
            </a:r>
          </a:p>
          <a:p>
            <a:r>
              <a:rPr lang="he-IL" dirty="0" err="1"/>
              <a:t>Create</a:t>
            </a:r>
            <a:r>
              <a:rPr lang="he-IL" dirty="0"/>
              <a:t> a </a:t>
            </a:r>
            <a:r>
              <a:rPr lang="he-IL" dirty="0" err="1"/>
              <a:t>new</a:t>
            </a:r>
            <a:r>
              <a:rPr lang="he-IL" dirty="0"/>
              <a:t> </a:t>
            </a:r>
            <a:r>
              <a:rPr lang="he-IL" dirty="0" err="1"/>
              <a:t>OAuth</a:t>
            </a:r>
            <a:r>
              <a:rPr lang="he-IL" dirty="0"/>
              <a:t> 2.0 </a:t>
            </a:r>
            <a:r>
              <a:rPr lang="he-IL" dirty="0" err="1"/>
              <a:t>Client</a:t>
            </a:r>
            <a:r>
              <a:rPr lang="he-IL" dirty="0"/>
              <a:t> ID </a:t>
            </a:r>
            <a:r>
              <a:rPr lang="he-IL" dirty="0" err="1"/>
              <a:t>of</a:t>
            </a:r>
            <a:r>
              <a:rPr lang="he-IL" dirty="0"/>
              <a:t> </a:t>
            </a:r>
            <a:r>
              <a:rPr lang="he-IL" dirty="0" err="1"/>
              <a:t>the</a:t>
            </a:r>
            <a:r>
              <a:rPr lang="he-IL" dirty="0"/>
              <a:t> </a:t>
            </a:r>
            <a:r>
              <a:rPr lang="he-IL" dirty="0" err="1"/>
              <a:t>type</a:t>
            </a:r>
            <a:r>
              <a:rPr lang="he-IL" dirty="0"/>
              <a:t> </a:t>
            </a:r>
            <a:r>
              <a:rPr lang="he-IL" dirty="0" err="1"/>
              <a:t>Web</a:t>
            </a:r>
            <a:r>
              <a:rPr lang="he-IL" dirty="0"/>
              <a:t> </a:t>
            </a:r>
            <a:r>
              <a:rPr lang="he-IL" dirty="0" err="1"/>
              <a:t>application</a:t>
            </a:r>
            <a:r>
              <a:rPr lang="he-IL" dirty="0"/>
              <a:t>.</a:t>
            </a:r>
          </a:p>
          <a:p>
            <a:r>
              <a:rPr lang="he-IL" dirty="0" err="1"/>
              <a:t>Set</a:t>
            </a:r>
            <a:r>
              <a:rPr lang="he-IL" dirty="0"/>
              <a:t> </a:t>
            </a:r>
            <a:r>
              <a:rPr lang="he-IL" dirty="0" err="1"/>
              <a:t>the</a:t>
            </a:r>
            <a:r>
              <a:rPr lang="he-IL" dirty="0"/>
              <a:t> </a:t>
            </a:r>
            <a:r>
              <a:rPr lang="he-IL" dirty="0" err="1"/>
              <a:t>authorized</a:t>
            </a:r>
            <a:r>
              <a:rPr lang="he-IL" dirty="0"/>
              <a:t> </a:t>
            </a:r>
            <a:r>
              <a:rPr lang="he-IL" dirty="0" err="1"/>
              <a:t>redirect</a:t>
            </a:r>
            <a:r>
              <a:rPr lang="he-IL" dirty="0"/>
              <a:t> </a:t>
            </a:r>
            <a:r>
              <a:rPr lang="he-IL" dirty="0" err="1"/>
              <a:t>URIs</a:t>
            </a:r>
            <a:r>
              <a:rPr lang="he-IL" dirty="0"/>
              <a:t> </a:t>
            </a:r>
            <a:r>
              <a:rPr lang="he-IL" dirty="0" err="1"/>
              <a:t>to</a:t>
            </a:r>
            <a:r>
              <a:rPr lang="he-IL" dirty="0"/>
              <a:t> http://localhost:3000/auth/google/callback (</a:t>
            </a:r>
            <a:r>
              <a:rPr lang="he-IL" dirty="0" err="1"/>
              <a:t>for</a:t>
            </a:r>
            <a:r>
              <a:rPr lang="he-IL" dirty="0"/>
              <a:t> </a:t>
            </a:r>
            <a:r>
              <a:rPr lang="he-IL" dirty="0" err="1"/>
              <a:t>local</a:t>
            </a:r>
            <a:r>
              <a:rPr lang="he-IL" dirty="0"/>
              <a:t> </a:t>
            </a:r>
            <a:r>
              <a:rPr lang="he-IL" dirty="0" err="1"/>
              <a:t>development</a:t>
            </a:r>
            <a:r>
              <a:rPr lang="he-IL" dirty="0"/>
              <a:t>).</a:t>
            </a:r>
          </a:p>
          <a:p>
            <a:r>
              <a:rPr lang="he-IL" dirty="0" err="1"/>
              <a:t>Note</a:t>
            </a:r>
            <a:r>
              <a:rPr lang="he-IL" dirty="0"/>
              <a:t> </a:t>
            </a:r>
            <a:r>
              <a:rPr lang="he-IL" dirty="0" err="1"/>
              <a:t>down</a:t>
            </a:r>
            <a:r>
              <a:rPr lang="he-IL" dirty="0"/>
              <a:t> </a:t>
            </a:r>
            <a:r>
              <a:rPr lang="he-IL" dirty="0" err="1"/>
              <a:t>the</a:t>
            </a:r>
            <a:r>
              <a:rPr lang="he-IL" dirty="0"/>
              <a:t> </a:t>
            </a:r>
            <a:r>
              <a:rPr lang="he-IL" dirty="0" err="1"/>
              <a:t>Client</a:t>
            </a:r>
            <a:r>
              <a:rPr lang="he-IL" dirty="0"/>
              <a:t> ID </a:t>
            </a:r>
            <a:r>
              <a:rPr lang="he-IL" dirty="0" err="1"/>
              <a:t>and</a:t>
            </a:r>
            <a:r>
              <a:rPr lang="he-IL" dirty="0"/>
              <a:t> </a:t>
            </a:r>
            <a:r>
              <a:rPr lang="he-IL" dirty="0" err="1"/>
              <a:t>Client</a:t>
            </a:r>
            <a:r>
              <a:rPr lang="he-IL" dirty="0"/>
              <a:t> </a:t>
            </a:r>
            <a:r>
              <a:rPr lang="he-IL" dirty="0" err="1"/>
              <a:t>Secret</a:t>
            </a:r>
            <a:r>
              <a:rPr lang="he-IL" dirty="0"/>
              <a:t>.</a:t>
            </a:r>
          </a:p>
        </p:txBody>
      </p:sp>
      <p:sp>
        <p:nvSpPr>
          <p:cNvPr id="12" name="תיבת טקסט 11">
            <a:extLst>
              <a:ext uri="{FF2B5EF4-FFF2-40B4-BE49-F238E27FC236}">
                <a16:creationId xmlns:a16="http://schemas.microsoft.com/office/drawing/2014/main" id="{0D32B999-D5FB-2662-D7AA-ED1AB4E2549C}"/>
              </a:ext>
            </a:extLst>
          </p:cNvPr>
          <p:cNvSpPr txBox="1"/>
          <p:nvPr/>
        </p:nvSpPr>
        <p:spPr>
          <a:xfrm>
            <a:off x="698934" y="5373216"/>
            <a:ext cx="4572000" cy="369332"/>
          </a:xfrm>
          <a:prstGeom prst="rect">
            <a:avLst/>
          </a:prstGeom>
          <a:noFill/>
        </p:spPr>
        <p:txBody>
          <a:bodyPr wrap="square">
            <a:spAutoFit/>
          </a:bodyPr>
          <a:lstStyle/>
          <a:p>
            <a:r>
              <a:rPr lang="he-IL" dirty="0"/>
              <a:t>http://localhost:3000/auth/google</a:t>
            </a:r>
          </a:p>
        </p:txBody>
      </p:sp>
    </p:spTree>
    <p:extLst>
      <p:ext uri="{BB962C8B-B14F-4D97-AF65-F5344CB8AC3E}">
        <p14:creationId xmlns:p14="http://schemas.microsoft.com/office/powerpoint/2010/main" val="3166592742"/>
      </p:ext>
    </p:extLst>
  </p:cSld>
  <p:clrMapOvr>
    <a:masterClrMapping/>
  </p:clrMapOvr>
</p:sld>
</file>

<file path=ppt/theme/theme1.xml><?xml version="1.0" encoding="utf-8"?>
<a:theme xmlns:a="http://schemas.openxmlformats.org/drawingml/2006/main" name="Sela_Template_Ver_0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lassroom Template V7 25.11.13 Make White to Black" id="{E062658E-901E-44D3-B422-66D76065D245}" vid="{1776DC93-6F3D-4DBD-8C85-4E226CAF9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12BCB557AA5D448C5593FF71F2A488" ma:contentTypeVersion="18" ma:contentTypeDescription="Create a new document." ma:contentTypeScope="" ma:versionID="d175e59a1bd19b1be338db9d12d18235">
  <xsd:schema xmlns:xsd="http://www.w3.org/2001/XMLSchema" xmlns:xs="http://www.w3.org/2001/XMLSchema" xmlns:p="http://schemas.microsoft.com/office/2006/metadata/properties" xmlns:ns2="49dc0417-29c6-4bb5-ae98-f937f0a30532" xmlns:ns3="d58f348b-938b-40b8-8bae-5456f1a0ae9d" targetNamespace="http://schemas.microsoft.com/office/2006/metadata/properties" ma:root="true" ma:fieldsID="291e6b7977c31ae3a105bf1f73c6d6a4" ns2:_="" ns3:_="">
    <xsd:import namespace="49dc0417-29c6-4bb5-ae98-f937f0a30532"/>
    <xsd:import namespace="d58f348b-938b-40b8-8bae-5456f1a0ae9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LengthInSecond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AAA" minOccurs="0"/>
                <xsd:element ref="ns2:lcf76f155ced4ddcb4097134ff3c332f" minOccurs="0"/>
                <xsd:element ref="ns3:TaxCatchAll" minOccurs="0"/>
                <xsd:element ref="ns2:Hyper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dc0417-29c6-4bb5-ae98-f937f0a305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Length (seconds)" ma:internalName="MediaLengthInSeconds" ma:readOnly="true">
      <xsd:simpleType>
        <xsd:restriction base="dms:Unknow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AAA" ma:index="21" nillable="true" ma:displayName="AAA" ma:format="DateOnly" ma:internalName="AAA">
      <xsd:simpleType>
        <xsd:restriction base="dms:DateTim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3256489-8307-4614-a501-374122474839" ma:termSetId="09814cd3-568e-fe90-9814-8d621ff8fb84" ma:anchorId="fba54fb3-c3e1-fe81-a776-ca4b69148c4d" ma:open="true" ma:isKeyword="false">
      <xsd:complexType>
        <xsd:sequence>
          <xsd:element ref="pc:Terms" minOccurs="0" maxOccurs="1"/>
        </xsd:sequence>
      </xsd:complexType>
    </xsd:element>
    <xsd:element name="Hyperlink" ma:index="25"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58f348b-938b-40b8-8bae-5456f1a0ae9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92e702-67e0-4df4-9ad4-8876b702b22c}" ma:internalName="TaxCatchAll" ma:showField="CatchAllData" ma:web="d58f348b-938b-40b8-8bae-5456f1a0ae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AA xmlns="49dc0417-29c6-4bb5-ae98-f937f0a30532" xsi:nil="true"/>
    <TaxCatchAll xmlns="d58f348b-938b-40b8-8bae-5456f1a0ae9d" xsi:nil="true"/>
    <lcf76f155ced4ddcb4097134ff3c332f xmlns="49dc0417-29c6-4bb5-ae98-f937f0a30532">
      <Terms xmlns="http://schemas.microsoft.com/office/infopath/2007/PartnerControls"/>
    </lcf76f155ced4ddcb4097134ff3c332f>
    <Hyperlink xmlns="49dc0417-29c6-4bb5-ae98-f937f0a30532">
      <Url xsi:nil="true"/>
      <Description xsi:nil="true"/>
    </Hyperlink>
  </documentManagement>
</p:properties>
</file>

<file path=customXml/itemProps1.xml><?xml version="1.0" encoding="utf-8"?>
<ds:datastoreItem xmlns:ds="http://schemas.openxmlformats.org/officeDocument/2006/customXml" ds:itemID="{547CB8D7-29EC-45F0-8A3F-DD6E6A89BA73}">
  <ds:schemaRefs>
    <ds:schemaRef ds:uri="http://schemas.microsoft.com/sharepoint/v3/contenttype/forms"/>
  </ds:schemaRefs>
</ds:datastoreItem>
</file>

<file path=customXml/itemProps2.xml><?xml version="1.0" encoding="utf-8"?>
<ds:datastoreItem xmlns:ds="http://schemas.openxmlformats.org/officeDocument/2006/customXml" ds:itemID="{BAE10125-3961-418A-A920-547BAE742E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dc0417-29c6-4bb5-ae98-f937f0a30532"/>
    <ds:schemaRef ds:uri="d58f348b-938b-40b8-8bae-5456f1a0ae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580D77-4905-469C-887D-2CAD738D8F3C}">
  <ds:schemaRefs>
    <ds:schemaRef ds:uri="http://schemas.microsoft.com/office/2006/metadata/properties"/>
    <ds:schemaRef ds:uri="http://schemas.microsoft.com/office/infopath/2007/PartnerControls"/>
    <ds:schemaRef ds:uri="49dc0417-29c6-4bb5-ae98-f937f0a30532"/>
    <ds:schemaRef ds:uri="d58f348b-938b-40b8-8bae-5456f1a0ae9d"/>
  </ds:schemaRefs>
</ds:datastoreItem>
</file>

<file path=docProps/app.xml><?xml version="1.0" encoding="utf-8"?>
<Properties xmlns="http://schemas.openxmlformats.org/officeDocument/2006/extended-properties" xmlns:vt="http://schemas.openxmlformats.org/officeDocument/2006/docPropsVTypes">
  <Template>Classroom Template V7 25.11.13 Make White to Black</Template>
  <TotalTime>4740</TotalTime>
  <Words>1613</Words>
  <Application>Microsoft Office PowerPoint</Application>
  <PresentationFormat>‫הצגה על המסך (4:3)</PresentationFormat>
  <Paragraphs>151</Paragraphs>
  <Slides>33</Slides>
  <Notes>2</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33</vt:i4>
      </vt:variant>
    </vt:vector>
  </HeadingPairs>
  <TitlesOfParts>
    <vt:vector size="41" baseType="lpstr">
      <vt:lpstr>Arial</vt:lpstr>
      <vt:lpstr>Calibri</vt:lpstr>
      <vt:lpstr>Consolas</vt:lpstr>
      <vt:lpstr>Segoe</vt:lpstr>
      <vt:lpstr>Segoe Light</vt:lpstr>
      <vt:lpstr>Söhne</vt:lpstr>
      <vt:lpstr>Söhne Mono</vt:lpstr>
      <vt:lpstr>Sela_Template_Ver_01</vt:lpstr>
      <vt:lpstr>מצגת של PowerPoint‏</vt:lpstr>
      <vt:lpstr>Agenda </vt:lpstr>
      <vt:lpstr>Stateful vs. Stateless Authentication </vt:lpstr>
      <vt:lpstr>Token based Authentication</vt:lpstr>
      <vt:lpstr>What is OAuth2?</vt:lpstr>
      <vt:lpstr>Roles </vt:lpstr>
      <vt:lpstr>Tokens </vt:lpstr>
      <vt:lpstr>Authorization grant types </vt:lpstr>
      <vt:lpstr>Resource Owner Password Credentials Grant</vt:lpstr>
      <vt:lpstr>Resource Owner Password Credentials Grant</vt:lpstr>
      <vt:lpstr>Passport </vt:lpstr>
      <vt:lpstr>Strategies</vt:lpstr>
      <vt:lpstr>Passport Middleware</vt:lpstr>
      <vt:lpstr>Passport Local Startegy</vt:lpstr>
      <vt:lpstr>JWT – JSON Web Tokens</vt:lpstr>
      <vt:lpstr>JSON Web Token structure</vt:lpstr>
      <vt:lpstr>JSON Web Token Decoded (https://jwt.io/)</vt:lpstr>
      <vt:lpstr>Passport and JWT</vt:lpstr>
      <vt:lpstr>LOGIN SERVER</vt:lpstr>
      <vt:lpstr>SERVER</vt:lpstr>
      <vt:lpstr>template engines</vt:lpstr>
      <vt:lpstr>template engines</vt:lpstr>
      <vt:lpstr>SERVER</vt:lpstr>
      <vt:lpstr>SERVER</vt:lpstr>
      <vt:lpstr>SERVER</vt:lpstr>
      <vt:lpstr>strategy</vt:lpstr>
      <vt:lpstr>strategy</vt:lpstr>
      <vt:lpstr>JWT TOCKEN</vt:lpstr>
      <vt:lpstr>JWT TOKEN</vt:lpstr>
      <vt:lpstr>מצגת של PowerPoint‏</vt:lpstr>
      <vt:lpstr>מצגת של PowerPoint‏</vt:lpstr>
      <vt:lpstr>OAuth2</vt:lpstr>
      <vt:lpstr>Setting up Google Developers Console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 brudno</dc:creator>
  <cp:lastModifiedBy>Gilad Dolev</cp:lastModifiedBy>
  <cp:revision>46</cp:revision>
  <cp:lastPrinted>2013-09-11T13:44:00Z</cp:lastPrinted>
  <dcterms:created xsi:type="dcterms:W3CDTF">2014-01-01T12:28:05Z</dcterms:created>
  <dcterms:modified xsi:type="dcterms:W3CDTF">2024-06-03T12:19:32Z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0x0101000612BCB557AA5D448C5593FF71F2A488</vt:lpwstr>
  </property>
</Properties>
</file>