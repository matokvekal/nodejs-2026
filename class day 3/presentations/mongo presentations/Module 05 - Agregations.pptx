
<file path=[Content_Types].xml><?xml version="1.0" encoding="utf-8"?>
<Types xmlns="http://schemas.openxmlformats.org/package/2006/content-types">
  <Default Extension="png" ContentType="image/png"/>
  <Default Extension="wmf" ContentType="image/x-wmf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8.xml" ContentType="application/vnd.openxmlformats-officedocument.presentationml.slide+xml"/>
  <Override PartName="/ppt/slides/slide4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0.xml" ContentType="application/vnd.openxmlformats-officedocument.presentationml.notesSlide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notesSlides/notesSlide11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8.xml" ContentType="application/vnd.openxmlformats-officedocument.presentationml.notesSlide+xml"/>
  <Override PartName="/ppt/slideLayouts/slideLayout15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5" r:id="rId1"/>
  </p:sldMasterIdLst>
  <p:notesMasterIdLst>
    <p:notesMasterId r:id="rId17"/>
  </p:notesMasterIdLst>
  <p:sldIdLst>
    <p:sldId id="256" r:id="rId2"/>
    <p:sldId id="286" r:id="rId3"/>
    <p:sldId id="288" r:id="rId4"/>
    <p:sldId id="299" r:id="rId5"/>
    <p:sldId id="289" r:id="rId6"/>
    <p:sldId id="291" r:id="rId7"/>
    <p:sldId id="290" r:id="rId8"/>
    <p:sldId id="292" r:id="rId9"/>
    <p:sldId id="293" r:id="rId10"/>
    <p:sldId id="294" r:id="rId11"/>
    <p:sldId id="295" r:id="rId12"/>
    <p:sldId id="296" r:id="rId13"/>
    <p:sldId id="297" r:id="rId14"/>
    <p:sldId id="298" r:id="rId15"/>
    <p:sldId id="267" r:id="rId16"/>
  </p:sldIdLst>
  <p:sldSz cx="12192000" cy="6858000"/>
  <p:notesSz cx="6858000" cy="9144000"/>
  <p:embeddedFontLst>
    <p:embeddedFont>
      <p:font typeface="Segoe UI" panose="020B0502040204020203" pitchFamily="34" charset="0"/>
      <p:regular r:id="rId18"/>
      <p:bold r:id="rId19"/>
      <p:italic r:id="rId20"/>
      <p:boldItalic r:id="rId21"/>
    </p:embeddedFont>
    <p:embeddedFont>
      <p:font typeface="Segoe Light" panose="020B0604020202020204" charset="0"/>
      <p:regular r:id="rId22"/>
      <p:italic r:id="rId23"/>
    </p:embeddedFont>
    <p:embeddedFont>
      <p:font typeface="Segoe" panose="020B0604020202020204" charset="0"/>
      <p:regular r:id="rId24"/>
      <p:bold r:id="rId25"/>
      <p:italic r:id="rId26"/>
      <p:boldItalic r:id="rId27"/>
    </p:embeddedFont>
    <p:embeddedFont>
      <p:font typeface="Quattrocento Sans" panose="020B0604020202020204" charset="0"/>
      <p:bold r:id="rId28"/>
      <p:italic r:id="rId29"/>
      <p:boldItalic r:id="rId30"/>
    </p:embeddedFont>
    <p:embeddedFont>
      <p:font typeface="Calibri" panose="020F0502020204030204" pitchFamily="34" charset="0"/>
      <p:regular r:id="rId31"/>
      <p:bold r:id="rId32"/>
      <p:italic r:id="rId33"/>
      <p:boldItalic r:id="rId34"/>
    </p:embeddedFont>
    <p:embeddedFont>
      <p:font typeface="Consolas" panose="020B0609020204030204" pitchFamily="49" charset="0"/>
      <p:regular r:id="rId35"/>
      <p:bold r:id="rId36"/>
      <p:italic r:id="rId37"/>
      <p:boldItalic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D3235AE6-15F8-46D2-A07B-7901452A5957}">
  <a:tblStyle styleId="{D3235AE6-15F8-46D2-A07B-7901452A595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a:insideV>
        </a:tcBdr>
        <a:fill>
          <a:solidFill>
            <a:srgbClr val="E8ECF4"/>
          </a:solidFill>
        </a:fill>
      </a:tcStyle>
    </a:wholeTbl>
    <a:band1H>
      <a:tcStyle>
        <a:tcBdr/>
        <a:fill>
          <a:solidFill>
            <a:srgbClr val="CFD7E7"/>
          </a:solidFill>
        </a:fill>
      </a:tcStyle>
    </a:band1H>
    <a:band1V>
      <a:tcStyle>
        <a:tcBdr/>
        <a:fill>
          <a:solidFill>
            <a:srgbClr val="CFD7E7"/>
          </a:solidFill>
        </a:fill>
      </a:tcStyle>
    </a:band1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83422" autoAdjust="0"/>
  </p:normalViewPr>
  <p:slideViewPr>
    <p:cSldViewPr snapToGrid="0">
      <p:cViewPr varScale="1">
        <p:scale>
          <a:sx n="56" d="100"/>
          <a:sy n="56" d="100"/>
        </p:scale>
        <p:origin x="1068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9" Type="http://schemas.openxmlformats.org/officeDocument/2006/relationships/presProps" Target="presProps.xml"/><Relationship Id="rId21" Type="http://schemas.openxmlformats.org/officeDocument/2006/relationships/font" Target="fonts/font4.fntdata"/><Relationship Id="rId34" Type="http://schemas.openxmlformats.org/officeDocument/2006/relationships/font" Target="fonts/font17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font" Target="fonts/font15.fntdata"/><Relationship Id="rId37" Type="http://schemas.openxmlformats.org/officeDocument/2006/relationships/font" Target="fonts/font20.fntdata"/><Relationship Id="rId40" Type="http://schemas.openxmlformats.org/officeDocument/2006/relationships/viewProps" Target="viewProps.xml"/><Relationship Id="rId45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font" Target="fonts/font19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4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font" Target="fonts/font18.fntdata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font" Target="fonts/font16.fntdata"/><Relationship Id="rId38" Type="http://schemas.openxmlformats.org/officeDocument/2006/relationships/font" Target="fonts/font21.fntdata"/><Relationship Id="rId46" Type="http://schemas.openxmlformats.org/officeDocument/2006/relationships/customXml" Target="../customXml/item3.xml"/><Relationship Id="rId20" Type="http://schemas.openxmlformats.org/officeDocument/2006/relationships/font" Target="fonts/font3.fntdata"/><Relationship Id="rId41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799" cy="45878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799" cy="45878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399" cy="30860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Char char="●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Char char="○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Char char="■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Char char="●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Char char="○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Char char="■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Char char="●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Char char="○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Char char="■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799" cy="45878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878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58510241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73" name="Shape 7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Preferred solution over MapReduce – the reason is that pipeline provides better performance and more </a:t>
            </a:r>
            <a:r>
              <a:rPr lang="en-US" sz="1200" b="0" i="0" u="none" strike="noStrike" kern="1200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coherent interface</a:t>
            </a:r>
            <a:endParaRPr lang="en-US" dirty="0"/>
          </a:p>
          <a:p>
            <a:r>
              <a:rPr lang="en-US" dirty="0"/>
              <a:t> Pay attention that the pipeline operates on the entire collection, which means </a:t>
            </a:r>
            <a:r>
              <a:rPr lang="en-US" b="1" dirty="0"/>
              <a:t>the entire collection</a:t>
            </a:r>
            <a:r>
              <a:rPr lang="en-US" dirty="0"/>
              <a:t> will pass into the aggregation pipeline, Mongo offers two common ways to handle that:</a:t>
            </a:r>
          </a:p>
          <a:p>
            <a:pPr lvl="1"/>
            <a:r>
              <a:rPr lang="en-US" dirty="0"/>
              <a:t> Pipeline stages and indexes – the </a:t>
            </a:r>
            <a:r>
              <a:rPr lang="en-US" b="1" dirty="0"/>
              <a:t>$match</a:t>
            </a:r>
            <a:r>
              <a:rPr lang="en-US" dirty="0"/>
              <a:t> and </a:t>
            </a:r>
            <a:r>
              <a:rPr lang="en-US" b="1" dirty="0"/>
              <a:t>$sort </a:t>
            </a:r>
            <a:r>
              <a:rPr lang="en-US" b="0" dirty="0"/>
              <a:t>stages can use the index when they occur at the </a:t>
            </a:r>
            <a:r>
              <a:rPr lang="en-US" b="1" dirty="0"/>
              <a:t>beginning</a:t>
            </a:r>
            <a:r>
              <a:rPr lang="en-US" b="0" dirty="0"/>
              <a:t> of the pipeline</a:t>
            </a:r>
          </a:p>
          <a:p>
            <a:pPr lvl="1"/>
            <a:r>
              <a:rPr lang="en-US" b="0" dirty="0"/>
              <a:t> Early filtering – if you need to aggregate only on subset of the data collection, use </a:t>
            </a:r>
            <a:r>
              <a:rPr lang="en-US" b="1" dirty="0"/>
              <a:t>$match</a:t>
            </a:r>
            <a:r>
              <a:rPr lang="en-US" b="0" dirty="0"/>
              <a:t>, </a:t>
            </a:r>
            <a:r>
              <a:rPr lang="en-US" b="1" dirty="0"/>
              <a:t>$skip</a:t>
            </a:r>
            <a:r>
              <a:rPr lang="en-US" b="0" dirty="0"/>
              <a:t> and </a:t>
            </a:r>
            <a:r>
              <a:rPr lang="en-US" b="1" dirty="0"/>
              <a:t>$limit </a:t>
            </a:r>
            <a:r>
              <a:rPr lang="en-US" b="0" dirty="0"/>
              <a:t>stages to filter the documents at the first stage, and eliminate the entire collection scan</a:t>
            </a:r>
            <a:endParaRPr lang="en-US" b="1" dirty="0"/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821818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Each pipeline consists of one or many </a:t>
            </a:r>
            <a:r>
              <a:rPr lang="en-US" b="1" dirty="0"/>
              <a:t>stages </a:t>
            </a:r>
            <a:r>
              <a:rPr lang="en-US" dirty="0"/>
              <a:t>and </a:t>
            </a:r>
            <a:r>
              <a:rPr lang="en-US" b="1" dirty="0"/>
              <a:t>expressions:</a:t>
            </a:r>
          </a:p>
          <a:p>
            <a:pPr lvl="1"/>
            <a:r>
              <a:rPr lang="en-US" b="1" dirty="0"/>
              <a:t> stages – </a:t>
            </a:r>
            <a:r>
              <a:rPr lang="en-US" dirty="0"/>
              <a:t>data transformations for each document in the collection as they pass the pipeline</a:t>
            </a:r>
          </a:p>
          <a:p>
            <a:pPr lvl="1" rtl="0"/>
            <a:r>
              <a:rPr lang="en-US" b="1" dirty="0"/>
              <a:t> expressions – </a:t>
            </a:r>
            <a:r>
              <a:rPr lang="en-US" b="0" dirty="0"/>
              <a:t>operands for some of the stages. They specify the transformation(in-memory) to apply to the input docs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657437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776376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●"/>
              <a:tabLst/>
              <a:defRPr/>
            </a:pPr>
            <a:r>
              <a:rPr lang="en-US" dirty="0"/>
              <a:t> Expressions are generally stateless, except the </a:t>
            </a:r>
            <a:r>
              <a:rPr lang="en-US" i="1" dirty="0"/>
              <a:t>accumulator</a:t>
            </a:r>
            <a:r>
              <a:rPr lang="en-US" dirty="0"/>
              <a:t> expressions that used in the </a:t>
            </a:r>
            <a:r>
              <a:rPr lang="en-US" b="1" dirty="0"/>
              <a:t>$group</a:t>
            </a:r>
            <a:r>
              <a:rPr lang="en-US" dirty="0"/>
              <a:t> stage, which maintain the docs state(e.g.: $max, $min, $sum etc.) as documents pass through the pipeline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253781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Pipeline explain:</a:t>
            </a:r>
          </a:p>
          <a:p>
            <a:pPr lvl="1"/>
            <a:r>
              <a:rPr lang="en-US" dirty="0"/>
              <a:t> Group docs by state(note the </a:t>
            </a:r>
            <a:r>
              <a:rPr lang="en-US" b="1" dirty="0"/>
              <a:t>$ sign</a:t>
            </a:r>
            <a:r>
              <a:rPr lang="en-US" dirty="0"/>
              <a:t> to access fields in the input docs), and for each group calculate the sum of the population</a:t>
            </a:r>
          </a:p>
          <a:p>
            <a:pPr lvl="1"/>
            <a:r>
              <a:rPr lang="en-US" dirty="0"/>
              <a:t> Filter only documents that their population are bigger or equal to 10 million</a:t>
            </a:r>
          </a:p>
          <a:p>
            <a:pPr lvl="0"/>
            <a:r>
              <a:rPr lang="en-US" dirty="0"/>
              <a:t> The </a:t>
            </a:r>
            <a:r>
              <a:rPr lang="en-US" b="1" dirty="0"/>
              <a:t>_id </a:t>
            </a:r>
            <a:r>
              <a:rPr lang="en-US" b="0" dirty="0"/>
              <a:t>field is mandatory, and contains the distinct group by key</a:t>
            </a:r>
          </a:p>
          <a:p>
            <a:pPr lvl="0"/>
            <a:r>
              <a:rPr lang="en-US" b="0" dirty="0"/>
              <a:t> One can specify an _id value of </a:t>
            </a:r>
            <a:r>
              <a:rPr lang="en-US" b="0" i="1" dirty="0"/>
              <a:t>null, </a:t>
            </a:r>
            <a:r>
              <a:rPr lang="en-US" b="0" i="0" dirty="0"/>
              <a:t>to calculate </a:t>
            </a:r>
            <a:r>
              <a:rPr lang="en-US" sz="1200" b="0" i="0" u="none" strike="noStrike" kern="1200" cap="none" dirty="0">
                <a:solidFill>
                  <a:schemeClr val="dk1"/>
                </a:solidFill>
                <a:effectLst/>
                <a:latin typeface="Calibri"/>
                <a:cs typeface="Calibri"/>
                <a:sym typeface="Calibri"/>
              </a:rPr>
              <a:t>for example, the </a:t>
            </a:r>
            <a:r>
              <a:rPr lang="en-US" sz="1200" b="1" i="0" u="none" strike="noStrike" kern="1200" cap="none" dirty="0">
                <a:solidFill>
                  <a:schemeClr val="dk1"/>
                </a:solidFill>
                <a:effectLst/>
                <a:latin typeface="Calibri"/>
                <a:cs typeface="Calibri"/>
                <a:sym typeface="Calibri"/>
              </a:rPr>
              <a:t>sum</a:t>
            </a:r>
            <a:r>
              <a:rPr lang="en-US" sz="1200" b="0" i="0" u="none" strike="noStrike" kern="1200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for all the input docs as a whole</a:t>
            </a:r>
            <a:r>
              <a:rPr lang="en-US" b="0" i="1" dirty="0"/>
              <a:t> </a:t>
            </a:r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229509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●"/>
              <a:tabLst/>
              <a:defRPr/>
            </a:pPr>
            <a:r>
              <a:rPr lang="en-US" dirty="0"/>
              <a:t> Pipeline explain:</a:t>
            </a:r>
          </a:p>
          <a:p>
            <a:pPr lvl="1"/>
            <a:r>
              <a:rPr lang="en-US" dirty="0"/>
              <a:t> Groups docs by </a:t>
            </a:r>
            <a:r>
              <a:rPr lang="en-US" b="1" dirty="0"/>
              <a:t>state and city, </a:t>
            </a:r>
            <a:r>
              <a:rPr lang="en-US" dirty="0"/>
              <a:t>and for each group calculate the sum of the population</a:t>
            </a:r>
          </a:p>
          <a:p>
            <a:pPr lvl="1"/>
            <a:r>
              <a:rPr lang="en-US" b="1" dirty="0"/>
              <a:t> </a:t>
            </a:r>
            <a:r>
              <a:rPr lang="en-US" b="0" dirty="0"/>
              <a:t>Sort the docs by the totalPopulation</a:t>
            </a:r>
          </a:p>
          <a:p>
            <a:pPr lvl="1"/>
            <a:r>
              <a:rPr lang="en-US" b="0" dirty="0"/>
              <a:t> Groups docs by the </a:t>
            </a:r>
            <a:r>
              <a:rPr lang="en-US" b="1" dirty="0"/>
              <a:t>state </a:t>
            </a:r>
            <a:r>
              <a:rPr lang="en-US" b="0" dirty="0"/>
              <a:t>and define 4 fields:</a:t>
            </a:r>
          </a:p>
          <a:p>
            <a:pPr lvl="2"/>
            <a:r>
              <a:rPr lang="en-US" b="0" dirty="0"/>
              <a:t> biggestCity – using the </a:t>
            </a:r>
            <a:r>
              <a:rPr lang="en-US" b="1" i="0" dirty="0"/>
              <a:t>$last </a:t>
            </a:r>
            <a:r>
              <a:rPr lang="en-US" b="0" i="0" dirty="0"/>
              <a:t>expression to get the id of the biggest city(ordered by the total)</a:t>
            </a:r>
          </a:p>
          <a:p>
            <a:pPr marL="91440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■"/>
              <a:tabLst/>
              <a:defRPr/>
            </a:pPr>
            <a:r>
              <a:rPr lang="en-US" b="0" dirty="0"/>
              <a:t> smallestCity – using the </a:t>
            </a:r>
            <a:r>
              <a:rPr lang="en-US" b="1" i="0" dirty="0"/>
              <a:t>$first </a:t>
            </a:r>
            <a:r>
              <a:rPr lang="en-US" b="0" i="0" dirty="0"/>
              <a:t>expression to get the id of the smallest city(ordered by the total)</a:t>
            </a:r>
          </a:p>
          <a:p>
            <a:pPr marL="91440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■"/>
              <a:tabLst/>
              <a:defRPr/>
            </a:pPr>
            <a:r>
              <a:rPr lang="en-US" b="0" dirty="0"/>
              <a:t> biggestPop – using the </a:t>
            </a:r>
            <a:r>
              <a:rPr lang="en-US" b="1" i="0" dirty="0"/>
              <a:t>$last </a:t>
            </a:r>
            <a:r>
              <a:rPr lang="en-US" b="0" i="0" dirty="0"/>
              <a:t>expression to get the biggest total population(ordered by the total)</a:t>
            </a:r>
            <a:endParaRPr lang="en-US" b="0" dirty="0"/>
          </a:p>
          <a:p>
            <a:pPr marL="91440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■"/>
              <a:tabLst/>
              <a:defRPr/>
            </a:pPr>
            <a:r>
              <a:rPr lang="en-US" b="0" dirty="0"/>
              <a:t> smallestPop – using the </a:t>
            </a:r>
            <a:r>
              <a:rPr lang="en-US" b="1" i="0" dirty="0"/>
              <a:t>$first </a:t>
            </a:r>
            <a:r>
              <a:rPr lang="en-US" b="0" i="0" dirty="0"/>
              <a:t>expression to get the smallest total population (ordered by the total)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○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 Using project, we define the output fields:</a:t>
            </a:r>
          </a:p>
          <a:p>
            <a:pPr marL="91440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○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 Emitting the _id field</a:t>
            </a:r>
          </a:p>
          <a:p>
            <a:pPr marL="91440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○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 Defines state field to hold the _id(which contains the state value)</a:t>
            </a:r>
          </a:p>
          <a:p>
            <a:pPr marL="91440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○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 Defines </a:t>
            </a:r>
            <a:r>
              <a:rPr lang="en-US" b="0" dirty="0"/>
              <a:t>biggestCity field that contains embedded document with name and total population</a:t>
            </a:r>
          </a:p>
          <a:p>
            <a:pPr marL="91440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○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 Defines </a:t>
            </a:r>
            <a:r>
              <a:rPr lang="en-US" b="0" dirty="0"/>
              <a:t>smallestCity field that contains embedded document with name and total population</a:t>
            </a:r>
            <a:endParaRPr lang="en-US" b="0" i="0" dirty="0"/>
          </a:p>
          <a:p>
            <a:pPr marL="91440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○"/>
              <a:tabLst/>
              <a:defRPr/>
            </a:pPr>
            <a:endParaRPr lang="en-US" b="0" i="0" dirty="0"/>
          </a:p>
          <a:p>
            <a:pPr marL="91440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■"/>
              <a:tabLst/>
              <a:defRPr/>
            </a:pPr>
            <a:endParaRPr lang="en-US" b="0" i="0" dirty="0"/>
          </a:p>
          <a:p>
            <a:pPr lvl="2"/>
            <a:endParaRPr lang="en-US" b="0" i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344037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mongod – the primary daemon process for MongoDB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●"/>
              <a:tabLst/>
              <a:defRPr/>
            </a:pPr>
            <a:r>
              <a:rPr lang="en-US" dirty="0"/>
              <a:t> The result of MapReduce can be a document or collection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300028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●"/>
              <a:tabLst/>
              <a:defRPr/>
            </a:pPr>
            <a:r>
              <a:rPr lang="en-US" dirty="0"/>
              <a:t> MapReduce explain: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●"/>
              <a:tabLst/>
              <a:defRPr/>
            </a:pPr>
            <a:r>
              <a:rPr lang="en-US" dirty="0"/>
              <a:t> First, we define a mapper, that iterate over the tags array, and for each tag, produce the pair (“tag_name”, 1)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●"/>
              <a:tabLst/>
              <a:defRPr/>
            </a:pPr>
            <a:r>
              <a:rPr lang="en-US" dirty="0"/>
              <a:t> Second, we define the reducer, which get a key value pairs( (“tag_name”, 1) for each tag), and sum the total values for each tag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329083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●"/>
              <a:tabLst/>
              <a:defRPr/>
            </a:pPr>
            <a:r>
              <a:rPr lang="en-US" dirty="0"/>
              <a:t> MapReduce explain:</a:t>
            </a:r>
          </a:p>
          <a:p>
            <a:pPr lvl="1"/>
            <a:r>
              <a:rPr lang="en-US" dirty="0"/>
              <a:t> In the last part, we call the map_reduce function on the animals collection, with the </a:t>
            </a:r>
            <a:r>
              <a:rPr lang="en-US" b="1" dirty="0"/>
              <a:t>mapper, reducer </a:t>
            </a:r>
            <a:r>
              <a:rPr lang="en-US" b="0" dirty="0"/>
              <a:t>and collection name as </a:t>
            </a:r>
            <a:r>
              <a:rPr lang="en-US" b="1" dirty="0"/>
              <a:t>out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707363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●"/>
              <a:tabLst/>
              <a:defRPr/>
            </a:pPr>
            <a:r>
              <a:rPr lang="en-US" b="1" dirty="0"/>
              <a:t> </a:t>
            </a:r>
            <a:r>
              <a:rPr lang="en-US" b="0" dirty="0"/>
              <a:t>Single Purpose Aggregation:</a:t>
            </a:r>
            <a:endParaRPr lang="en-US" b="1" dirty="0"/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●"/>
              <a:tabLst/>
              <a:defRPr/>
            </a:pPr>
            <a:r>
              <a:rPr lang="en-US" b="1" dirty="0"/>
              <a:t> </a:t>
            </a:r>
            <a:r>
              <a:rPr lang="en-US" b="0" dirty="0"/>
              <a:t>Provide simple access to common aggregation functions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●"/>
              <a:tabLst/>
              <a:defRPr/>
            </a:pPr>
            <a:r>
              <a:rPr lang="en-US" b="0" dirty="0"/>
              <a:t> Mongo provides two functions: </a:t>
            </a:r>
            <a:r>
              <a:rPr lang="en-US" b="1" dirty="0"/>
              <a:t>distinct and count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023975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F7266E-BBDC-4253-9A75-E276ADA8C0ED}" type="slidenum">
              <a:rPr lang="he-IL" smtClean="0"/>
              <a:t>15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846605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74049" y="1340768"/>
            <a:ext cx="9850763" cy="1085850"/>
          </a:xfrm>
        </p:spPr>
        <p:txBody>
          <a:bodyPr vert="horz" lIns="0" tIns="45720" rIns="91440" bIns="45720" rtlCol="0" anchor="t" anchorCtr="0">
            <a:normAutofit/>
          </a:bodyPr>
          <a:lstStyle>
            <a:lvl1pPr>
              <a:defRPr lang="en-US" sz="3200" dirty="0">
                <a:ln w="3175">
                  <a:noFill/>
                </a:ln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774050" y="6362070"/>
            <a:ext cx="10506527" cy="26161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algn="l"/>
            <a:r>
              <a:rPr lang="en-US" sz="11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Segoe" panose="020B0502040504020203" pitchFamily="34" charset="0"/>
                <a:ea typeface="+mn-ea"/>
                <a:cs typeface="+mn-cs"/>
              </a:rPr>
              <a:t>Copyright © SELA Software &amp; Education Labs, Ltd. | 14-18 Baruch Hirsch St., </a:t>
            </a:r>
            <a:r>
              <a:rPr lang="en-US" sz="1100" kern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Segoe" panose="020B0502040504020203" pitchFamily="34" charset="0"/>
                <a:ea typeface="+mn-ea"/>
                <a:cs typeface="+mn-cs"/>
              </a:rPr>
              <a:t>Bnei</a:t>
            </a:r>
            <a:r>
              <a:rPr lang="en-US" sz="11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Segoe" panose="020B0502040504020203" pitchFamily="34" charset="0"/>
                <a:ea typeface="+mn-ea"/>
                <a:cs typeface="+mn-cs"/>
              </a:rPr>
              <a:t> </a:t>
            </a:r>
            <a:r>
              <a:rPr lang="en-US" sz="1100" kern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Segoe" panose="020B0502040504020203" pitchFamily="34" charset="0"/>
                <a:ea typeface="+mn-ea"/>
                <a:cs typeface="+mn-cs"/>
              </a:rPr>
              <a:t>Brak</a:t>
            </a:r>
            <a:r>
              <a:rPr lang="en-US" sz="1100" kern="1200">
                <a:solidFill>
                  <a:schemeClr val="tx1">
                    <a:lumMod val="85000"/>
                    <a:lumOff val="15000"/>
                  </a:schemeClr>
                </a:solidFill>
                <a:latin typeface="Segoe" panose="020B0502040504020203" pitchFamily="34" charset="0"/>
                <a:ea typeface="+mn-ea"/>
                <a:cs typeface="+mn-cs"/>
              </a:rPr>
              <a:t> 51202, Israel | www.selagroup.com</a:t>
            </a:r>
            <a:endParaRPr lang="en-US" sz="800" dirty="0">
              <a:solidFill>
                <a:schemeClr val="tx1">
                  <a:lumMod val="85000"/>
                  <a:lumOff val="15000"/>
                </a:schemeClr>
              </a:solidFill>
              <a:latin typeface="Segoe" panose="020B0502040504020203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50" y="534798"/>
            <a:ext cx="3509932" cy="483907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774701" y="2427289"/>
            <a:ext cx="9850967" cy="1362075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E89636"/>
                </a:solidFill>
              </a:defRPr>
            </a:lvl1pPr>
            <a:lvl2pPr marL="457200" indent="0" algn="l" rtl="0">
              <a:buFontTx/>
              <a:buNone/>
              <a:defRPr/>
            </a:lvl2pPr>
            <a:lvl3pPr marL="914400" indent="0" algn="l" rtl="0">
              <a:buFontTx/>
              <a:buNone/>
              <a:defRPr/>
            </a:lvl3pPr>
            <a:lvl4pPr marL="1371600" indent="0" algn="l" rtl="0">
              <a:buFontTx/>
              <a:buNone/>
              <a:defRPr/>
            </a:lvl4pPr>
            <a:lvl5pPr marL="1828800" indent="0" algn="l" rtl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48272610"/>
      </p:ext>
    </p:extLst>
  </p:cSld>
  <p:clrMapOvr>
    <a:masterClrMapping/>
  </p:clrMapOvr>
  <p:hf sldNum="0" hdr="0" ftr="0" dt="0"/>
  <p:extLst mod="1">
    <p:ext uri="{DCECCB84-F9BA-43D5-87BE-67443E8EF086}">
      <p15:sldGuideLst xmlns:p15="http://schemas.microsoft.com/office/powerpoint/2012/main">
        <p15:guide id="1" orient="horz" pos="789">
          <p15:clr>
            <a:srgbClr val="FBAE40"/>
          </p15:clr>
        </p15:guide>
        <p15:guide id="2" pos="612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92529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pica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5413" y="548680"/>
            <a:ext cx="10657184" cy="720000"/>
          </a:xfrm>
        </p:spPr>
        <p:txBody>
          <a:bodyPr vert="horz" lIns="0" tIns="0" rIns="91440" bIns="45720" rtlCol="0" anchor="b" anchorCtr="0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5413" y="1492161"/>
            <a:ext cx="10657184" cy="4648200"/>
          </a:xfrm>
          <a:prstGeom prst="rect">
            <a:avLst/>
          </a:prstGeom>
        </p:spPr>
        <p:txBody>
          <a:bodyPr lIns="0">
            <a:normAutofit/>
          </a:bodyPr>
          <a:lstStyle>
            <a:lvl1pPr marL="342900" indent="-342900" algn="l" rtl="0">
              <a:buFontTx/>
              <a:buBlip>
                <a:blip r:embed="rId2"/>
              </a:buBlip>
              <a:defRPr>
                <a:latin typeface="Segoe" panose="020B0502040504020203" pitchFamily="34" charset="0"/>
              </a:defRPr>
            </a:lvl1pPr>
            <a:lvl2pPr marL="742950" indent="-285750" algn="l" rtl="0">
              <a:buFontTx/>
              <a:buBlip>
                <a:blip r:embed="rId2"/>
              </a:buBlip>
              <a:defRPr>
                <a:latin typeface="Segoe" panose="020B0502040504020203" pitchFamily="34" charset="0"/>
              </a:defRPr>
            </a:lvl2pPr>
            <a:lvl3pPr marL="1143000" indent="-228600" algn="l" rtl="0">
              <a:buFontTx/>
              <a:buBlip>
                <a:blip r:embed="rId2"/>
              </a:buBlip>
              <a:defRPr>
                <a:latin typeface="Segoe" panose="020B0502040504020203" pitchFamily="34" charset="0"/>
              </a:defRPr>
            </a:lvl3pPr>
            <a:lvl4pPr marL="1600200" indent="-228600" algn="l" rtl="0">
              <a:buFontTx/>
              <a:buBlip>
                <a:blip r:embed="rId2"/>
              </a:buBlip>
              <a:defRPr>
                <a:latin typeface="Segoe" panose="020B0502040504020203" pitchFamily="34" charset="0"/>
              </a:defRPr>
            </a:lvl4pPr>
            <a:lvl5pPr marL="2057400" indent="-228600" algn="l" rtl="0">
              <a:buFontTx/>
              <a:buBlip>
                <a:blip r:embed="rId2"/>
              </a:buBlip>
              <a:defRPr>
                <a:latin typeface="Segoe" panose="020B05020405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5574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815414" y="548680"/>
            <a:ext cx="10561173" cy="720000"/>
          </a:xfrm>
          <a:prstGeom prst="rect">
            <a:avLst/>
          </a:prstGeom>
        </p:spPr>
        <p:txBody>
          <a:bodyPr vert="horz" lIns="0" tIns="0" rIns="91440" bIns="45720" rtlCol="0" anchor="b" anchorCtr="0">
            <a:norm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2117" y="1124745"/>
            <a:ext cx="5510328" cy="4443617"/>
          </a:xfrm>
          <a:prstGeom prst="rect">
            <a:avLst/>
          </a:prstGeom>
          <a:effectLst>
            <a:outerShdw blurRad="50800" dist="12700" dir="2220000" sx="102000" sy="102000" algn="ctr" rotWithShape="0">
              <a:srgbClr val="000000">
                <a:alpha val="35000"/>
              </a:srgbClr>
            </a:outerShdw>
            <a:softEdge rad="0"/>
          </a:effectLst>
        </p:spPr>
      </p:pic>
      <p:sp>
        <p:nvSpPr>
          <p:cNvPr id="13" name="TextBox 12"/>
          <p:cNvSpPr txBox="1"/>
          <p:nvPr/>
        </p:nvSpPr>
        <p:spPr>
          <a:xfrm>
            <a:off x="1967541" y="2492896"/>
            <a:ext cx="3470822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Segoe Light" panose="020B0302040504020203" pitchFamily="34" charset="0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1298143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decel="42000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0" presetClass="entr" presetSubtype="0" fill="hold" grpId="0" nodeType="withEffect">
                                      <p:stCondLst>
                                        <p:cond delay="7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" dur="14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" presetID="35" presetClass="path" presetSubtype="0" fill="hold" grpId="1" nodeType="withEffect" p14:presetBounceEnd="42000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0.57482 2.59259E-6 L 4.72222E-6 2.59259E-6 " pathEditMode="relative" rAng="0" ptsTypes="AA" p14:bounceEnd="42000">
                                          <p:cBhvr>
                                            <p:cTn id="13" dur="11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8750" y="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3" grpId="0"/>
          <p:bldP spid="13" grpId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decel="42000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0" presetClass="entr" presetSubtype="0" fill="hold" grpId="0" nodeType="withEffect">
                                      <p:stCondLst>
                                        <p:cond delay="7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" dur="14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" presetID="35" presetClass="path" presetSubtype="0" fill="hold" grpId="1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0.57482 2.59259E-6 L 4.72222E-6 2.59259E-6 " pathEditMode="relative" rAng="0" ptsTypes="AA">
                                          <p:cBhvr>
                                            <p:cTn id="13" dur="11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8750" y="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3" grpId="0"/>
          <p:bldP spid="13" grpId="1"/>
        </p:bldLst>
      </p:timing>
    </mc:Fallback>
  </mc:AlternateContent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6214" y="2420889"/>
            <a:ext cx="4934263" cy="2132707"/>
          </a:xfrm>
          <a:prstGeom prst="rect">
            <a:avLst/>
          </a:prstGeom>
          <a:effectLst>
            <a:outerShdw blurRad="50800" dist="12700" dir="2220000" sx="102000" sy="102000" algn="ctr" rotWithShape="0">
              <a:srgbClr val="000000">
                <a:alpha val="35000"/>
              </a:srgbClr>
            </a:outerShdw>
            <a:softEdge rad="0"/>
          </a:effectLst>
        </p:spPr>
      </p:pic>
      <p:sp>
        <p:nvSpPr>
          <p:cNvPr id="12" name="TextBox 11"/>
          <p:cNvSpPr txBox="1"/>
          <p:nvPr/>
        </p:nvSpPr>
        <p:spPr>
          <a:xfrm>
            <a:off x="1967542" y="2492896"/>
            <a:ext cx="2125903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Segoe Light" panose="020B0302040504020203" pitchFamily="34" charset="0"/>
              </a:rPr>
              <a:t>Lab</a:t>
            </a:r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815414" y="548680"/>
            <a:ext cx="10561173" cy="720000"/>
          </a:xfrm>
          <a:prstGeom prst="rect">
            <a:avLst/>
          </a:prstGeom>
        </p:spPr>
        <p:txBody>
          <a:bodyPr vert="horz" lIns="0" tIns="0" rIns="91440" bIns="45720" rtlCol="0" anchor="b" anchorCtr="0">
            <a:norm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6511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decel="42000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0" presetClass="entr" presetSubtype="0" fill="hold" grpId="0" nodeType="withEffect">
                                      <p:stCondLst>
                                        <p:cond delay="7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" dur="14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" presetID="35" presetClass="path" presetSubtype="0" fill="hold" grpId="1" nodeType="withEffect" p14:presetBounceEnd="42000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0.45399 2.59259E-6 L 2.77778E-7 2.59259E-6 " pathEditMode="relative" rAng="0" ptsTypes="AA" p14:bounceEnd="42000">
                                          <p:cBhvr>
                                            <p:cTn id="13" dur="11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2708" y="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2" grpId="0"/>
          <p:bldP spid="12" grpId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decel="42000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0" presetClass="entr" presetSubtype="0" fill="hold" grpId="0" nodeType="withEffect">
                                      <p:stCondLst>
                                        <p:cond delay="7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" dur="14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" presetID="35" presetClass="path" presetSubtype="0" fill="hold" grpId="1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0.45399 2.59259E-6 L 2.77778E-7 2.59259E-6 " pathEditMode="relative" rAng="0" ptsTypes="AA">
                                          <p:cBhvr>
                                            <p:cTn id="13" dur="11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2708" y="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2" grpId="0"/>
          <p:bldP spid="12" grpId="1"/>
        </p:bldLst>
      </p:timing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La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6214" y="2420889"/>
            <a:ext cx="4934263" cy="2132707"/>
          </a:xfrm>
          <a:prstGeom prst="rect">
            <a:avLst/>
          </a:prstGeom>
          <a:effectLst>
            <a:outerShdw blurRad="50800" dist="12700" dir="2220000" sx="102000" sy="102000" algn="ctr" rotWithShape="0">
              <a:srgbClr val="000000">
                <a:alpha val="35000"/>
              </a:srgbClr>
            </a:outerShdw>
            <a:softEdge rad="0"/>
          </a:effectLst>
        </p:spPr>
      </p:pic>
      <p:sp>
        <p:nvSpPr>
          <p:cNvPr id="11" name="TextBox 10"/>
          <p:cNvSpPr txBox="1"/>
          <p:nvPr/>
        </p:nvSpPr>
        <p:spPr>
          <a:xfrm>
            <a:off x="2063552" y="2492896"/>
            <a:ext cx="3934090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Segoe Light" panose="020B0302040504020203" pitchFamily="34" charset="0"/>
              </a:rPr>
              <a:t>Conclusion </a:t>
            </a:r>
          </a:p>
          <a:p>
            <a:r>
              <a:rPr lang="en-US" sz="6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Segoe Light" panose="020B0302040504020203" pitchFamily="34" charset="0"/>
              </a:rPr>
              <a:t>Lab</a:t>
            </a:r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815414" y="548680"/>
            <a:ext cx="10561173" cy="720000"/>
          </a:xfrm>
          <a:prstGeom prst="rect">
            <a:avLst/>
          </a:prstGeom>
        </p:spPr>
        <p:txBody>
          <a:bodyPr vert="horz" lIns="0" tIns="0" rIns="91440" bIns="45720" rtlCol="0" anchor="b" anchorCtr="0">
            <a:norm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8755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decel="42000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0" presetClass="entr" presetSubtype="0" fill="hold" grpId="0" nodeType="withEffect">
                                      <p:stCondLst>
                                        <p:cond delay="7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" dur="14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" presetID="35" presetClass="path" presetSubtype="0" fill="hold" grpId="1" nodeType="withEffect" p14:presetBounceEnd="42000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0.48837 -1.11111E-6 L -4.44444E-6 -1.11111E-6 " pathEditMode="relative" rAng="0" ptsTypes="AA" p14:bounceEnd="42000">
                                          <p:cBhvr>
                                            <p:cTn id="13" dur="11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4427" y="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1" grpId="0"/>
          <p:bldP spid="11" grpId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decel="42000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0" presetClass="entr" presetSubtype="0" fill="hold" grpId="0" nodeType="withEffect">
                                      <p:stCondLst>
                                        <p:cond delay="7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" dur="14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" presetID="35" presetClass="path" presetSubtype="0" fill="hold" grpId="1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0.48837 -1.11111E-6 L -4.44444E-6 -1.11111E-6 " pathEditMode="relative" rAng="0" ptsTypes="AA">
                                          <p:cBhvr>
                                            <p:cTn id="13" dur="11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4427" y="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1" grpId="0"/>
          <p:bldP spid="11" grpId="1"/>
        </p:bldLst>
      </p:timing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nclusionLa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1103446" y="2492896"/>
            <a:ext cx="4923143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Segoe Light" panose="020B0302040504020203" pitchFamily="34" charset="0"/>
              </a:rPr>
              <a:t>Final</a:t>
            </a:r>
            <a:r>
              <a:rPr lang="en-US" sz="10000" b="1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Segoe Light" panose="020B0302040504020203" pitchFamily="34" charset="0"/>
              </a:rPr>
              <a:t> </a:t>
            </a:r>
            <a:r>
              <a:rPr lang="en-US" sz="10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Segoe Light" panose="020B0302040504020203" pitchFamily="34" charset="0"/>
              </a:rPr>
              <a:t>Lab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6214" y="2420889"/>
            <a:ext cx="4934263" cy="2132707"/>
          </a:xfrm>
          <a:prstGeom prst="rect">
            <a:avLst/>
          </a:prstGeom>
          <a:effectLst>
            <a:outerShdw blurRad="50800" dist="12700" dir="2220000" sx="102000" sy="102000" algn="ctr" rotWithShape="0">
              <a:srgbClr val="000000">
                <a:alpha val="35000"/>
              </a:srgbClr>
            </a:outerShdw>
            <a:softEdge rad="0"/>
          </a:effectLst>
        </p:spPr>
      </p:pic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815414" y="548680"/>
            <a:ext cx="10561173" cy="720000"/>
          </a:xfrm>
          <a:prstGeom prst="rect">
            <a:avLst/>
          </a:prstGeom>
        </p:spPr>
        <p:txBody>
          <a:bodyPr vert="horz" lIns="0" tIns="0" rIns="91440" bIns="45720" rtlCol="0" anchor="b" anchorCtr="0">
            <a:norm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5271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decel="42000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0" presetClass="entr" presetSubtype="0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" dur="14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" presetID="35" presetClass="path" presetSubtype="0" fill="hold" grpId="1" nodeType="withEffect" p14:presetBounceEnd="42000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0.48837 2.59259E-6 L -3.33333E-6 2.59259E-6 " pathEditMode="relative" rAng="0" ptsTypes="AA" p14:bounceEnd="42000">
                                          <p:cBhvr>
                                            <p:cTn id="13" dur="11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4427" y="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3" grpId="0"/>
          <p:bldP spid="13" grpId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decel="42000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0" presetClass="entr" presetSubtype="0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" dur="14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" presetID="35" presetClass="path" presetSubtype="0" fill="hold" grpId="1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0.48837 2.59259E-6 L -3.33333E-6 2.59259E-6 " pathEditMode="relative" rAng="0" ptsTypes="AA">
                                          <p:cBhvr>
                                            <p:cTn id="13" dur="11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4427" y="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3" grpId="0"/>
          <p:bldP spid="13" grpId="1"/>
        </p:bldLst>
      </p:timing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k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4"/>
          <p:cNvSpPr>
            <a:spLocks noGrp="1"/>
          </p:cNvSpPr>
          <p:nvPr>
            <p:ph type="body" sz="quarter" idx="16"/>
          </p:nvPr>
        </p:nvSpPr>
        <p:spPr bwMode="blackWhite">
          <a:xfrm>
            <a:off x="803574" y="1492161"/>
            <a:ext cx="10668420" cy="4659258"/>
          </a:xfrm>
          <a:prstGeom prst="rect">
            <a:avLst/>
          </a:prstGeom>
          <a:solidFill>
            <a:srgbClr val="4B84C9">
              <a:alpha val="50000"/>
            </a:srgbClr>
          </a:solidFill>
        </p:spPr>
        <p:txBody>
          <a:bodyPr tIns="90000">
            <a:normAutofit/>
          </a:bodyPr>
          <a:lstStyle>
            <a:lvl1pPr algn="l" rtl="0">
              <a:buFont typeface="Arial" pitchFamily="34" charset="0"/>
              <a:buNone/>
              <a:defRPr lang="en-US" sz="18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1pPr>
            <a:lvl2pPr>
              <a:buFont typeface="Arial" pitchFamily="34" charset="0"/>
              <a:buChar char="•"/>
              <a:defRPr lang="en-US" sz="16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2pPr>
            <a:lvl3pPr>
              <a:buFont typeface="Arial" pitchFamily="34" charset="0"/>
              <a:buChar char="•"/>
              <a:defRPr lang="en-US" sz="16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3pPr>
            <a:lvl4pPr>
              <a:buFont typeface="Arial" pitchFamily="34" charset="0"/>
              <a:buChar char="•"/>
              <a:defRPr lang="en-US" sz="16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4pPr>
            <a:lvl5pPr>
              <a:buFont typeface="Arial" pitchFamily="34" charset="0"/>
              <a:buChar char="•"/>
              <a:defRPr lang="en-US" sz="1600" b="0" kern="1200" dirty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itle Placeholder 1"/>
          <p:cNvSpPr>
            <a:spLocks noGrp="1"/>
          </p:cNvSpPr>
          <p:nvPr>
            <p:ph type="title"/>
          </p:nvPr>
        </p:nvSpPr>
        <p:spPr>
          <a:xfrm>
            <a:off x="815414" y="548680"/>
            <a:ext cx="10561173" cy="720000"/>
          </a:xfrm>
          <a:prstGeom prst="rect">
            <a:avLst/>
          </a:prstGeom>
        </p:spPr>
        <p:txBody>
          <a:bodyPr vert="horz" lIns="0" tIns="0" rIns="91440" bIns="45720" rtlCol="0" anchor="b" anchorCtr="0">
            <a:normAutofit/>
          </a:bodyPr>
          <a:lstStyle>
            <a:lvl1pPr>
              <a:defRPr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991513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Snipp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/>
          <p:cNvSpPr>
            <a:spLocks noGrp="1"/>
          </p:cNvSpPr>
          <p:nvPr>
            <p:ph type="body" sz="quarter" idx="15"/>
          </p:nvPr>
        </p:nvSpPr>
        <p:spPr>
          <a:xfrm>
            <a:off x="815413" y="1494000"/>
            <a:ext cx="10656920" cy="2286000"/>
          </a:xfrm>
          <a:prstGeom prst="rect">
            <a:avLst/>
          </a:prstGeom>
          <a:solidFill>
            <a:schemeClr val="bg1">
              <a:alpha val="69000"/>
            </a:schemeClr>
          </a:solidFill>
        </p:spPr>
        <p:txBody>
          <a:bodyPr tIns="90000">
            <a:normAutofit/>
          </a:bodyPr>
          <a:lstStyle>
            <a:lvl1pPr marL="342900" indent="-342900" algn="l" rtl="0">
              <a:buFontTx/>
              <a:buBlip>
                <a:blip r:embed="rId2"/>
              </a:buBlip>
              <a:defRPr baseline="0">
                <a:latin typeface="Segoe" panose="020B0502040504020203" pitchFamily="34" charset="0"/>
              </a:defRPr>
            </a:lvl1pPr>
            <a:lvl2pPr marL="742950" indent="-285750" algn="l" rtl="0">
              <a:buFontTx/>
              <a:buBlip>
                <a:blip r:embed="rId2"/>
              </a:buBlip>
              <a:defRPr>
                <a:latin typeface="Segoe" panose="020B0502040504020203" pitchFamily="34" charset="0"/>
              </a:defRPr>
            </a:lvl2pPr>
            <a:lvl3pPr marL="1143000" indent="-228600" algn="l" rtl="0">
              <a:buFontTx/>
              <a:buBlip>
                <a:blip r:embed="rId2"/>
              </a:buBlip>
              <a:defRPr>
                <a:latin typeface="Segoe" panose="020B0502040504020203" pitchFamily="34" charset="0"/>
              </a:defRPr>
            </a:lvl3pPr>
            <a:lvl4pPr marL="1600200" indent="-228600" algn="l" rtl="0">
              <a:buFontTx/>
              <a:buBlip>
                <a:blip r:embed="rId2"/>
              </a:buBlip>
              <a:defRPr>
                <a:latin typeface="Segoe" panose="020B0502040504020203" pitchFamily="34" charset="0"/>
              </a:defRPr>
            </a:lvl4pPr>
            <a:lvl5pPr marL="2057400" indent="-228600" algn="l" rtl="0">
              <a:buFontTx/>
              <a:buBlip>
                <a:blip r:embed="rId2"/>
              </a:buBlip>
              <a:defRPr>
                <a:latin typeface="Segoe" panose="020B05020405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6"/>
          </p:nvPr>
        </p:nvSpPr>
        <p:spPr bwMode="blackWhite">
          <a:xfrm>
            <a:off x="803574" y="3873732"/>
            <a:ext cx="10668420" cy="2277687"/>
          </a:xfrm>
          <a:prstGeom prst="rect">
            <a:avLst/>
          </a:prstGeom>
          <a:solidFill>
            <a:srgbClr val="4B84C9">
              <a:alpha val="50000"/>
            </a:srgbClr>
          </a:solidFill>
        </p:spPr>
        <p:txBody>
          <a:bodyPr tIns="90000">
            <a:normAutofit/>
          </a:bodyPr>
          <a:lstStyle>
            <a:lvl1pPr algn="l" rtl="0">
              <a:buFont typeface="Arial" pitchFamily="34" charset="0"/>
              <a:buNone/>
              <a:defRPr lang="en-US" sz="18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1pPr>
            <a:lvl2pPr>
              <a:buFont typeface="Arial" pitchFamily="34" charset="0"/>
              <a:buChar char="•"/>
              <a:defRPr lang="en-US" sz="16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2pPr>
            <a:lvl3pPr>
              <a:buFont typeface="Arial" pitchFamily="34" charset="0"/>
              <a:buChar char="•"/>
              <a:defRPr lang="en-US" sz="16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3pPr>
            <a:lvl4pPr>
              <a:buFont typeface="Arial" pitchFamily="34" charset="0"/>
              <a:buChar char="•"/>
              <a:defRPr lang="en-US" sz="16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4pPr>
            <a:lvl5pPr>
              <a:buFont typeface="Arial" pitchFamily="34" charset="0"/>
              <a:buChar char="•"/>
              <a:defRPr lang="en-US" sz="1600" b="0" kern="1200" dirty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815414" y="548680"/>
            <a:ext cx="10561173" cy="720000"/>
          </a:xfrm>
          <a:prstGeom prst="rect">
            <a:avLst/>
          </a:prstGeom>
        </p:spPr>
        <p:txBody>
          <a:bodyPr vert="horz" lIns="0" tIns="0" rIns="91440" bIns="45720" rtlCol="0" anchor="b" anchorCtr="0">
            <a:normAutofit/>
          </a:bodyPr>
          <a:lstStyle>
            <a:lvl1pPr>
              <a:defRPr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279579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rgeCodeSnipp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2"/>
          <p:cNvSpPr>
            <a:spLocks noGrp="1"/>
          </p:cNvSpPr>
          <p:nvPr>
            <p:ph type="body" sz="quarter" idx="15"/>
          </p:nvPr>
        </p:nvSpPr>
        <p:spPr>
          <a:xfrm>
            <a:off x="815413" y="1494000"/>
            <a:ext cx="10656920" cy="1502952"/>
          </a:xfrm>
          <a:prstGeom prst="rect">
            <a:avLst/>
          </a:prstGeom>
          <a:solidFill>
            <a:schemeClr val="bg1">
              <a:alpha val="69000"/>
            </a:schemeClr>
          </a:solidFill>
        </p:spPr>
        <p:txBody>
          <a:bodyPr tIns="90000">
            <a:normAutofit/>
          </a:bodyPr>
          <a:lstStyle>
            <a:lvl1pPr marL="342900" indent="-342900" algn="l" rtl="0">
              <a:buFontTx/>
              <a:buBlip>
                <a:blip r:embed="rId2"/>
              </a:buBlip>
              <a:defRPr>
                <a:latin typeface="Segoe" panose="020B0502040504020203" pitchFamily="34" charset="0"/>
              </a:defRPr>
            </a:lvl1pPr>
            <a:lvl2pPr marL="742950" indent="-285750" algn="l" rtl="0">
              <a:buFontTx/>
              <a:buBlip>
                <a:blip r:embed="rId2"/>
              </a:buBlip>
              <a:defRPr>
                <a:latin typeface="Segoe" panose="020B0502040504020203" pitchFamily="34" charset="0"/>
              </a:defRPr>
            </a:lvl2pPr>
            <a:lvl3pPr marL="1143000" indent="-228600" algn="l" rtl="0">
              <a:buFontTx/>
              <a:buBlip>
                <a:blip r:embed="rId2"/>
              </a:buBlip>
              <a:defRPr>
                <a:latin typeface="Segoe" panose="020B0502040504020203" pitchFamily="34" charset="0"/>
              </a:defRPr>
            </a:lvl3pPr>
            <a:lvl4pPr algn="l" rtl="0">
              <a:buFontTx/>
              <a:buBlip>
                <a:blip r:embed="rId3"/>
              </a:buBlip>
              <a:defRPr>
                <a:latin typeface="Segoe" panose="020B0502040504020203" pitchFamily="34" charset="0"/>
              </a:defRPr>
            </a:lvl4pPr>
            <a:lvl5pPr algn="l" rtl="0">
              <a:buFontTx/>
              <a:buBlip>
                <a:blip r:embed="rId3"/>
              </a:buBlip>
              <a:defRPr>
                <a:latin typeface="Segoe" panose="020B05020405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1" name="Text Placeholder 14"/>
          <p:cNvSpPr>
            <a:spLocks noGrp="1"/>
          </p:cNvSpPr>
          <p:nvPr>
            <p:ph type="body" sz="quarter" idx="16"/>
          </p:nvPr>
        </p:nvSpPr>
        <p:spPr bwMode="blackWhite">
          <a:xfrm>
            <a:off x="803574" y="3140969"/>
            <a:ext cx="10668420" cy="3010450"/>
          </a:xfrm>
          <a:prstGeom prst="rect">
            <a:avLst/>
          </a:prstGeom>
          <a:solidFill>
            <a:srgbClr val="4B84C9">
              <a:alpha val="50000"/>
            </a:srgbClr>
          </a:solidFill>
        </p:spPr>
        <p:txBody>
          <a:bodyPr tIns="90000">
            <a:normAutofit/>
          </a:bodyPr>
          <a:lstStyle>
            <a:lvl1pPr algn="l" rtl="0">
              <a:buFont typeface="Arial" pitchFamily="34" charset="0"/>
              <a:buNone/>
              <a:defRPr lang="en-US" sz="18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1pPr>
            <a:lvl2pPr>
              <a:buFont typeface="Arial" pitchFamily="34" charset="0"/>
              <a:buChar char="•"/>
              <a:defRPr lang="en-US" sz="16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2pPr>
            <a:lvl3pPr>
              <a:buFont typeface="Arial" pitchFamily="34" charset="0"/>
              <a:buChar char="•"/>
              <a:defRPr lang="en-US" sz="16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3pPr>
            <a:lvl4pPr>
              <a:buFont typeface="Arial" pitchFamily="34" charset="0"/>
              <a:buChar char="•"/>
              <a:defRPr lang="en-US" sz="16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4pPr>
            <a:lvl5pPr>
              <a:buFont typeface="Arial" pitchFamily="34" charset="0"/>
              <a:buChar char="•"/>
              <a:defRPr lang="en-US" sz="1600" b="0" kern="1200" dirty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815414" y="548680"/>
            <a:ext cx="10561173" cy="720000"/>
          </a:xfrm>
          <a:prstGeom prst="rect">
            <a:avLst/>
          </a:prstGeom>
        </p:spPr>
        <p:txBody>
          <a:bodyPr vert="horz" lIns="0" tIns="0" rIns="91440" bIns="45720" rtlCol="0" anchor="b" anchorCtr="0">
            <a:normAutofit/>
          </a:bodyPr>
          <a:lstStyle>
            <a:lvl1pPr>
              <a:defRPr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330671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CodeSnipp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12"/>
          <p:cNvSpPr>
            <a:spLocks noGrp="1"/>
          </p:cNvSpPr>
          <p:nvPr>
            <p:ph type="body" sz="quarter" idx="15"/>
          </p:nvPr>
        </p:nvSpPr>
        <p:spPr>
          <a:xfrm>
            <a:off x="815413" y="1494177"/>
            <a:ext cx="10673019" cy="1070904"/>
          </a:xfrm>
          <a:prstGeom prst="rect">
            <a:avLst/>
          </a:prstGeom>
          <a:solidFill>
            <a:schemeClr val="bg1">
              <a:alpha val="69000"/>
            </a:schemeClr>
          </a:solidFill>
        </p:spPr>
        <p:txBody>
          <a:bodyPr tIns="90000">
            <a:normAutofit/>
          </a:bodyPr>
          <a:lstStyle>
            <a:lvl1pPr marL="342900" indent="-342900" algn="l" rtl="0">
              <a:buFontTx/>
              <a:buBlip>
                <a:blip r:embed="rId2"/>
              </a:buBlip>
              <a:defRPr baseline="0">
                <a:latin typeface="Segoe" panose="020B0502040504020203" pitchFamily="34" charset="0"/>
              </a:defRPr>
            </a:lvl1pPr>
            <a:lvl2pPr marL="742950" indent="-285750" algn="l" rtl="0">
              <a:buFontTx/>
              <a:buBlip>
                <a:blip r:embed="rId2"/>
              </a:buBlip>
              <a:defRPr>
                <a:latin typeface="Segoe" panose="020B0502040504020203" pitchFamily="34" charset="0"/>
              </a:defRPr>
            </a:lvl2pPr>
            <a:lvl3pPr algn="l" rtl="0">
              <a:buFontTx/>
              <a:buBlip>
                <a:blip r:embed="rId3"/>
              </a:buBlip>
              <a:defRPr>
                <a:latin typeface="Segoe" panose="020B0502040504020203" pitchFamily="34" charset="0"/>
              </a:defRPr>
            </a:lvl3pPr>
            <a:lvl4pPr algn="l" rtl="0">
              <a:buFontTx/>
              <a:buBlip>
                <a:blip r:embed="rId3"/>
              </a:buBlip>
              <a:defRPr>
                <a:latin typeface="Segoe" panose="020B0502040504020203" pitchFamily="34" charset="0"/>
              </a:defRPr>
            </a:lvl4pPr>
            <a:lvl5pPr algn="l" rtl="0">
              <a:buFontTx/>
              <a:buBlip>
                <a:blip r:embed="rId3"/>
              </a:buBlip>
              <a:defRPr>
                <a:latin typeface="Segoe" panose="020B05020405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Text Placeholder 14"/>
          <p:cNvSpPr>
            <a:spLocks noGrp="1"/>
          </p:cNvSpPr>
          <p:nvPr>
            <p:ph type="body" sz="quarter" idx="16"/>
          </p:nvPr>
        </p:nvSpPr>
        <p:spPr bwMode="blackWhite">
          <a:xfrm>
            <a:off x="815413" y="2630517"/>
            <a:ext cx="10684536" cy="1139423"/>
          </a:xfrm>
          <a:prstGeom prst="rect">
            <a:avLst/>
          </a:prstGeom>
          <a:solidFill>
            <a:srgbClr val="4B84C9">
              <a:alpha val="50000"/>
            </a:srgbClr>
          </a:solidFill>
        </p:spPr>
        <p:txBody>
          <a:bodyPr tIns="90000">
            <a:normAutofit/>
          </a:bodyPr>
          <a:lstStyle>
            <a:lvl1pPr algn="l" rtl="0">
              <a:buFont typeface="Arial" pitchFamily="34" charset="0"/>
              <a:buNone/>
              <a:defRPr lang="en-US" sz="18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1pPr>
            <a:lvl2pPr>
              <a:buFont typeface="Arial" pitchFamily="34" charset="0"/>
              <a:buChar char="•"/>
              <a:defRPr lang="en-US" sz="16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2pPr>
            <a:lvl3pPr>
              <a:buFont typeface="Arial" pitchFamily="34" charset="0"/>
              <a:buChar char="•"/>
              <a:defRPr lang="en-US" sz="16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3pPr>
            <a:lvl4pPr>
              <a:buFont typeface="Arial" pitchFamily="34" charset="0"/>
              <a:buChar char="•"/>
              <a:defRPr lang="en-US" sz="16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4pPr>
            <a:lvl5pPr>
              <a:buFont typeface="Arial" pitchFamily="34" charset="0"/>
              <a:buChar char="•"/>
              <a:defRPr lang="en-US" sz="1600" b="0" kern="1200" dirty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815414" y="548680"/>
            <a:ext cx="10561173" cy="720000"/>
          </a:xfrm>
          <a:prstGeom prst="rect">
            <a:avLst/>
          </a:prstGeom>
        </p:spPr>
        <p:txBody>
          <a:bodyPr vert="horz" lIns="0" tIns="0" rIns="91440" bIns="45720" rtlCol="0" anchor="b" anchorCtr="0">
            <a:normAutofit/>
          </a:bodyPr>
          <a:lstStyle>
            <a:lvl1pPr>
              <a:defRPr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7"/>
          </p:nvPr>
        </p:nvSpPr>
        <p:spPr>
          <a:xfrm>
            <a:off x="815016" y="3835374"/>
            <a:ext cx="10684933" cy="10731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2800" kern="1200" baseline="0" dirty="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1pPr>
            <a:lvl2pPr marL="342900" indent="-342900">
              <a:defRPr/>
            </a:lvl2pPr>
            <a:lvl3pPr marL="342900" indent="-342900">
              <a:defRPr/>
            </a:lvl3pPr>
            <a:lvl4pPr marL="342900" indent="-342900">
              <a:defRPr/>
            </a:lvl4pPr>
            <a:lvl5pPr marL="342900" indent="-342900">
              <a:defRPr/>
            </a:lvl5pPr>
          </a:lstStyle>
          <a:p>
            <a:pPr marL="342900" lvl="0" indent="-342900" algn="l" defTabSz="914400" rtl="0" eaLnBrk="1" latinLnBrk="0" hangingPunct="1">
              <a:spcBef>
                <a:spcPct val="20000"/>
              </a:spcBef>
              <a:buFontTx/>
              <a:buBlip>
                <a:blip r:embed="rId2"/>
              </a:buBlip>
            </a:pPr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8"/>
          </p:nvPr>
        </p:nvSpPr>
        <p:spPr>
          <a:xfrm>
            <a:off x="815016" y="4973960"/>
            <a:ext cx="10684933" cy="1119187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txBody>
          <a:bodyPr/>
          <a:lstStyle>
            <a:lvl1pPr marL="0" indent="0">
              <a:defRPr lang="en-US" sz="18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1pPr>
            <a:lvl2pPr marL="0" indent="0">
              <a:defRPr/>
            </a:lvl2pPr>
            <a:lvl3pPr marL="0" indent="0">
              <a:defRPr/>
            </a:lvl3pPr>
            <a:lvl4pPr marL="0" indent="0">
              <a:defRPr/>
            </a:lvl4pPr>
            <a:lvl5pPr marL="0" indent="0">
              <a:defRPr/>
            </a:lvl5pPr>
          </a:lstStyle>
          <a:p>
            <a:pPr marL="342900" lvl="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</a:pPr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0281623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871531" y="2492896"/>
            <a:ext cx="5545108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Segoe Light" panose="020B0302040504020203" pitchFamily="34" charset="0"/>
              </a:rPr>
              <a:t>Questions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8947" y="1988841"/>
            <a:ext cx="2043387" cy="2844235"/>
          </a:xfrm>
          <a:prstGeom prst="rect">
            <a:avLst/>
          </a:prstGeom>
          <a:effectLst>
            <a:outerShdw blurRad="50800" dist="12700" dir="2220000" sx="102000" sy="102000" algn="ctr" rotWithShape="0">
              <a:srgbClr val="000000">
                <a:alpha val="35000"/>
              </a:srgbClr>
            </a:outerShdw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731049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decel="42000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0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" dur="11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" presetID="35" presetClass="path" presetSubtype="0" fill="hold" grpId="1" nodeType="withEffect" p14:presetBounceEnd="42000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0.48837 2.59259E-6 L -4.16667E-6 2.59259E-6 " pathEditMode="relative" rAng="0" ptsTypes="AA" p14:bounceEnd="42000">
                                          <p:cBhvr>
                                            <p:cTn id="13" dur="11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4427" y="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7" grpId="0"/>
          <p:bldP spid="7" grpId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decel="42000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0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" dur="11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" presetID="35" presetClass="path" presetSubtype="0" fill="hold" grpId="1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0.48837 2.59259E-6 L -4.16667E-6 2.59259E-6 " pathEditMode="relative" rAng="0" ptsTypes="AA">
                                          <p:cBhvr>
                                            <p:cTn id="13" dur="11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4427" y="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7" grpId="0"/>
          <p:bldP spid="7" grpId="1"/>
        </p:bldLst>
      </p:timing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815413" y="1492162"/>
            <a:ext cx="10656920" cy="4673143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342900" indent="-342900" algn="l" rtl="0">
              <a:buSzPct val="75000"/>
              <a:buFontTx/>
              <a:buBlip>
                <a:blip r:embed="rId2"/>
              </a:buBlip>
              <a:defRPr sz="2800" b="0">
                <a:latin typeface="Segoe" panose="020B0502040504020203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815414" y="548680"/>
            <a:ext cx="10561173" cy="720000"/>
          </a:xfrm>
          <a:prstGeom prst="rect">
            <a:avLst/>
          </a:prstGeom>
        </p:spPr>
        <p:txBody>
          <a:bodyPr vert="horz" lIns="0" tIns="0" rIns="91440" bIns="45720" rtlCol="0" anchor="b" anchorCtr="0">
            <a:normAutofit/>
          </a:bodyPr>
          <a:lstStyle>
            <a:lvl1pPr>
              <a:defRPr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5821960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odule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815413" y="1492162"/>
            <a:ext cx="10656920" cy="4673143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342900" indent="-342900" algn="l" rtl="0">
              <a:buSzPct val="75000"/>
              <a:buFontTx/>
              <a:buBlip>
                <a:blip r:embed="rId2"/>
              </a:buBlip>
              <a:defRPr sz="2800" b="0">
                <a:latin typeface="Segoe" panose="020B0502040504020203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itle Placeholder 1"/>
          <p:cNvSpPr>
            <a:spLocks noGrp="1"/>
          </p:cNvSpPr>
          <p:nvPr>
            <p:ph type="title"/>
          </p:nvPr>
        </p:nvSpPr>
        <p:spPr>
          <a:xfrm>
            <a:off x="815414" y="548680"/>
            <a:ext cx="10561173" cy="720000"/>
          </a:xfrm>
          <a:prstGeom prst="rect">
            <a:avLst/>
          </a:prstGeom>
        </p:spPr>
        <p:txBody>
          <a:bodyPr vert="horz" lIns="0" tIns="0" rIns="91440" bIns="45720" rtlCol="0" anchor="b" anchorCtr="0">
            <a:normAutofit/>
          </a:bodyPr>
          <a:lstStyle>
            <a:lvl1pPr>
              <a:defRPr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616903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9840416" y="2348344"/>
            <a:ext cx="2207355" cy="3900056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115888" indent="-115888" algn="l" rtl="0">
              <a:buFont typeface="Arial" pitchFamily="34" charset="0"/>
              <a:buChar char="•"/>
              <a:defRPr sz="140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6"/>
          </p:nvPr>
        </p:nvSpPr>
        <p:spPr>
          <a:xfrm>
            <a:off x="815413" y="1524000"/>
            <a:ext cx="8737600" cy="47244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rtl="0">
              <a:buFontTx/>
              <a:buBlip>
                <a:blip r:embed="rId2"/>
              </a:buBlip>
              <a:defRPr/>
            </a:lvl1pPr>
            <a:lvl2pPr marL="742950" indent="-285750" algn="l" rtl="0">
              <a:buFontTx/>
              <a:buBlip>
                <a:blip r:embed="rId2"/>
              </a:buBlip>
              <a:defRPr/>
            </a:lvl2pPr>
            <a:lvl3pPr marL="1143000" indent="-228600" algn="l" rtl="0">
              <a:buFontTx/>
              <a:buBlip>
                <a:blip r:embed="rId2"/>
              </a:buBlip>
              <a:defRPr/>
            </a:lvl3pPr>
            <a:lvl4pPr marL="1600200" indent="-228600" algn="l" rtl="0">
              <a:buFontTx/>
              <a:buBlip>
                <a:blip r:embed="rId2"/>
              </a:buBlip>
              <a:defRPr/>
            </a:lvl4pPr>
            <a:lvl5pPr marL="2057400" indent="-228600" algn="l" rtl="0">
              <a:buFontTx/>
              <a:buBlip>
                <a:blip r:embed="rId2"/>
              </a:buBlip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9589" y="1524001"/>
            <a:ext cx="1301552" cy="615553"/>
          </a:xfrm>
          <a:prstGeom prst="rect">
            <a:avLst/>
          </a:prstGeom>
          <a:effectLst>
            <a:outerShdw blurRad="50800" dist="12700" dir="2220000" sx="102000" sy="102000" algn="ctr" rotWithShape="0">
              <a:srgbClr val="000000">
                <a:alpha val="35000"/>
              </a:srgbClr>
            </a:outerShdw>
            <a:softEdge rad="0"/>
          </a:effectLst>
        </p:spPr>
        <p:txBody>
          <a:bodyPr vert="horz" wrap="square" lIns="0" tIns="0" rIns="0" bIns="0" rtlCol="0" anchor="t" anchorCtr="0">
            <a:spAutoFit/>
          </a:bodyPr>
          <a:lstStyle>
            <a:lvl1pPr>
              <a:spcBef>
                <a:spcPct val="0"/>
              </a:spcBef>
              <a:buNone/>
              <a:defRPr lang="en-US" sz="4000" b="0" dirty="0" smtClean="0">
                <a:ln w="3175">
                  <a:noFill/>
                </a:ln>
                <a:solidFill>
                  <a:srgbClr val="F08E1B"/>
                </a:solidFill>
                <a:effectLst/>
                <a:latin typeface="Segoe Light" panose="020B03020405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 panose="020B0502040504020203" pitchFamily="34" charset="0"/>
                <a:cs typeface="Consolas" panose="020B0609020204030204" pitchFamily="49" charset="0"/>
              </a:rPr>
              <a:t>tips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8787" y="1414674"/>
            <a:ext cx="1250813" cy="938110"/>
          </a:xfrm>
          <a:prstGeom prst="rect">
            <a:avLst/>
          </a:prstGeom>
          <a:effectLst>
            <a:outerShdw blurRad="50800" dist="12700" dir="2220000" sx="102000" sy="102000" algn="ctr" rotWithShape="0">
              <a:srgbClr val="000000">
                <a:alpha val="35000"/>
              </a:srgbClr>
            </a:outerShdw>
            <a:softEdge rad="0"/>
          </a:effectLst>
        </p:spPr>
      </p:pic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15414" y="548680"/>
            <a:ext cx="10561173" cy="720000"/>
          </a:xfrm>
          <a:prstGeom prst="rect">
            <a:avLst/>
          </a:prstGeom>
        </p:spPr>
        <p:txBody>
          <a:bodyPr vert="horz" lIns="0" tIns="0" rIns="91440" bIns="45720" rtlCol="0" anchor="b" anchorCtr="0">
            <a:normAutofit/>
          </a:bodyPr>
          <a:lstStyle>
            <a:lvl1pPr>
              <a:defRPr baseline="0"/>
            </a:lvl1pPr>
          </a:lstStyle>
          <a:p>
            <a:r>
              <a:rPr lang="en-US" dirty="0"/>
              <a:t>Click to add tips title</a:t>
            </a:r>
          </a:p>
        </p:txBody>
      </p:sp>
    </p:spTree>
    <p:extLst>
      <p:ext uri="{BB962C8B-B14F-4D97-AF65-F5344CB8AC3E}">
        <p14:creationId xmlns:p14="http://schemas.microsoft.com/office/powerpoint/2010/main" val="3640796252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/>
          <p:cNvSpPr>
            <a:spLocks noGrp="1"/>
          </p:cNvSpPr>
          <p:nvPr>
            <p:ph type="title"/>
          </p:nvPr>
        </p:nvSpPr>
        <p:spPr>
          <a:xfrm>
            <a:off x="815414" y="548680"/>
            <a:ext cx="10561173" cy="720000"/>
          </a:xfrm>
          <a:prstGeom prst="rect">
            <a:avLst/>
          </a:prstGeom>
        </p:spPr>
        <p:txBody>
          <a:bodyPr vert="horz" lIns="0" tIns="0" rIns="91440" bIns="45720" rtlCol="0" anchor="b" anchorCtr="0">
            <a:normAutofit/>
          </a:bodyPr>
          <a:lstStyle>
            <a:lvl1pPr>
              <a:defRPr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98757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13"/>
          <p:cNvSpPr txBox="1">
            <a:spLocks noGrp="1"/>
          </p:cNvSpPr>
          <p:nvPr>
            <p:ph type="ctrTitle"/>
          </p:nvPr>
        </p:nvSpPr>
        <p:spPr>
          <a:xfrm>
            <a:off x="774049" y="1340767"/>
            <a:ext cx="9850763" cy="10858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Clr>
                <a:srgbClr val="F08E1B"/>
              </a:buClr>
              <a:buFont typeface="Quattrocento Sans"/>
              <a:buNone/>
              <a:defRPr sz="3200" b="0" i="0" u="none" strike="noStrike" cap="none">
                <a:solidFill>
                  <a:srgbClr val="F08E1B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16" name="Shape 16"/>
          <p:cNvSpPr txBox="1">
            <a:spLocks noGrp="1"/>
          </p:cNvSpPr>
          <p:nvPr>
            <p:ph type="body" idx="1"/>
          </p:nvPr>
        </p:nvSpPr>
        <p:spPr>
          <a:xfrm>
            <a:off x="774700" y="2427289"/>
            <a:ext cx="9850966" cy="136207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E89636"/>
              </a:buClr>
              <a:buFont typeface="Arial"/>
              <a:buChar char="●"/>
              <a:defRPr sz="2800" b="0" i="0" u="none" strike="noStrike" cap="none">
                <a:solidFill>
                  <a:srgbClr val="E8963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480"/>
              </a:spcBef>
              <a:buClr>
                <a:schemeClr val="dk1"/>
              </a:buClr>
              <a:buFont typeface="Arial"/>
              <a:buChar char="○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400"/>
              </a:spcBef>
              <a:buClr>
                <a:schemeClr val="dk1"/>
              </a:buClr>
              <a:buFont typeface="Arial"/>
              <a:buChar char="■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360"/>
              </a:spcBef>
              <a:buClr>
                <a:schemeClr val="dk1"/>
              </a:buClr>
              <a:buFont typeface="Arial"/>
              <a:buChar char="●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360"/>
              </a:spcBef>
              <a:buClr>
                <a:schemeClr val="dk1"/>
              </a:buClr>
              <a:buFont typeface="Arial"/>
              <a:buChar char="○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marR="0" lvl="5" indent="-101600" algn="r" rtl="1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971800" marR="0" lvl="6" indent="-101600" algn="r" rtl="1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429000" marR="0" lvl="7" indent="-101600" algn="r" rtl="1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86200" marR="0" lvl="8" indent="-101600" algn="r" rtl="1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99019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5414" y="476673"/>
            <a:ext cx="11232357" cy="1015489"/>
          </a:xfrm>
          <a:prstGeom prst="rect">
            <a:avLst/>
          </a:prstGeom>
          <a:ln>
            <a:noFill/>
          </a:ln>
          <a:effectLst/>
        </p:spPr>
        <p:txBody>
          <a:bodyPr vert="horz" lIns="0" tIns="0" rIns="91440" bIns="45720" rtlCol="0" anchor="t" anchorCtr="0">
            <a:normAutofit/>
          </a:bodyPr>
          <a:lstStyle/>
          <a:p>
            <a:endParaRPr lang="en-US" dirty="0"/>
          </a:p>
        </p:txBody>
      </p:sp>
      <p:cxnSp>
        <p:nvCxnSpPr>
          <p:cNvPr id="3" name="Straight Connector 2"/>
          <p:cNvCxnSpPr/>
          <p:nvPr/>
        </p:nvCxnSpPr>
        <p:spPr>
          <a:xfrm flipV="1">
            <a:off x="814917" y="6309320"/>
            <a:ext cx="10602539" cy="1578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0113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  <p:sldLayoutId id="2147483679" r:id="rId14"/>
    <p:sldLayoutId id="2147483680" r:id="rId15"/>
    <p:sldLayoutId id="2147483681" r:id="rId16"/>
    <p:sldLayoutId id="2147483682" r:id="rId17"/>
  </p:sldLayoutIdLst>
  <p:hf sldNum="0" hdr="0" ftr="0" dt="0"/>
  <p:txStyles>
    <p:titleStyle>
      <a:lvl1pPr algn="l" defTabSz="914400" rtl="1" eaLnBrk="1" latinLnBrk="0" hangingPunct="1">
        <a:spcBef>
          <a:spcPct val="0"/>
        </a:spcBef>
        <a:buNone/>
        <a:defRPr lang="en-US" sz="4000" b="0" kern="1200" dirty="0" smtClean="0">
          <a:ln w="3175">
            <a:noFill/>
          </a:ln>
          <a:solidFill>
            <a:srgbClr val="F08E1B"/>
          </a:solidFill>
          <a:effectLst/>
          <a:latin typeface="Segoe Light" panose="020B0302040504020203" pitchFamily="34" charset="0"/>
          <a:ea typeface="+mn-ea"/>
          <a:cs typeface="Segoe UI" panose="020B0502040204020203" pitchFamily="34" charset="0"/>
        </a:defRPr>
      </a:lvl1pPr>
    </p:titleStyle>
    <p:bodyStyle>
      <a:lvl1pPr marL="342900" indent="-342900" algn="r" defTabSz="914400" rtl="1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defTabSz="914400" rtl="1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1064">
          <p15:clr>
            <a:srgbClr val="F26B43"/>
          </p15:clr>
        </p15:guide>
        <p15:guide id="3" pos="542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0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rgbClr val="F08E1B"/>
              </a:buClr>
              <a:buSzPct val="25000"/>
              <a:buFont typeface="Quattrocento Sans"/>
              <a:buNone/>
            </a:pPr>
            <a:r>
              <a:rPr lang="en-US" sz="4000" dirty="0"/>
              <a:t>MongoDB for Developers</a:t>
            </a:r>
            <a:br>
              <a:rPr lang="en-US" sz="4000" dirty="0"/>
            </a:br>
            <a:br>
              <a:rPr lang="en-US" sz="4000" dirty="0"/>
            </a:br>
            <a:br>
              <a:rPr lang="en-US" sz="4000" dirty="0"/>
            </a:br>
            <a:endParaRPr lang="en-US" sz="4000" dirty="0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Module 05 - Aggregations</a:t>
            </a:r>
            <a:endParaRPr lang="he-IL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F235D-C07A-45B7-BA86-5BDEBAD86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MongoDB Aggregations – Introduction	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5D167E-DF31-44C8-B076-547AB78CF0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Advanced query feature, that enabled to </a:t>
            </a:r>
            <a:r>
              <a:rPr lang="en-US" b="1" dirty="0"/>
              <a:t>group values</a:t>
            </a:r>
            <a:r>
              <a:rPr lang="en-US" dirty="0"/>
              <a:t> from multiple docs, and perform a variety of operations on the grouped data to return a single result</a:t>
            </a:r>
          </a:p>
          <a:p>
            <a:endParaRPr lang="en-US" dirty="0"/>
          </a:p>
          <a:p>
            <a:r>
              <a:rPr lang="en-US" dirty="0"/>
              <a:t>Three types of aggregation in MongoDB:</a:t>
            </a:r>
          </a:p>
          <a:p>
            <a:pPr lvl="1"/>
            <a:r>
              <a:rPr lang="en-US" dirty="0"/>
              <a:t>Aggregation pipeline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MapReduce function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 Single purpose aggregation methods </a:t>
            </a:r>
          </a:p>
        </p:txBody>
      </p:sp>
    </p:spTree>
    <p:extLst>
      <p:ext uri="{BB962C8B-B14F-4D97-AF65-F5344CB8AC3E}">
        <p14:creationId xmlns:p14="http://schemas.microsoft.com/office/powerpoint/2010/main" val="23251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E8DEF-FEF8-4033-BB80-59813FF32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Pipeline Aggregation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D39DD1-8FDE-4407-81F9-583B929F88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Based on the data pipeline processing model</a:t>
            </a:r>
          </a:p>
          <a:p>
            <a:endParaRPr lang="en-US" dirty="0"/>
          </a:p>
          <a:p>
            <a:r>
              <a:rPr lang="en-US" dirty="0"/>
              <a:t> It’s a multi stage pipeline framework that the docs entered into, and transformed into an aggregated result</a:t>
            </a:r>
          </a:p>
          <a:p>
            <a:endParaRPr lang="en-US" dirty="0"/>
          </a:p>
          <a:p>
            <a:r>
              <a:rPr lang="en-US" dirty="0"/>
              <a:t> Alternative to MapReduce and the preferred solution</a:t>
            </a:r>
          </a:p>
          <a:p>
            <a:endParaRPr lang="en-US" dirty="0"/>
          </a:p>
          <a:p>
            <a:r>
              <a:rPr lang="en-US" dirty="0"/>
              <a:t> Each pipeline consists of one or many </a:t>
            </a:r>
            <a:r>
              <a:rPr lang="en-US" b="1" dirty="0"/>
              <a:t>stages </a:t>
            </a:r>
            <a:r>
              <a:rPr lang="en-US" dirty="0"/>
              <a:t>and </a:t>
            </a:r>
            <a:r>
              <a:rPr lang="en-US" b="1" dirty="0"/>
              <a:t>expressions</a:t>
            </a:r>
            <a:endParaRPr lang="en-US" dirty="0"/>
          </a:p>
          <a:p>
            <a:pPr marL="177800" indent="0">
              <a:buNone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799353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2C102-4674-4A13-861A-F1A838386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Pipeline Aggregation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CF8DA1A-92CA-4EA2-9275-8269A00314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412" y="973996"/>
            <a:ext cx="7810500" cy="5619750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DEC5975-AF63-4FA3-8413-A645C967F9C6}"/>
              </a:ext>
            </a:extLst>
          </p:cNvPr>
          <p:cNvCxnSpPr/>
          <p:nvPr/>
        </p:nvCxnSpPr>
        <p:spPr>
          <a:xfrm flipH="1">
            <a:off x="2204581" y="1621231"/>
            <a:ext cx="7640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21B0617-45D8-454D-93AC-4541E93C6DDC}"/>
              </a:ext>
            </a:extLst>
          </p:cNvPr>
          <p:cNvCxnSpPr/>
          <p:nvPr/>
        </p:nvCxnSpPr>
        <p:spPr>
          <a:xfrm flipH="1">
            <a:off x="2217107" y="1896860"/>
            <a:ext cx="75156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07751C3-661B-4A2A-B458-A7B0D8CAA926}"/>
              </a:ext>
            </a:extLst>
          </p:cNvPr>
          <p:cNvSpPr txBox="1"/>
          <p:nvPr/>
        </p:nvSpPr>
        <p:spPr>
          <a:xfrm>
            <a:off x="1423746" y="1589083"/>
            <a:ext cx="10020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Stages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B53AD45-21C2-4EFA-9A91-A4E911169FEF}"/>
              </a:ext>
            </a:extLst>
          </p:cNvPr>
          <p:cNvCxnSpPr>
            <a:cxnSpLocks/>
          </p:cNvCxnSpPr>
          <p:nvPr/>
        </p:nvCxnSpPr>
        <p:spPr>
          <a:xfrm flipV="1">
            <a:off x="6764055" y="1089764"/>
            <a:ext cx="0" cy="6042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B03BA57-AD90-4823-B559-1B4DADD74470}"/>
              </a:ext>
            </a:extLst>
          </p:cNvPr>
          <p:cNvSpPr txBox="1"/>
          <p:nvPr/>
        </p:nvSpPr>
        <p:spPr>
          <a:xfrm>
            <a:off x="6194121" y="737211"/>
            <a:ext cx="11398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Expression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FBB064C-54A2-4227-B3CF-A3D679D78B50}"/>
              </a:ext>
            </a:extLst>
          </p:cNvPr>
          <p:cNvCxnSpPr>
            <a:cxnSpLocks/>
          </p:cNvCxnSpPr>
          <p:nvPr/>
        </p:nvCxnSpPr>
        <p:spPr>
          <a:xfrm>
            <a:off x="7333989" y="2011680"/>
            <a:ext cx="1375671" cy="6972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8883F9B-C7F1-4A2E-B44F-6F336435EBD7}"/>
              </a:ext>
            </a:extLst>
          </p:cNvPr>
          <p:cNvSpPr txBox="1"/>
          <p:nvPr/>
        </p:nvSpPr>
        <p:spPr>
          <a:xfrm>
            <a:off x="8625912" y="2749430"/>
            <a:ext cx="219829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The $ sign before fields </a:t>
            </a:r>
          </a:p>
          <a:p>
            <a:r>
              <a:rPr lang="en-US" b="1" dirty="0"/>
              <a:t>mark to Mongo to inject the actual value of the field during </a:t>
            </a:r>
            <a:r>
              <a:rPr lang="en-US" b="1"/>
              <a:t>the execution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2906019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F1688-104E-4E00-A3C2-E14206094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Pipeline Aggregation - Stages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0CCECD-CFFA-498D-95B3-28DC24ECBC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5411" y="1268678"/>
            <a:ext cx="10657183" cy="464819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Data transformations for each document in the collection as they pass the pipeline</a:t>
            </a:r>
          </a:p>
          <a:p>
            <a:pPr lvl="1"/>
            <a:endParaRPr lang="en-US" dirty="0"/>
          </a:p>
          <a:p>
            <a:r>
              <a:rPr lang="en-US" dirty="0"/>
              <a:t>Can filter out some docs, or create new docs</a:t>
            </a:r>
          </a:p>
          <a:p>
            <a:pPr lvl="1"/>
            <a:endParaRPr lang="en-US" dirty="0"/>
          </a:p>
          <a:p>
            <a:r>
              <a:rPr lang="en-US" dirty="0"/>
              <a:t> Common stages:</a:t>
            </a:r>
          </a:p>
          <a:p>
            <a:pPr lvl="1"/>
            <a:r>
              <a:rPr lang="en-US" dirty="0"/>
              <a:t> $out – must be the last stage in the pipeline. It writes the resulting docs from the aggregation to a collection</a:t>
            </a:r>
          </a:p>
          <a:p>
            <a:pPr lvl="1"/>
            <a:r>
              <a:rPr lang="en-US" dirty="0"/>
              <a:t> $sort – sort the docs stream by a sort key parameter</a:t>
            </a:r>
          </a:p>
          <a:p>
            <a:pPr lvl="1"/>
            <a:r>
              <a:rPr lang="en-US" dirty="0"/>
              <a:t> $limit – passes the first n docs to the pipeline, where n is a parameter</a:t>
            </a:r>
          </a:p>
          <a:p>
            <a:pPr lvl="1"/>
            <a:r>
              <a:rPr lang="en-US" dirty="0"/>
              <a:t> $count – returns the count of the docs at this stage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14566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F1688-104E-4E00-A3C2-E14206094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Pipeline Aggregation - Expressions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0CCECD-CFFA-498D-95B3-28DC24ECBC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5411" y="1268678"/>
            <a:ext cx="10657183" cy="4648199"/>
          </a:xfrm>
        </p:spPr>
        <p:txBody>
          <a:bodyPr>
            <a:normAutofit lnSpcReduction="10000"/>
          </a:bodyPr>
          <a:lstStyle/>
          <a:p>
            <a:r>
              <a:rPr lang="en-US" sz="3200" dirty="0"/>
              <a:t> </a:t>
            </a:r>
            <a:r>
              <a:rPr lang="en-US" dirty="0"/>
              <a:t>Operands for some of the stages the pipeline</a:t>
            </a:r>
          </a:p>
          <a:p>
            <a:pPr marL="177800" indent="0">
              <a:buNone/>
            </a:pPr>
            <a:endParaRPr lang="en-US" dirty="0"/>
          </a:p>
          <a:p>
            <a:r>
              <a:rPr lang="en-US" dirty="0"/>
              <a:t> Specify the transformation(in-memory) to apply to the input docs</a:t>
            </a:r>
          </a:p>
          <a:p>
            <a:pPr marL="177800" indent="0">
              <a:buNone/>
            </a:pPr>
            <a:endParaRPr lang="en-US" dirty="0"/>
          </a:p>
          <a:p>
            <a:r>
              <a:rPr lang="en-US" dirty="0"/>
              <a:t>Common expressions:</a:t>
            </a:r>
          </a:p>
          <a:p>
            <a:pPr lvl="1"/>
            <a:r>
              <a:rPr lang="en-US" dirty="0"/>
              <a:t>$sum – calculates and returns the sum of the numeric values in the group stage</a:t>
            </a:r>
          </a:p>
          <a:p>
            <a:pPr lvl="1"/>
            <a:r>
              <a:rPr lang="en-US" dirty="0"/>
              <a:t>$dayOfYear – returns the day of the year(1-366)  for a date field </a:t>
            </a:r>
          </a:p>
          <a:p>
            <a:pPr lvl="1"/>
            <a:r>
              <a:rPr lang="en-US" dirty="0"/>
              <a:t>$gte – returns true if the first value is </a:t>
            </a:r>
            <a:r>
              <a:rPr lang="en-US" i="1" dirty="0"/>
              <a:t>greater or equal</a:t>
            </a:r>
            <a:r>
              <a:rPr lang="en-US" dirty="0"/>
              <a:t> to the second</a:t>
            </a:r>
          </a:p>
          <a:p>
            <a:pPr marL="17780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67827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FBB85-1F5D-442E-893C-4CAB44BAB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Pipeline Aggregation – Example 1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DB6E701-E37F-4063-911E-CE500D243D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276" y="1116277"/>
            <a:ext cx="2171700" cy="153129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94754AD-7CBF-40DD-8767-827D31C8B0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777" y="2647576"/>
            <a:ext cx="8953992" cy="363855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C10DF54-93A2-4558-8816-4A8D72F31B2F}"/>
              </a:ext>
            </a:extLst>
          </p:cNvPr>
          <p:cNvSpPr txBox="1"/>
          <p:nvPr/>
        </p:nvSpPr>
        <p:spPr>
          <a:xfrm>
            <a:off x="6758247" y="1463251"/>
            <a:ext cx="18549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 document:</a:t>
            </a:r>
          </a:p>
        </p:txBody>
      </p:sp>
    </p:spTree>
    <p:extLst>
      <p:ext uri="{BB962C8B-B14F-4D97-AF65-F5344CB8AC3E}">
        <p14:creationId xmlns:p14="http://schemas.microsoft.com/office/powerpoint/2010/main" val="33966632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FBB85-1F5D-442E-893C-4CAB44BAB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412" y="238212"/>
            <a:ext cx="10657183" cy="719999"/>
          </a:xfrm>
        </p:spPr>
        <p:txBody>
          <a:bodyPr/>
          <a:lstStyle/>
          <a:p>
            <a:r>
              <a:rPr lang="en-US" dirty="0"/>
              <a:t>Pipeline Aggregation – Example 2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505C66-1969-4AE3-8B87-F0AB5575E1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028" y="1211283"/>
            <a:ext cx="8814543" cy="5106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4000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4C351-1B0B-4561-8814-6AC3E6F67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Pipeline Aggregation – Result 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B77853-EA08-4601-96B4-D85064504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412" y="1644382"/>
            <a:ext cx="9544050" cy="436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9268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D042E-EA6F-4338-9507-68530ED8D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MapReduce Aggregation - Introduction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D49818-7DA1-4595-B385-17271CA721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Data processing paradigm to process a large amount of data into aggregative results</a:t>
            </a:r>
          </a:p>
          <a:p>
            <a:endParaRPr lang="en-US" dirty="0"/>
          </a:p>
          <a:p>
            <a:r>
              <a:rPr lang="en-US" dirty="0"/>
              <a:t> Consists of two parts:</a:t>
            </a:r>
          </a:p>
          <a:p>
            <a:pPr lvl="1"/>
            <a:r>
              <a:rPr lang="en-US" dirty="0"/>
              <a:t> Map – applies map operation(transformation) to each input documents and emits </a:t>
            </a:r>
            <a:r>
              <a:rPr lang="en-US" b="1" dirty="0"/>
              <a:t>key-value</a:t>
            </a:r>
            <a:r>
              <a:rPr lang="en-US" dirty="0"/>
              <a:t> pairs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 Reduce – for keys with multiple values, the reduce collects and condenses the aggregated data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8779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D042E-EA6F-4338-9507-68530ED8D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MapReduce Aggregation - Introduction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D49818-7DA1-4595-B385-17271CA721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The </a:t>
            </a:r>
            <a:r>
              <a:rPr lang="en-US" b="1" dirty="0"/>
              <a:t>map</a:t>
            </a:r>
            <a:r>
              <a:rPr lang="en-US" dirty="0"/>
              <a:t> and the </a:t>
            </a:r>
            <a:r>
              <a:rPr lang="en-US" b="1" dirty="0"/>
              <a:t>reduce</a:t>
            </a:r>
            <a:r>
              <a:rPr lang="en-US" dirty="0"/>
              <a:t> functions are JavaScript and run within the </a:t>
            </a:r>
            <a:r>
              <a:rPr lang="en-US" b="1" dirty="0"/>
              <a:t>mongod</a:t>
            </a:r>
            <a:r>
              <a:rPr lang="en-US" dirty="0"/>
              <a:t> process</a:t>
            </a:r>
          </a:p>
          <a:p>
            <a:endParaRPr lang="en-US" dirty="0"/>
          </a:p>
          <a:p>
            <a:r>
              <a:rPr lang="en-US" dirty="0"/>
              <a:t> Take the documents of a single collection as input and can perform any query operation before beginning the map stage</a:t>
            </a:r>
          </a:p>
          <a:p>
            <a:pPr marL="177800" indent="0">
              <a:buNone/>
            </a:pPr>
            <a:endParaRPr lang="en-US" dirty="0"/>
          </a:p>
          <a:p>
            <a:r>
              <a:rPr lang="en-US" dirty="0"/>
              <a:t> Map reduce provides some flexibility that isn’t presently available in the pipeline aggregation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03327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1C905-FF6C-4394-96F6-DCB7C56C3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MapReduce Aggregation - Example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A583A4-7A29-4F86-9197-813342E000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1450" y="3575700"/>
            <a:ext cx="3788229" cy="12382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65097D0-2CF1-41DA-8C80-1BFBAC3D35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413" y="1520396"/>
            <a:ext cx="6231542" cy="45339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7C10B4A-B725-4296-A2AA-BF170A0BE845}"/>
              </a:ext>
            </a:extLst>
          </p:cNvPr>
          <p:cNvSpPr txBox="1"/>
          <p:nvPr/>
        </p:nvSpPr>
        <p:spPr>
          <a:xfrm>
            <a:off x="8136245" y="2506048"/>
            <a:ext cx="18549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 document:</a:t>
            </a:r>
          </a:p>
        </p:txBody>
      </p:sp>
    </p:spTree>
    <p:extLst>
      <p:ext uri="{BB962C8B-B14F-4D97-AF65-F5344CB8AC3E}">
        <p14:creationId xmlns:p14="http://schemas.microsoft.com/office/powerpoint/2010/main" val="24946446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1C905-FF6C-4394-96F6-DCB7C56C3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MapReduce Aggregation - Result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12545C0-5005-4B83-A805-DCE05BABF7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412" y="1634953"/>
            <a:ext cx="9086850" cy="222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9442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1C905-FF6C-4394-96F6-DCB7C56C3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 Purpose Aggregation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38A1C3-EAF0-4C8D-8658-F6F9F786C6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412" y="1268678"/>
            <a:ext cx="7915275" cy="531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815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3273578"/>
      </p:ext>
    </p:extLst>
  </p:cSld>
  <p:clrMapOvr>
    <a:masterClrMapping/>
  </p:clrMapOvr>
</p:sld>
</file>

<file path=ppt/theme/theme1.xml><?xml version="1.0" encoding="utf-8"?>
<a:theme xmlns:a="http://schemas.openxmlformats.org/drawingml/2006/main" name="Sela_Template_Ver_0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lassroom Template V8 7.1.14" id="{C390D62C-FD2A-4105-98BE-E88C1F565992}" vid="{BA10E712-5CE4-4A76-8C2D-233204200D7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612BCB557AA5D448C5593FF71F2A488" ma:contentTypeVersion="20" ma:contentTypeDescription="Create a new document." ma:contentTypeScope="" ma:versionID="94eeca7f2e9e6f517c55398d5e9f5eed">
  <xsd:schema xmlns:xsd="http://www.w3.org/2001/XMLSchema" xmlns:xs="http://www.w3.org/2001/XMLSchema" xmlns:p="http://schemas.microsoft.com/office/2006/metadata/properties" xmlns:ns2="49dc0417-29c6-4bb5-ae98-f937f0a30532" xmlns:ns3="d58f348b-938b-40b8-8bae-5456f1a0ae9d" targetNamespace="http://schemas.microsoft.com/office/2006/metadata/properties" ma:root="true" ma:fieldsID="ce4dda86146abacb2ee65238c8c34327" ns2:_="" ns3:_="">
    <xsd:import namespace="49dc0417-29c6-4bb5-ae98-f937f0a30532"/>
    <xsd:import namespace="d58f348b-938b-40b8-8bae-5456f1a0ae9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3:SharedWithUsers" minOccurs="0"/>
                <xsd:element ref="ns3:SharedWithDetails" minOccurs="0"/>
                <xsd:element ref="ns2:AAA" minOccurs="0"/>
                <xsd:element ref="ns2:lcf76f155ced4ddcb4097134ff3c332f" minOccurs="0"/>
                <xsd:element ref="ns3:TaxCatchAll" minOccurs="0"/>
                <xsd:element ref="ns2:Hyperlink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dc0417-29c6-4bb5-ae98-f937f0a3053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2" nillable="true" ma:displayName="Length (seconds)" ma:internalName="MediaLengthInSeconds" ma:readOnly="true">
      <xsd:simpleType>
        <xsd:restriction base="dms:Unknown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AAA" ma:index="21" nillable="true" ma:displayName="AAA" ma:format="DateOnly" ma:internalName="AAA">
      <xsd:simpleType>
        <xsd:restriction base="dms:DateTime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23256489-8307-4614-a501-3741224748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Hyperlink" ma:index="25" nillable="true" ma:displayName="Hyperlink" ma:format="Hyperlink" ma:internalName="Hyperlink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8f348b-938b-40b8-8bae-5456f1a0ae9d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3792e702-67e0-4df4-9ad4-8876b702b22c}" ma:internalName="TaxCatchAll" ma:showField="CatchAllData" ma:web="d58f348b-938b-40b8-8bae-5456f1a0ae9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AA xmlns="49dc0417-29c6-4bb5-ae98-f937f0a30532" xsi:nil="true"/>
    <TaxCatchAll xmlns="d58f348b-938b-40b8-8bae-5456f1a0ae9d" xsi:nil="true"/>
    <Hyperlink xmlns="49dc0417-29c6-4bb5-ae98-f937f0a30532">
      <Url xsi:nil="true"/>
      <Description xsi:nil="true"/>
    </Hyperlink>
    <lcf76f155ced4ddcb4097134ff3c332f xmlns="49dc0417-29c6-4bb5-ae98-f937f0a30532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B972916E-65C5-4CDD-862E-A9DE72681B76}"/>
</file>

<file path=customXml/itemProps2.xml><?xml version="1.0" encoding="utf-8"?>
<ds:datastoreItem xmlns:ds="http://schemas.openxmlformats.org/officeDocument/2006/customXml" ds:itemID="{15ECEAB3-3B35-4F52-8745-59AA87867F26}"/>
</file>

<file path=customXml/itemProps3.xml><?xml version="1.0" encoding="utf-8"?>
<ds:datastoreItem xmlns:ds="http://schemas.openxmlformats.org/officeDocument/2006/customXml" ds:itemID="{76E0C89A-2590-4C1B-8EC4-8B261DDC3AE8}"/>
</file>

<file path=docProps/app.xml><?xml version="1.0" encoding="utf-8"?>
<Properties xmlns="http://schemas.openxmlformats.org/officeDocument/2006/extended-properties" xmlns:vt="http://schemas.openxmlformats.org/officeDocument/2006/docPropsVTypes">
  <Template>Classroom Template V8 7.1.14</Template>
  <TotalTime>34598</TotalTime>
  <Words>1083</Words>
  <Application>Microsoft Office PowerPoint</Application>
  <PresentationFormat>Widescreen</PresentationFormat>
  <Paragraphs>113</Paragraphs>
  <Slides>15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Segoe UI</vt:lpstr>
      <vt:lpstr>Courier New</vt:lpstr>
      <vt:lpstr>Arial</vt:lpstr>
      <vt:lpstr>Segoe Light</vt:lpstr>
      <vt:lpstr>Segoe</vt:lpstr>
      <vt:lpstr>Quattrocento Sans</vt:lpstr>
      <vt:lpstr>Calibri</vt:lpstr>
      <vt:lpstr>Consolas</vt:lpstr>
      <vt:lpstr>Sela_Template_Ver_01</vt:lpstr>
      <vt:lpstr>MongoDB for Developers   </vt:lpstr>
      <vt:lpstr>MongoDB Aggregations – Introduction </vt:lpstr>
      <vt:lpstr>Pipeline Aggregation</vt:lpstr>
      <vt:lpstr>Pipeline Aggregation</vt:lpstr>
      <vt:lpstr>Pipeline Aggregation - Stages</vt:lpstr>
      <vt:lpstr>Pipeline Aggregation - Expressions</vt:lpstr>
      <vt:lpstr>Pipeline Aggregation – Example 1</vt:lpstr>
      <vt:lpstr>Pipeline Aggregation – Example 2</vt:lpstr>
      <vt:lpstr>Pipeline Aggregation – Result 2</vt:lpstr>
      <vt:lpstr>MapReduce Aggregation - Introduction</vt:lpstr>
      <vt:lpstr>MapReduce Aggregation - Introduction</vt:lpstr>
      <vt:lpstr>MapReduce Aggregation - Example</vt:lpstr>
      <vt:lpstr>MapReduce Aggregation - Result</vt:lpstr>
      <vt:lpstr>Single Purpose Aggregation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Redis</dc:title>
  <cp:lastModifiedBy>Netanel</cp:lastModifiedBy>
  <cp:revision>218</cp:revision>
  <dcterms:modified xsi:type="dcterms:W3CDTF">2018-06-17T10:32:15Z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0x0101000612BCB557AA5D448C5593FF71F2A488</vt:lpwstr>
  </property>
</Properties>
</file>