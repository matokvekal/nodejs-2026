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3.xml" ContentType="application/vnd.openxmlformats-officedocument.presentationml.slide+xml"/>
  <Override PartName="/ppt/slides/slide20.xml" ContentType="application/vnd.openxmlformats-officedocument.presentationml.slide+xml"/>
  <Override PartName="/ppt/slides/slide24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4" r:id="rId1"/>
  </p:sldMasterIdLst>
  <p:notesMasterIdLst>
    <p:notesMasterId r:id="rId31"/>
  </p:notesMasterIdLst>
  <p:sldIdLst>
    <p:sldId id="303" r:id="rId2"/>
    <p:sldId id="270" r:id="rId3"/>
    <p:sldId id="271" r:id="rId4"/>
    <p:sldId id="273" r:id="rId5"/>
    <p:sldId id="274" r:id="rId6"/>
    <p:sldId id="276" r:id="rId7"/>
    <p:sldId id="277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7" r:id="rId16"/>
    <p:sldId id="286" r:id="rId17"/>
    <p:sldId id="288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9" r:id="rId26"/>
    <p:sldId id="300" r:id="rId27"/>
    <p:sldId id="301" r:id="rId28"/>
    <p:sldId id="298" r:id="rId29"/>
    <p:sldId id="302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2304">
          <p15:clr>
            <a:srgbClr val="A4A3A4"/>
          </p15:clr>
        </p15:guide>
        <p15:guide id="3" orient="horz" pos="2688">
          <p15:clr>
            <a:srgbClr val="A4A3A4"/>
          </p15:clr>
        </p15:guide>
        <p15:guide id="4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3C06"/>
    <a:srgbClr val="A6BEE8"/>
    <a:srgbClr val="B3C7EB"/>
    <a:srgbClr val="FFFFCC"/>
    <a:srgbClr val="DC8506"/>
    <a:srgbClr val="F2BF04"/>
    <a:srgbClr val="FFE05B"/>
    <a:srgbClr val="E0890A"/>
    <a:srgbClr val="FFD629"/>
    <a:srgbClr val="D299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02" d="100"/>
          <a:sy n="102" d="100"/>
        </p:scale>
        <p:origin x="264" y="102"/>
      </p:cViewPr>
      <p:guideLst>
        <p:guide orient="horz" pos="2160"/>
        <p:guide orient="horz" pos="2304"/>
        <p:guide orient="horz" pos="268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86" d="100"/>
          <a:sy n="86" d="100"/>
        </p:scale>
        <p:origin x="-3810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AA33BB-5012-4FA9-BC94-2423B0F96BF0}" type="datetimeFigureOut">
              <a:rPr lang="en-US" smtClean="0"/>
              <a:pPr/>
              <a:t>4/17/2018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343ED-3762-4D46-A439-B4D407E13E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77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3" name="Shape 7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0604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100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gi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gi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gi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gi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gif"/><Relationship Id="rId4" Type="http://schemas.openxmlformats.org/officeDocument/2006/relationships/image" Target="../media/image1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gif"/><Relationship Id="rId5" Type="http://schemas.openxmlformats.org/officeDocument/2006/relationships/image" Target="../media/image12.png"/><Relationship Id="rId4" Type="http://schemas.openxmlformats.org/officeDocument/2006/relationships/image" Target="../media/image14.jpe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gif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gi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gi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gi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gi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6.gi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wmf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6.gif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wmf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6.gif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wmf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gi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gi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gif"/><Relationship Id="rId4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0537" y="1340768"/>
            <a:ext cx="7388072" cy="1085850"/>
          </a:xfrm>
        </p:spPr>
        <p:txBody>
          <a:bodyPr vert="horz" lIns="0" tIns="45720" rIns="91440" bIns="45720" rtlCol="0" anchor="t" anchorCtr="0">
            <a:normAutofit/>
          </a:bodyPr>
          <a:lstStyle>
            <a:lvl1pPr>
              <a:defRPr lang="en-US" sz="3200" dirty="0">
                <a:ln w="3175">
                  <a:noFill/>
                </a:ln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80537" y="6362070"/>
            <a:ext cx="7879895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sz="11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Segoe" panose="020B0502040504020203" pitchFamily="34" charset="0"/>
                <a:ea typeface="+mn-ea"/>
                <a:cs typeface="+mn-cs"/>
              </a:rPr>
              <a:t>Copyright © SELA Software &amp; Education Labs, Ltd. | 14-18 Baruch Hirsch St., </a:t>
            </a:r>
            <a:r>
              <a:rPr lang="en-US" sz="11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" panose="020B0502040504020203" pitchFamily="34" charset="0"/>
                <a:ea typeface="+mn-ea"/>
                <a:cs typeface="+mn-cs"/>
              </a:rPr>
              <a:t>Bnei</a:t>
            </a:r>
            <a:r>
              <a:rPr lang="en-US" sz="11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Segoe" panose="020B0502040504020203" pitchFamily="34" charset="0"/>
                <a:ea typeface="+mn-ea"/>
                <a:cs typeface="+mn-cs"/>
              </a:rPr>
              <a:t> </a:t>
            </a:r>
            <a:r>
              <a:rPr lang="en-US" sz="11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" panose="020B0502040504020203" pitchFamily="34" charset="0"/>
                <a:ea typeface="+mn-ea"/>
                <a:cs typeface="+mn-cs"/>
              </a:rPr>
              <a:t>Brak</a:t>
            </a:r>
            <a:r>
              <a:rPr lang="en-US" sz="11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" panose="020B0502040504020203" pitchFamily="34" charset="0"/>
                <a:ea typeface="+mn-ea"/>
                <a:cs typeface="+mn-cs"/>
              </a:rPr>
              <a:t> 51202, Israel | www.selagroup.com</a:t>
            </a:r>
            <a:endParaRPr lang="en-US" sz="800" dirty="0">
              <a:solidFill>
                <a:schemeClr val="tx1">
                  <a:lumMod val="85000"/>
                  <a:lumOff val="15000"/>
                </a:schemeClr>
              </a:solidFill>
              <a:latin typeface="Segoe" panose="020B0502040504020203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37" y="534797"/>
            <a:ext cx="2632449" cy="48390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581025" y="2427288"/>
            <a:ext cx="7388225" cy="136207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E89636"/>
                </a:solidFill>
              </a:defRPr>
            </a:lvl1pPr>
            <a:lvl2pPr marL="457200" indent="0" algn="l" rtl="0">
              <a:buFontTx/>
              <a:buNone/>
              <a:defRPr/>
            </a:lvl2pPr>
            <a:lvl3pPr marL="914400" indent="0" algn="l" rtl="0">
              <a:buFontTx/>
              <a:buNone/>
              <a:defRPr/>
            </a:lvl3pPr>
            <a:lvl4pPr marL="1371600" indent="0" algn="l" rtl="0">
              <a:buFontTx/>
              <a:buNone/>
              <a:defRPr/>
            </a:lvl4pPr>
            <a:lvl5pPr marL="1828800" indent="0" algn="l" rtl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69549739"/>
      </p:ext>
    </p:extLst>
  </p:cSld>
  <p:clrMapOvr>
    <a:masterClrMapping/>
  </p:clrMapOvr>
  <p:hf hdr="0" dt="0"/>
  <p:extLst mod="1">
    <p:ext uri="{DCECCB84-F9BA-43D5-87BE-67443E8EF086}">
      <p15:sldGuideLst xmlns:p15="http://schemas.microsoft.com/office/powerpoint/2012/main">
        <p15:guide id="1" orient="horz" pos="789">
          <p15:clr>
            <a:srgbClr val="FBAE40"/>
          </p15:clr>
        </p15:guide>
        <p15:guide id="2" pos="61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0834225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pica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92888" cy="720000"/>
          </a:xfrm>
        </p:spPr>
        <p:txBody>
          <a:bodyPr vert="horz" lIns="0" tIns="0" rIns="91440" bIns="45720" rtlCol="0" anchor="b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492161"/>
            <a:ext cx="7992888" cy="4648200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1pPr>
            <a:lvl2pPr marL="742950" indent="-28575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2pPr>
            <a:lvl3pPr marL="11430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3pPr>
            <a:lvl4pPr marL="16002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4pPr>
            <a:lvl5pPr marL="20574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6955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1124744"/>
            <a:ext cx="4132746" cy="4443617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sp>
        <p:nvSpPr>
          <p:cNvPr id="13" name="TextBox 12"/>
          <p:cNvSpPr txBox="1"/>
          <p:nvPr/>
        </p:nvSpPr>
        <p:spPr>
          <a:xfrm>
            <a:off x="1475656" y="2492896"/>
            <a:ext cx="347082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Demo</a:t>
            </a:r>
          </a:p>
        </p:txBody>
      </p:sp>
      <p:pic>
        <p:nvPicPr>
          <p:cNvPr id="5" name="Picture 4" descr="demo_page_small.jpg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6" name="Picture 5" descr="logo_sela_college_shad6CM.gif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648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 p14:presetBounceEnd="42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57482 2.59259E-6 L 4.72222E-6 2.59259E-6 " pathEditMode="relative" rAng="0" ptsTypes="AA" p14:bounceEnd="42000">
                                          <p:cBhvr>
                                            <p:cTn id="13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875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/>
          <p:bldP spid="13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57482 2.59259E-6 L 4.72222E-6 2.59259E-6 " pathEditMode="relative" rAng="0" ptsTypes="AA">
                                          <p:cBhvr>
                                            <p:cTn id="13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875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/>
          <p:bldP spid="13" grpId="1"/>
        </p:bldLst>
      </p:timing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2420888"/>
            <a:ext cx="3700697" cy="2132707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sp>
        <p:nvSpPr>
          <p:cNvPr id="12" name="TextBox 11"/>
          <p:cNvSpPr txBox="1"/>
          <p:nvPr/>
        </p:nvSpPr>
        <p:spPr>
          <a:xfrm>
            <a:off x="1475656" y="2492896"/>
            <a:ext cx="212590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Lab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6" name="Picture 5" descr="lab_small.jpg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 descr="logo_sela_college_shad6CM.gif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311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 p14:presetBounceEnd="42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5399 2.59259E-6 L 2.77778E-7 2.59259E-6 " pathEditMode="relative" rAng="0" ptsTypes="AA" p14:bounceEnd="42000">
                                          <p:cBhvr>
                                            <p:cTn id="13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2708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/>
          <p:bldP spid="12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5399 2.59259E-6 L 2.77778E-7 2.59259E-6 " pathEditMode="relative" rAng="0" ptsTypes="AA">
                                          <p:cBhvr>
                                            <p:cTn id="13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2708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/>
          <p:bldP spid="12" grpId="1"/>
        </p:bldLst>
      </p:timing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2420888"/>
            <a:ext cx="3700697" cy="2132707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sp>
        <p:nvSpPr>
          <p:cNvPr id="11" name="TextBox 10"/>
          <p:cNvSpPr txBox="1"/>
          <p:nvPr/>
        </p:nvSpPr>
        <p:spPr>
          <a:xfrm>
            <a:off x="1547664" y="2492896"/>
            <a:ext cx="393409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Conclusion </a:t>
            </a:r>
          </a:p>
          <a:p>
            <a:r>
              <a:rPr lang="en-US" sz="6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Lab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6" name="Picture 5" descr="conclusion_lab_small.jpg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 descr="logo_sela_college_shad6CM.gif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795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 p14:presetBounceEnd="42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-1.11111E-6 L -4.44444E-6 -1.11111E-6 " pathEditMode="relative" rAng="0" ptsTypes="AA" p14:bounceEnd="42000">
                                          <p:cBhvr>
                                            <p:cTn id="13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1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-1.11111E-6 L -4.44444E-6 -1.11111E-6 " pathEditMode="relative" rAng="0" ptsTypes="AA">
                                          <p:cBhvr>
                                            <p:cTn id="13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1" grpId="1"/>
        </p:bld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clusion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827584" y="2492896"/>
            <a:ext cx="492314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Final</a:t>
            </a:r>
            <a:r>
              <a:rPr lang="en-US" sz="10000" b="1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 </a:t>
            </a:r>
            <a:r>
              <a:rPr lang="en-US" sz="10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Lab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2420888"/>
            <a:ext cx="3700697" cy="2132707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6" name="Picture 2" descr="K:\tmp\Eyal\Untitled-2.jp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-9525" y="-9525"/>
            <a:ext cx="9163050" cy="6877050"/>
          </a:xfrm>
          <a:prstGeom prst="rect">
            <a:avLst/>
          </a:prstGeom>
          <a:noFill/>
        </p:spPr>
      </p:pic>
      <p:pic>
        <p:nvPicPr>
          <p:cNvPr id="7" name="Picture 2" descr="K:\tmp\Eyal\Untitled-2.jp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-77602" y="-6920"/>
            <a:ext cx="9237333" cy="6876000"/>
          </a:xfrm>
          <a:prstGeom prst="rect">
            <a:avLst/>
          </a:prstGeom>
          <a:noFill/>
        </p:spPr>
      </p:pic>
      <p:pic>
        <p:nvPicPr>
          <p:cNvPr id="8" name="Picture 7" descr="logo_sela_college_shad6CM.gif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326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 p14:presetBounceEnd="42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2.59259E-6 L -3.33333E-6 2.59259E-6 " pathEditMode="relative" rAng="0" ptsTypes="AA" p14:bounceEnd="42000">
                                          <p:cBhvr>
                                            <p:cTn id="13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/>
          <p:bldP spid="13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2.59259E-6 L -3.33333E-6 2.59259E-6 " pathEditMode="relative" rAng="0" ptsTypes="AA">
                                          <p:cBhvr>
                                            <p:cTn id="13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/>
          <p:bldP spid="13" grpId="1"/>
        </p:bld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k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4"/>
          <p:cNvSpPr>
            <a:spLocks noGrp="1"/>
          </p:cNvSpPr>
          <p:nvPr>
            <p:ph type="body" sz="quarter" idx="16"/>
          </p:nvPr>
        </p:nvSpPr>
        <p:spPr bwMode="blackWhite">
          <a:xfrm>
            <a:off x="602680" y="1492161"/>
            <a:ext cx="8001315" cy="4659258"/>
          </a:xfrm>
          <a:prstGeom prst="rect">
            <a:avLst/>
          </a:prstGeom>
          <a:solidFill>
            <a:srgbClr val="4B84C9">
              <a:alpha val="50000"/>
            </a:srgbClr>
          </a:solidFill>
        </p:spPr>
        <p:txBody>
          <a:bodyPr tIns="90000">
            <a:normAutofit/>
          </a:bodyPr>
          <a:lstStyle>
            <a:lvl1pPr algn="l" rtl="0">
              <a:buFont typeface="Arial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482616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Snipp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611560" y="1494000"/>
            <a:ext cx="7992690" cy="2286000"/>
          </a:xfrm>
          <a:prstGeom prst="rect">
            <a:avLst/>
          </a:prstGeom>
          <a:solidFill>
            <a:schemeClr val="bg1">
              <a:alpha val="69000"/>
            </a:schemeClr>
          </a:solidFill>
        </p:spPr>
        <p:txBody>
          <a:bodyPr tIns="90000">
            <a:normAutofit/>
          </a:bodyPr>
          <a:lstStyle>
            <a:lvl1pPr marL="342900" indent="-342900" algn="l" rtl="0">
              <a:buFontTx/>
              <a:buBlip>
                <a:blip r:embed="rId2"/>
              </a:buBlip>
              <a:defRPr baseline="0">
                <a:latin typeface="Segoe" panose="020B0502040504020203" pitchFamily="34" charset="0"/>
              </a:defRPr>
            </a:lvl1pPr>
            <a:lvl2pPr marL="742950" indent="-28575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2pPr>
            <a:lvl3pPr marL="11430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3pPr>
            <a:lvl4pPr marL="16002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4pPr>
            <a:lvl5pPr marL="20574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6"/>
          </p:nvPr>
        </p:nvSpPr>
        <p:spPr bwMode="blackWhite">
          <a:xfrm>
            <a:off x="602680" y="3873731"/>
            <a:ext cx="8001315" cy="2277687"/>
          </a:xfrm>
          <a:prstGeom prst="rect">
            <a:avLst/>
          </a:prstGeom>
          <a:solidFill>
            <a:srgbClr val="4B84C9">
              <a:alpha val="50000"/>
            </a:srgbClr>
          </a:solidFill>
        </p:spPr>
        <p:txBody>
          <a:bodyPr tIns="90000">
            <a:normAutofit/>
          </a:bodyPr>
          <a:lstStyle>
            <a:lvl1pPr algn="l" rtl="0">
              <a:buFont typeface="Arial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6" name="Picture 5" descr="code_2_small.jpg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333375" y="1371600"/>
            <a:ext cx="8505825" cy="2286000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323850" y="3867150"/>
            <a:ext cx="8515349" cy="2286000"/>
          </a:xfrm>
          <a:prstGeom prst="rect">
            <a:avLst/>
          </a:prstGeom>
          <a:gradFill>
            <a:gsLst>
              <a:gs pos="0">
                <a:srgbClr val="A6BEE8">
                  <a:alpha val="69804"/>
                </a:srgbClr>
              </a:gs>
              <a:gs pos="50000">
                <a:schemeClr val="accent1">
                  <a:tint val="44500"/>
                  <a:satMod val="160000"/>
                  <a:alpha val="70000"/>
                </a:schemeClr>
              </a:gs>
              <a:gs pos="100000">
                <a:schemeClr val="accent1">
                  <a:tint val="23500"/>
                  <a:satMod val="160000"/>
                  <a:alpha val="70000"/>
                </a:schemeClr>
              </a:gs>
            </a:gsLst>
            <a:lin ang="16200000" scaled="0"/>
          </a:gradFill>
          <a:ln w="1270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76200" dir="18900000" sy="23000" kx="-1200000" algn="bl" rotWithShape="0">
              <a:schemeClr val="accent1">
                <a:lumMod val="7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pic>
        <p:nvPicPr>
          <p:cNvPr id="9" name="Picture 8" descr="Code5copy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7010400" y="3817938"/>
            <a:ext cx="2345379" cy="914400"/>
          </a:xfrm>
          <a:prstGeom prst="rect">
            <a:avLst/>
          </a:prstGeom>
        </p:spPr>
      </p:pic>
      <p:pic>
        <p:nvPicPr>
          <p:cNvPr id="10" name="Picture 9" descr="logo_sela_college_shad6CM.gif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837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CodeSnipp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611560" y="1494000"/>
            <a:ext cx="7992690" cy="1502952"/>
          </a:xfrm>
          <a:prstGeom prst="rect">
            <a:avLst/>
          </a:prstGeom>
          <a:solidFill>
            <a:schemeClr val="bg1">
              <a:alpha val="69000"/>
            </a:schemeClr>
          </a:solidFill>
        </p:spPr>
        <p:txBody>
          <a:bodyPr tIns="90000">
            <a:normAutofit/>
          </a:bodyPr>
          <a:lstStyle>
            <a:lvl1pPr marL="342900" indent="-3429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1pPr>
            <a:lvl2pPr marL="742950" indent="-28575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2pPr>
            <a:lvl3pPr marL="11430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3pPr>
            <a:lvl4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4pPr>
            <a:lvl5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1" name="Text Placeholder 14"/>
          <p:cNvSpPr>
            <a:spLocks noGrp="1"/>
          </p:cNvSpPr>
          <p:nvPr>
            <p:ph type="body" sz="quarter" idx="16"/>
          </p:nvPr>
        </p:nvSpPr>
        <p:spPr bwMode="blackWhite">
          <a:xfrm>
            <a:off x="602680" y="3140969"/>
            <a:ext cx="8001315" cy="3010450"/>
          </a:xfrm>
          <a:prstGeom prst="rect">
            <a:avLst/>
          </a:prstGeom>
          <a:solidFill>
            <a:srgbClr val="4B84C9">
              <a:alpha val="50000"/>
            </a:srgbClr>
          </a:solidFill>
        </p:spPr>
        <p:txBody>
          <a:bodyPr tIns="90000">
            <a:normAutofit/>
          </a:bodyPr>
          <a:lstStyle>
            <a:lvl1pPr algn="l" rtl="0">
              <a:buFont typeface="Arial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6" name="Picture 5" descr="code_2_small.jp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333375" y="1371600"/>
            <a:ext cx="8505825" cy="1485896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323850" y="3071810"/>
            <a:ext cx="8515349" cy="3081340"/>
          </a:xfrm>
          <a:prstGeom prst="rect">
            <a:avLst/>
          </a:prstGeom>
          <a:gradFill>
            <a:gsLst>
              <a:gs pos="0">
                <a:srgbClr val="A6BEE8">
                  <a:alpha val="69804"/>
                </a:srgbClr>
              </a:gs>
              <a:gs pos="50000">
                <a:schemeClr val="accent1">
                  <a:tint val="44500"/>
                  <a:satMod val="160000"/>
                  <a:alpha val="70000"/>
                </a:schemeClr>
              </a:gs>
              <a:gs pos="100000">
                <a:schemeClr val="accent1">
                  <a:tint val="23500"/>
                  <a:satMod val="160000"/>
                  <a:alpha val="70000"/>
                </a:schemeClr>
              </a:gs>
            </a:gsLst>
            <a:lin ang="16200000" scaled="0"/>
          </a:gradFill>
          <a:ln w="1270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76200" dir="18900000" sy="23000" kx="-1200000" algn="bl" rotWithShape="0">
              <a:schemeClr val="accent1">
                <a:lumMod val="7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pic>
        <p:nvPicPr>
          <p:cNvPr id="9" name="Picture 8" descr="Code5copy.pn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7000892" y="2643182"/>
            <a:ext cx="2345379" cy="914400"/>
          </a:xfrm>
          <a:prstGeom prst="rect">
            <a:avLst/>
          </a:prstGeom>
        </p:spPr>
      </p:pic>
      <p:pic>
        <p:nvPicPr>
          <p:cNvPr id="10" name="Picture 9" descr="logo_sela_college_shad6CM.gif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676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CodeSnipp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611560" y="1494177"/>
            <a:ext cx="8004764" cy="1070904"/>
          </a:xfrm>
          <a:prstGeom prst="rect">
            <a:avLst/>
          </a:prstGeom>
          <a:solidFill>
            <a:schemeClr val="bg1">
              <a:alpha val="69000"/>
            </a:schemeClr>
          </a:solidFill>
        </p:spPr>
        <p:txBody>
          <a:bodyPr tIns="90000">
            <a:normAutofit/>
          </a:bodyPr>
          <a:lstStyle>
            <a:lvl1pPr marL="342900" indent="-342900" algn="l" rtl="0">
              <a:buFontTx/>
              <a:buBlip>
                <a:blip r:embed="rId2"/>
              </a:buBlip>
              <a:defRPr baseline="0">
                <a:latin typeface="Segoe" panose="020B0502040504020203" pitchFamily="34" charset="0"/>
              </a:defRPr>
            </a:lvl1pPr>
            <a:lvl2pPr marL="742950" indent="-28575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2pPr>
            <a:lvl3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3pPr>
            <a:lvl4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4pPr>
            <a:lvl5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Text Placeholder 14"/>
          <p:cNvSpPr>
            <a:spLocks noGrp="1"/>
          </p:cNvSpPr>
          <p:nvPr>
            <p:ph type="body" sz="quarter" idx="16"/>
          </p:nvPr>
        </p:nvSpPr>
        <p:spPr bwMode="blackWhite">
          <a:xfrm>
            <a:off x="611560" y="2630516"/>
            <a:ext cx="8013402" cy="1139423"/>
          </a:xfrm>
          <a:prstGeom prst="rect">
            <a:avLst/>
          </a:prstGeom>
          <a:solidFill>
            <a:srgbClr val="4B84C9">
              <a:alpha val="50000"/>
            </a:srgbClr>
          </a:solidFill>
        </p:spPr>
        <p:txBody>
          <a:bodyPr tIns="90000">
            <a:normAutofit/>
          </a:bodyPr>
          <a:lstStyle>
            <a:lvl1pPr algn="l" rtl="0">
              <a:buFont typeface="Arial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>
          <a:xfrm>
            <a:off x="611262" y="3835374"/>
            <a:ext cx="8013700" cy="1073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800" kern="1200" baseline="0" dirty="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342900" indent="-342900">
              <a:defRPr/>
            </a:lvl2pPr>
            <a:lvl3pPr marL="342900" indent="-342900">
              <a:defRPr/>
            </a:lvl3pPr>
            <a:lvl4pPr marL="342900" indent="-342900">
              <a:defRPr/>
            </a:lvl4pPr>
            <a:lvl5pPr marL="342900" indent="-342900">
              <a:defRPr/>
            </a:lvl5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611262" y="4973959"/>
            <a:ext cx="8013700" cy="1119187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txBody>
          <a:bodyPr/>
          <a:lstStyle>
            <a:lvl1pPr marL="0" indent="0"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 marL="0" indent="0">
              <a:defRPr/>
            </a:lvl2pPr>
            <a:lvl3pPr marL="0" indent="0">
              <a:defRPr/>
            </a:lvl3pPr>
            <a:lvl4pPr marL="0" indent="0">
              <a:defRPr/>
            </a:lvl4pPr>
            <a:lvl5pPr marL="0" indent="0">
              <a:defRPr/>
            </a:lvl5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smtClean="0"/>
              <a:t>Edit Master text styles</a:t>
            </a:r>
          </a:p>
        </p:txBody>
      </p:sp>
      <p:pic>
        <p:nvPicPr>
          <p:cNvPr id="8" name="Picture 7" descr="code_2_small.jp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333375" y="3786190"/>
            <a:ext cx="8505825" cy="127158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23850" y="5214950"/>
            <a:ext cx="8515349" cy="938200"/>
          </a:xfrm>
          <a:prstGeom prst="rect">
            <a:avLst/>
          </a:prstGeom>
          <a:gradFill>
            <a:gsLst>
              <a:gs pos="0">
                <a:srgbClr val="A6BEE8">
                  <a:alpha val="69804"/>
                </a:srgbClr>
              </a:gs>
              <a:gs pos="50000">
                <a:schemeClr val="accent1">
                  <a:tint val="44500"/>
                  <a:satMod val="160000"/>
                  <a:alpha val="70000"/>
                </a:schemeClr>
              </a:gs>
              <a:gs pos="100000">
                <a:schemeClr val="accent1">
                  <a:tint val="23500"/>
                  <a:satMod val="160000"/>
                  <a:alpha val="70000"/>
                </a:schemeClr>
              </a:gs>
            </a:gsLst>
            <a:lin ang="16200000" scaled="0"/>
          </a:gradFill>
          <a:ln w="1270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76200" dir="18900000" sy="23000" kx="-1200000" algn="bl" rotWithShape="0">
              <a:schemeClr val="accent1">
                <a:lumMod val="7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pic>
        <p:nvPicPr>
          <p:cNvPr id="11" name="Picture 10" descr="Code5copy.pn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7858148" y="5000636"/>
            <a:ext cx="1428760" cy="557035"/>
          </a:xfrm>
          <a:prstGeom prst="rect">
            <a:avLst/>
          </a:prstGeom>
        </p:spPr>
      </p:pic>
      <p:pic>
        <p:nvPicPr>
          <p:cNvPr id="12" name="Picture 11" descr="logo_sela_college_shad6CM.gif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385733" y="1276354"/>
            <a:ext cx="8505825" cy="127158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376208" y="2705114"/>
            <a:ext cx="8515349" cy="938200"/>
          </a:xfrm>
          <a:prstGeom prst="rect">
            <a:avLst/>
          </a:prstGeom>
          <a:gradFill>
            <a:gsLst>
              <a:gs pos="0">
                <a:srgbClr val="A6BEE8">
                  <a:alpha val="69804"/>
                </a:srgbClr>
              </a:gs>
              <a:gs pos="50000">
                <a:schemeClr val="accent1">
                  <a:tint val="44500"/>
                  <a:satMod val="160000"/>
                  <a:alpha val="70000"/>
                </a:schemeClr>
              </a:gs>
              <a:gs pos="100000">
                <a:schemeClr val="accent1">
                  <a:tint val="23500"/>
                  <a:satMod val="160000"/>
                  <a:alpha val="70000"/>
                </a:schemeClr>
              </a:gs>
            </a:gsLst>
            <a:lin ang="16200000" scaled="0"/>
          </a:gradFill>
          <a:ln w="1270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76200" dir="18900000" sy="23000" kx="-1200000" algn="bl" rotWithShape="0">
              <a:schemeClr val="accent1">
                <a:lumMod val="7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pic>
        <p:nvPicPr>
          <p:cNvPr id="15" name="Picture 14" descr="Code5copy.pn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7715240" y="2571744"/>
            <a:ext cx="1428760" cy="55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6131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403648" y="2492896"/>
            <a:ext cx="554510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Questions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1710" y="1988840"/>
            <a:ext cx="1532540" cy="2844235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pic>
        <p:nvPicPr>
          <p:cNvPr id="4" name="Picture 3" descr="questions_smll.jpg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Picture 4" descr="logo_sela_college_shad6CM.gif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302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1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 p14:presetBounceEnd="42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2.59259E-6 L -4.16667E-6 2.59259E-6 " pathEditMode="relative" rAng="0" ptsTypes="AA" p14:bounceEnd="42000">
                                          <p:cBhvr>
                                            <p:cTn id="13" dur="11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  <p:bldP spid="7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1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2.59259E-6 L -4.16667E-6 2.59259E-6 " pathEditMode="relative" rAng="0" ptsTypes="AA">
                                          <p:cBhvr>
                                            <p:cTn id="13" dur="11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  <p:bldP spid="7" grpId="1"/>
        </p:bldLst>
      </p:timing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11560" y="1492161"/>
            <a:ext cx="7992690" cy="467314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342900" indent="-342900" algn="l" rtl="0">
              <a:buSzPct val="75000"/>
              <a:buFontTx/>
              <a:buBlip>
                <a:blip r:embed="rId2"/>
              </a:buBlip>
              <a:defRPr sz="2800" b="0">
                <a:latin typeface="Segoe" panose="020B0502040504020203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4" name="Picture 3" descr="summary_small.jpg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333375" y="1371600"/>
            <a:ext cx="5838825" cy="4648200"/>
          </a:xfrm>
          <a:prstGeom prst="rect">
            <a:avLst/>
          </a:prstGeom>
          <a:solidFill>
            <a:schemeClr val="bg1">
              <a:alpha val="59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 dirty="0"/>
          </a:p>
        </p:txBody>
      </p:sp>
      <p:pic>
        <p:nvPicPr>
          <p:cNvPr id="7" name="Picture 6" descr="logo_sela_college_shad6CM.gif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6982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dule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11560" y="1492161"/>
            <a:ext cx="7992690" cy="467314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342900" indent="-342900" algn="l" rtl="0">
              <a:buSzPct val="75000"/>
              <a:buFontTx/>
              <a:buBlip>
                <a:blip r:embed="rId2"/>
              </a:buBlip>
              <a:defRPr sz="2800" b="0">
                <a:latin typeface="Segoe" panose="020B0502040504020203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5" name="Picture 4" descr="module_agenda_small.jpg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333375" y="1371600"/>
            <a:ext cx="4010025" cy="4648200"/>
          </a:xfrm>
          <a:prstGeom prst="rect">
            <a:avLst/>
          </a:prstGeom>
          <a:solidFill>
            <a:schemeClr val="bg1">
              <a:alpha val="59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pic>
        <p:nvPicPr>
          <p:cNvPr id="7" name="Picture 6" descr="logo_sela_college_shad6CM.gif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4259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7380312" y="2348344"/>
            <a:ext cx="1655516" cy="3900056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115888" indent="-115888" algn="l" rtl="0">
              <a:buFont typeface="Arial" pitchFamily="34" charset="0"/>
              <a:buChar char="•"/>
              <a:defRPr sz="1400"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611560" y="1524000"/>
            <a:ext cx="6553200" cy="4724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>
              <a:buFontTx/>
              <a:buBlip>
                <a:blip r:embed="rId2"/>
              </a:buBlip>
              <a:defRPr/>
            </a:lvl1pPr>
            <a:lvl2pPr marL="742950" indent="-285750" algn="l" rtl="0">
              <a:buFontTx/>
              <a:buBlip>
                <a:blip r:embed="rId2"/>
              </a:buBlip>
              <a:defRPr/>
            </a:lvl2pPr>
            <a:lvl3pPr marL="1143000" indent="-228600" algn="l" rtl="0">
              <a:buFontTx/>
              <a:buBlip>
                <a:blip r:embed="rId2"/>
              </a:buBlip>
              <a:defRPr/>
            </a:lvl3pPr>
            <a:lvl4pPr marL="1600200" indent="-228600" algn="l" rtl="0">
              <a:buFontTx/>
              <a:buBlip>
                <a:blip r:embed="rId2"/>
              </a:buBlip>
              <a:defRPr/>
            </a:lvl4pPr>
            <a:lvl5pPr marL="2057400" indent="-228600" algn="l" rtl="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9692" y="1524000"/>
            <a:ext cx="976164" cy="615553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  <p:txBody>
          <a:bodyPr vert="horz" wrap="square" lIns="0" tIns="0" rIns="0" bIns="0" rtlCol="0" anchor="t" anchorCtr="0">
            <a:spAutoFit/>
          </a:bodyPr>
          <a:lstStyle>
            <a:lvl1pPr>
              <a:spcBef>
                <a:spcPct val="0"/>
              </a:spcBef>
              <a:buNone/>
              <a:defRPr lang="en-US" sz="4000" b="0" dirty="0" smtClean="0">
                <a:ln w="3175">
                  <a:noFill/>
                </a:ln>
                <a:solidFill>
                  <a:srgbClr val="F08E1B"/>
                </a:solidFill>
                <a:effectLst/>
                <a:latin typeface="Segoe Light" panose="020B03020405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anose="020B0502040504020203" pitchFamily="34" charset="0"/>
                <a:cs typeface="Consolas" panose="020B0609020204030204" pitchFamily="49" charset="0"/>
              </a:rPr>
              <a:t>tips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090" y="1414674"/>
            <a:ext cx="938110" cy="938110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 dirty="0"/>
              <a:t>Click to add tips title</a:t>
            </a:r>
          </a:p>
        </p:txBody>
      </p:sp>
    </p:spTree>
    <p:extLst>
      <p:ext uri="{BB962C8B-B14F-4D97-AF65-F5344CB8AC3E}">
        <p14:creationId xmlns:p14="http://schemas.microsoft.com/office/powerpoint/2010/main" val="1922572949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955724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emo_page_small.jpg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7400" y="6392487"/>
            <a:ext cx="6172200" cy="328988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 smtClean="0"/>
              <a:t>© Copyright SELA software &amp; Education Labs Ltd. 14-18 Baruch Hirsch </a:t>
            </a:r>
            <a:r>
              <a:rPr lang="en-US" dirty="0" err="1" smtClean="0"/>
              <a:t>St.Bnei</a:t>
            </a:r>
            <a:r>
              <a:rPr lang="en-US" dirty="0" smtClean="0"/>
              <a:t> </a:t>
            </a:r>
            <a:r>
              <a:rPr lang="en-US" dirty="0" err="1" smtClean="0"/>
              <a:t>Brak</a:t>
            </a:r>
            <a:r>
              <a:rPr lang="en-US" dirty="0" smtClean="0"/>
              <a:t> 51202 Israel</a:t>
            </a:r>
            <a:endParaRPr lang="en-US" sz="900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9652" y="6356350"/>
            <a:ext cx="520616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logo_sela_college_shad6CM.gif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ab_small.jpg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7400" y="6392487"/>
            <a:ext cx="6172200" cy="328988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 smtClean="0"/>
              <a:t>© Copyright SELA software &amp; Education Labs Ltd. 14-18 Baruch Hirsch </a:t>
            </a:r>
            <a:r>
              <a:rPr lang="en-US" dirty="0" err="1" smtClean="0"/>
              <a:t>St.Bnei</a:t>
            </a:r>
            <a:r>
              <a:rPr lang="en-US" dirty="0" smtClean="0"/>
              <a:t> </a:t>
            </a:r>
            <a:r>
              <a:rPr lang="en-US" dirty="0" err="1" smtClean="0"/>
              <a:t>Brak</a:t>
            </a:r>
            <a:r>
              <a:rPr lang="en-US" dirty="0" smtClean="0"/>
              <a:t> 51202 Israel</a:t>
            </a:r>
            <a:endParaRPr lang="en-US" sz="900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09102" y="6356350"/>
            <a:ext cx="449178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logo_sela_college_shad6CM.gif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85720" y="3500446"/>
            <a:ext cx="4714908" cy="171450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clusion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onclusion_lab_small.jpg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7400" y="6392487"/>
            <a:ext cx="6172200" cy="328988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 smtClean="0"/>
              <a:t>© Copyright SELA software &amp; Education Labs Ltd. 14-18 Baruch Hirsch </a:t>
            </a:r>
            <a:r>
              <a:rPr lang="en-US" dirty="0" err="1" smtClean="0"/>
              <a:t>St.Bnei</a:t>
            </a:r>
            <a:r>
              <a:rPr lang="en-US" dirty="0" smtClean="0"/>
              <a:t> </a:t>
            </a:r>
            <a:r>
              <a:rPr lang="en-US" dirty="0" err="1" smtClean="0"/>
              <a:t>Brak</a:t>
            </a:r>
            <a:r>
              <a:rPr lang="en-US" dirty="0" smtClean="0"/>
              <a:t> 51202 Israel</a:t>
            </a:r>
            <a:endParaRPr lang="en-US" sz="900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80540" y="6356350"/>
            <a:ext cx="449178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logo_sela_college_shad6CM.gif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42844" y="4214818"/>
            <a:ext cx="4519448" cy="178594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clusion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K:\tmp\Eyal\Untitled-2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9525" y="-9525"/>
            <a:ext cx="9163050" cy="6877050"/>
          </a:xfrm>
          <a:prstGeom prst="rect">
            <a:avLst/>
          </a:prstGeom>
          <a:noFill/>
        </p:spPr>
      </p:pic>
      <p:pic>
        <p:nvPicPr>
          <p:cNvPr id="10" name="Picture 2" descr="K:\tmp\Eyal\Untitled-2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77602" y="-6920"/>
            <a:ext cx="9237333" cy="6876000"/>
          </a:xfrm>
          <a:prstGeom prst="rect">
            <a:avLst/>
          </a:prstGeom>
          <a:noFill/>
        </p:spPr>
      </p:pic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7400" y="6392487"/>
            <a:ext cx="6172200" cy="328988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 smtClean="0"/>
              <a:t>© Copyright SELA software &amp; Education Labs Ltd. 14-18 Baruch Hirsch </a:t>
            </a:r>
            <a:r>
              <a:rPr lang="en-US" dirty="0" err="1" smtClean="0"/>
              <a:t>St.Bnei</a:t>
            </a:r>
            <a:r>
              <a:rPr lang="en-US" dirty="0" smtClean="0"/>
              <a:t> </a:t>
            </a:r>
            <a:r>
              <a:rPr lang="en-US" dirty="0" err="1" smtClean="0"/>
              <a:t>Brak</a:t>
            </a:r>
            <a:r>
              <a:rPr lang="en-US" dirty="0" smtClean="0"/>
              <a:t> 51202 Israel</a:t>
            </a:r>
            <a:endParaRPr lang="en-US" sz="900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80540" y="6356350"/>
            <a:ext cx="449178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logo_sela_college_shad6CM.gif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42844" y="4214818"/>
            <a:ext cx="4519448" cy="178594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ulk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ode_1_small.jpg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-24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rt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333375" y="1371600"/>
            <a:ext cx="8429625" cy="4724400"/>
          </a:xfrm>
          <a:prstGeom prst="rect">
            <a:avLst/>
          </a:prstGeom>
          <a:solidFill>
            <a:schemeClr val="bg1">
              <a:alpha val="90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7400" y="6392487"/>
            <a:ext cx="6172200" cy="328988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 smtClean="0"/>
              <a:t>© Copyright SELA software &amp; Education Labs Ltd. 14-18 Baruch Hirsch </a:t>
            </a:r>
            <a:r>
              <a:rPr lang="en-US" dirty="0" err="1" smtClean="0"/>
              <a:t>St.Bnei</a:t>
            </a:r>
            <a:r>
              <a:rPr lang="en-US" dirty="0" smtClean="0"/>
              <a:t> </a:t>
            </a:r>
            <a:r>
              <a:rPr lang="en-US" dirty="0" err="1" smtClean="0"/>
              <a:t>Brak</a:t>
            </a:r>
            <a:r>
              <a:rPr lang="en-US" dirty="0" smtClean="0"/>
              <a:t> 51202 Israel</a:t>
            </a:r>
            <a:endParaRPr lang="en-US" sz="90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37664" y="6356350"/>
            <a:ext cx="4073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33375" y="1428736"/>
            <a:ext cx="8382029" cy="4643470"/>
          </a:xfrm>
          <a:prstGeom prst="rect">
            <a:avLst/>
          </a:prstGeom>
        </p:spPr>
        <p:txBody>
          <a:bodyPr>
            <a:normAutofit/>
          </a:bodyPr>
          <a:lstStyle>
            <a:lvl1pPr algn="l" rtl="0">
              <a:buNone/>
              <a:defRPr sz="1600" b="0">
                <a:latin typeface="Consolas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7" name="Picture 16" descr="Code5copy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6858000" y="1295400"/>
            <a:ext cx="2514600" cy="980375"/>
          </a:xfrm>
          <a:prstGeom prst="rect">
            <a:avLst/>
          </a:prstGeom>
        </p:spPr>
      </p:pic>
      <p:pic>
        <p:nvPicPr>
          <p:cNvPr id="11" name="Picture 10" descr="logo_sela_college_shad6CM.gif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deSnipp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ode_2_small.jpg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rt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333375" y="1371600"/>
            <a:ext cx="8505825" cy="2286000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7400" y="6392487"/>
            <a:ext cx="6172200" cy="328988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 smtClean="0"/>
              <a:t>© Copyright SELA software &amp; Education Labs Ltd. 14-18 Baruch Hirsch </a:t>
            </a:r>
            <a:r>
              <a:rPr lang="en-US" dirty="0" err="1" smtClean="0"/>
              <a:t>St.Bnei</a:t>
            </a:r>
            <a:r>
              <a:rPr lang="en-US" dirty="0" smtClean="0"/>
              <a:t> </a:t>
            </a:r>
            <a:r>
              <a:rPr lang="en-US" dirty="0" err="1" smtClean="0"/>
              <a:t>Brak</a:t>
            </a:r>
            <a:r>
              <a:rPr lang="en-US" dirty="0" smtClean="0"/>
              <a:t> 51202 Israel</a:t>
            </a:r>
            <a:endParaRPr lang="en-US" sz="90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37664" y="6356350"/>
            <a:ext cx="4073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323850" y="3867150"/>
            <a:ext cx="8515349" cy="2286000"/>
          </a:xfrm>
          <a:prstGeom prst="rect">
            <a:avLst/>
          </a:prstGeom>
          <a:gradFill>
            <a:gsLst>
              <a:gs pos="0">
                <a:srgbClr val="A6BEE8">
                  <a:alpha val="69804"/>
                </a:srgbClr>
              </a:gs>
              <a:gs pos="50000">
                <a:schemeClr val="accent1">
                  <a:tint val="44500"/>
                  <a:satMod val="160000"/>
                  <a:alpha val="70000"/>
                </a:schemeClr>
              </a:gs>
              <a:gs pos="100000">
                <a:schemeClr val="accent1">
                  <a:tint val="23500"/>
                  <a:satMod val="160000"/>
                  <a:alpha val="70000"/>
                </a:schemeClr>
              </a:gs>
            </a:gsLst>
            <a:lin ang="16200000" scaled="0"/>
          </a:gradFill>
          <a:ln w="1270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76200" dir="18900000" sy="23000" kx="-1200000" algn="bl" rotWithShape="0">
              <a:schemeClr val="accent1">
                <a:lumMod val="7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pic>
        <p:nvPicPr>
          <p:cNvPr id="18" name="Picture 17" descr="Code5copy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010400" y="3817938"/>
            <a:ext cx="2345379" cy="914400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304800" y="1371600"/>
            <a:ext cx="8534400" cy="2286000"/>
          </a:xfrm>
          <a:prstGeom prst="rect">
            <a:avLst/>
          </a:prstGeom>
        </p:spPr>
        <p:txBody>
          <a:bodyPr/>
          <a:lstStyle>
            <a:lvl1pPr algn="l" rtl="0">
              <a:buFontTx/>
              <a:buBlip>
                <a:blip r:embed="rId4"/>
              </a:buBlip>
              <a:defRPr/>
            </a:lvl1pPr>
            <a:lvl2pPr algn="l" rtl="0">
              <a:buFontTx/>
              <a:buBlip>
                <a:blip r:embed="rId5"/>
              </a:buBlip>
              <a:defRPr/>
            </a:lvl2pPr>
            <a:lvl3pPr algn="l" rtl="0">
              <a:buFontTx/>
              <a:buBlip>
                <a:blip r:embed="rId6"/>
              </a:buBlip>
              <a:defRPr/>
            </a:lvl3pPr>
            <a:lvl4pPr algn="l" rtl="0">
              <a:buFontTx/>
              <a:buBlip>
                <a:blip r:embed="rId6"/>
              </a:buBlip>
              <a:defRPr/>
            </a:lvl4pPr>
            <a:lvl5pPr algn="l" rtl="0">
              <a:buFontTx/>
              <a:buBlip>
                <a:blip r:embed="rId6"/>
              </a:buBlip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324196" y="3873731"/>
            <a:ext cx="8515004" cy="2277687"/>
          </a:xfrm>
          <a:prstGeom prst="rect">
            <a:avLst/>
          </a:prstGeom>
        </p:spPr>
        <p:txBody>
          <a:bodyPr>
            <a:normAutofit/>
          </a:bodyPr>
          <a:lstStyle>
            <a:lvl1pPr algn="l" rtl="0">
              <a:buFont typeface="Arial" pitchFamily="34" charset="0"/>
              <a:buNone/>
              <a:defRPr lang="en-US" sz="1800" b="1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2" name="Picture 11" descr="logo_sela_college_shad6CM.gif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CodeSnipp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ode_2_small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rt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333375" y="1371600"/>
            <a:ext cx="8505825" cy="1485896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7400" y="6392487"/>
            <a:ext cx="6172200" cy="328988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 smtClean="0"/>
              <a:t>© Copyright SELA software &amp; Education Labs Ltd. 14-18 Baruch Hirsch </a:t>
            </a:r>
            <a:r>
              <a:rPr lang="en-US" dirty="0" err="1" smtClean="0"/>
              <a:t>St.Bnei</a:t>
            </a:r>
            <a:r>
              <a:rPr lang="en-US" dirty="0" smtClean="0"/>
              <a:t> </a:t>
            </a:r>
            <a:r>
              <a:rPr lang="en-US" dirty="0" err="1" smtClean="0"/>
              <a:t>Brak</a:t>
            </a:r>
            <a:r>
              <a:rPr lang="en-US" dirty="0" smtClean="0"/>
              <a:t> 51202 Israel</a:t>
            </a:r>
            <a:endParaRPr lang="en-US" sz="90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37664" y="6356350"/>
            <a:ext cx="4073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323850" y="3071810"/>
            <a:ext cx="8515349" cy="3081340"/>
          </a:xfrm>
          <a:prstGeom prst="rect">
            <a:avLst/>
          </a:prstGeom>
          <a:gradFill>
            <a:gsLst>
              <a:gs pos="0">
                <a:srgbClr val="A6BEE8">
                  <a:alpha val="69804"/>
                </a:srgbClr>
              </a:gs>
              <a:gs pos="50000">
                <a:schemeClr val="accent1">
                  <a:tint val="44500"/>
                  <a:satMod val="160000"/>
                  <a:alpha val="70000"/>
                </a:schemeClr>
              </a:gs>
              <a:gs pos="100000">
                <a:schemeClr val="accent1">
                  <a:tint val="23500"/>
                  <a:satMod val="160000"/>
                  <a:alpha val="70000"/>
                </a:schemeClr>
              </a:gs>
            </a:gsLst>
            <a:lin ang="16200000" scaled="0"/>
          </a:gradFill>
          <a:ln w="1270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76200" dir="18900000" sy="23000" kx="-1200000" algn="bl" rotWithShape="0">
              <a:schemeClr val="accent1">
                <a:lumMod val="7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pic>
        <p:nvPicPr>
          <p:cNvPr id="18" name="Picture 17" descr="Code5copy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000892" y="2643182"/>
            <a:ext cx="2345379" cy="914400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304800" y="1371600"/>
            <a:ext cx="8534400" cy="1485896"/>
          </a:xfrm>
          <a:prstGeom prst="rect">
            <a:avLst/>
          </a:prstGeom>
        </p:spPr>
        <p:txBody>
          <a:bodyPr/>
          <a:lstStyle>
            <a:lvl1pPr algn="l" rtl="0">
              <a:buFontTx/>
              <a:buBlip>
                <a:blip r:embed="rId4"/>
              </a:buBlip>
              <a:defRPr/>
            </a:lvl1pPr>
            <a:lvl2pPr algn="l" rtl="0">
              <a:buFontTx/>
              <a:buBlip>
                <a:blip r:embed="rId5"/>
              </a:buBlip>
              <a:defRPr/>
            </a:lvl2pPr>
            <a:lvl3pPr algn="l" rtl="0">
              <a:buFontTx/>
              <a:buBlip>
                <a:blip r:embed="rId6"/>
              </a:buBlip>
              <a:defRPr/>
            </a:lvl3pPr>
            <a:lvl4pPr algn="l" rtl="0">
              <a:buFontTx/>
              <a:buNone/>
              <a:defRPr/>
            </a:lvl4pPr>
            <a:lvl5pPr algn="l" rtl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324196" y="3071811"/>
            <a:ext cx="8515004" cy="3079608"/>
          </a:xfrm>
          <a:prstGeom prst="rect">
            <a:avLst/>
          </a:prstGeom>
        </p:spPr>
        <p:txBody>
          <a:bodyPr>
            <a:normAutofit/>
          </a:bodyPr>
          <a:lstStyle>
            <a:lvl1pPr algn="l" rtl="0">
              <a:buFont typeface="Arial" pitchFamily="34" charset="0"/>
              <a:buNone/>
              <a:defRPr lang="en-US" sz="1600" b="1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2" name="Picture 11" descr="logo_sela_college_shad6CM.gif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CodeSnipp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ode_2_small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rt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333375" y="3786190"/>
            <a:ext cx="8505825" cy="127158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7400" y="6392487"/>
            <a:ext cx="6172200" cy="328988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 smtClean="0"/>
              <a:t>© Copyright SELA software &amp; Education Labs Ltd. 14-18 Baruch Hirsch </a:t>
            </a:r>
            <a:r>
              <a:rPr lang="en-US" dirty="0" err="1" smtClean="0"/>
              <a:t>St.Bnei</a:t>
            </a:r>
            <a:r>
              <a:rPr lang="en-US" dirty="0" smtClean="0"/>
              <a:t> </a:t>
            </a:r>
            <a:r>
              <a:rPr lang="en-US" dirty="0" err="1" smtClean="0"/>
              <a:t>Brak</a:t>
            </a:r>
            <a:r>
              <a:rPr lang="en-US" dirty="0" smtClean="0"/>
              <a:t> 51202 Israel</a:t>
            </a:r>
            <a:endParaRPr lang="en-US" sz="90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37664" y="6356350"/>
            <a:ext cx="4073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323850" y="5214950"/>
            <a:ext cx="8515349" cy="938200"/>
          </a:xfrm>
          <a:prstGeom prst="rect">
            <a:avLst/>
          </a:prstGeom>
          <a:gradFill>
            <a:gsLst>
              <a:gs pos="0">
                <a:srgbClr val="A6BEE8">
                  <a:alpha val="69804"/>
                </a:srgbClr>
              </a:gs>
              <a:gs pos="50000">
                <a:schemeClr val="accent1">
                  <a:tint val="44500"/>
                  <a:satMod val="160000"/>
                  <a:alpha val="70000"/>
                </a:schemeClr>
              </a:gs>
              <a:gs pos="100000">
                <a:schemeClr val="accent1">
                  <a:tint val="23500"/>
                  <a:satMod val="160000"/>
                  <a:alpha val="70000"/>
                </a:schemeClr>
              </a:gs>
            </a:gsLst>
            <a:lin ang="16200000" scaled="0"/>
          </a:gradFill>
          <a:ln w="1270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76200" dir="18900000" sy="23000" kx="-1200000" algn="bl" rotWithShape="0">
              <a:schemeClr val="accent1">
                <a:lumMod val="7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pic>
        <p:nvPicPr>
          <p:cNvPr id="18" name="Picture 17" descr="Code5copy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858148" y="5000636"/>
            <a:ext cx="1428760" cy="557035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304800" y="3786190"/>
            <a:ext cx="8534400" cy="1271582"/>
          </a:xfrm>
          <a:prstGeom prst="rect">
            <a:avLst/>
          </a:prstGeom>
        </p:spPr>
        <p:txBody>
          <a:bodyPr/>
          <a:lstStyle>
            <a:lvl1pPr algn="l" rtl="0">
              <a:buFontTx/>
              <a:buBlip>
                <a:blip r:embed="rId4"/>
              </a:buBlip>
              <a:defRPr/>
            </a:lvl1pPr>
            <a:lvl2pPr algn="l" rtl="0">
              <a:buFontTx/>
              <a:buBlip>
                <a:blip r:embed="rId5"/>
              </a:buBlip>
              <a:defRPr/>
            </a:lvl2pPr>
            <a:lvl3pPr algn="l" rtl="0">
              <a:buFontTx/>
              <a:buBlip>
                <a:blip r:embed="rId6"/>
              </a:buBlip>
              <a:defRPr/>
            </a:lvl3pPr>
            <a:lvl4pPr algn="l" rtl="0">
              <a:buFontTx/>
              <a:buNone/>
              <a:defRPr/>
            </a:lvl4pPr>
            <a:lvl5pPr algn="l" rtl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324196" y="5214949"/>
            <a:ext cx="8515004" cy="936469"/>
          </a:xfrm>
          <a:prstGeom prst="rect">
            <a:avLst/>
          </a:prstGeom>
        </p:spPr>
        <p:txBody>
          <a:bodyPr>
            <a:normAutofit/>
          </a:bodyPr>
          <a:lstStyle>
            <a:lvl1pPr algn="l" rtl="0">
              <a:buFont typeface="Arial" pitchFamily="34" charset="0"/>
              <a:buNone/>
              <a:defRPr lang="en-US" sz="1600" b="1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2" name="Picture 11" descr="logo_sela_college_shad6CM.gif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385733" y="1276354"/>
            <a:ext cx="8505825" cy="127158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376208" y="2705114"/>
            <a:ext cx="8515349" cy="938200"/>
          </a:xfrm>
          <a:prstGeom prst="rect">
            <a:avLst/>
          </a:prstGeom>
          <a:gradFill>
            <a:gsLst>
              <a:gs pos="0">
                <a:srgbClr val="A6BEE8">
                  <a:alpha val="69804"/>
                </a:srgbClr>
              </a:gs>
              <a:gs pos="50000">
                <a:schemeClr val="accent1">
                  <a:tint val="44500"/>
                  <a:satMod val="160000"/>
                  <a:alpha val="70000"/>
                </a:schemeClr>
              </a:gs>
              <a:gs pos="100000">
                <a:schemeClr val="accent1">
                  <a:tint val="23500"/>
                  <a:satMod val="160000"/>
                  <a:alpha val="70000"/>
                </a:schemeClr>
              </a:gs>
            </a:gsLst>
            <a:lin ang="16200000" scaled="0"/>
          </a:gradFill>
          <a:ln w="1270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76200" dir="18900000" sy="23000" kx="-1200000" algn="bl" rotWithShape="0">
              <a:schemeClr val="accent1">
                <a:lumMod val="7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357158" y="1276354"/>
            <a:ext cx="8534400" cy="1271582"/>
          </a:xfrm>
          <a:prstGeom prst="rect">
            <a:avLst/>
          </a:prstGeom>
        </p:spPr>
        <p:txBody>
          <a:bodyPr/>
          <a:lstStyle>
            <a:lvl1pPr algn="l" rtl="0">
              <a:buFontTx/>
              <a:buBlip>
                <a:blip r:embed="rId4"/>
              </a:buBlip>
              <a:defRPr/>
            </a:lvl1pPr>
            <a:lvl2pPr algn="l" rtl="0">
              <a:buFontTx/>
              <a:buBlip>
                <a:blip r:embed="rId5"/>
              </a:buBlip>
              <a:defRPr/>
            </a:lvl2pPr>
            <a:lvl3pPr algn="l" rtl="0">
              <a:buFontTx/>
              <a:buBlip>
                <a:blip r:embed="rId6"/>
              </a:buBlip>
              <a:defRPr/>
            </a:lvl3pPr>
            <a:lvl4pPr algn="l" rtl="0">
              <a:buFontTx/>
              <a:buNone/>
              <a:defRPr/>
            </a:lvl4pPr>
            <a:lvl5pPr algn="l" rtl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376554" y="2705113"/>
            <a:ext cx="8515004" cy="936469"/>
          </a:xfrm>
          <a:prstGeom prst="rect">
            <a:avLst/>
          </a:prstGeom>
        </p:spPr>
        <p:txBody>
          <a:bodyPr>
            <a:normAutofit/>
          </a:bodyPr>
          <a:lstStyle>
            <a:lvl1pPr algn="l" rtl="0">
              <a:buFont typeface="Arial" pitchFamily="34" charset="0"/>
              <a:buNone/>
              <a:defRPr lang="en-US" sz="1600" b="1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21" name="Picture 20" descr="Code5copy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715240" y="2571744"/>
            <a:ext cx="1428760" cy="5570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questions_smll.jpg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7400" y="6392487"/>
            <a:ext cx="6172200" cy="328988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 smtClean="0"/>
              <a:t>© Copyright SELA software &amp; Education Labs Ltd. 14-18 Baruch Hirsch </a:t>
            </a:r>
            <a:r>
              <a:rPr lang="en-US" dirty="0" err="1" smtClean="0"/>
              <a:t>St.Bnei</a:t>
            </a:r>
            <a:r>
              <a:rPr lang="en-US" dirty="0" smtClean="0"/>
              <a:t> </a:t>
            </a:r>
            <a:r>
              <a:rPr lang="en-US" dirty="0" err="1" smtClean="0"/>
              <a:t>Brak</a:t>
            </a:r>
            <a:r>
              <a:rPr lang="en-US" dirty="0" smtClean="0"/>
              <a:t> 51202 Israel</a:t>
            </a:r>
            <a:endParaRPr lang="en-US" sz="90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37664" y="6356350"/>
            <a:ext cx="4073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 descr="logo_sela_college_shad6CM.gif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ummary_small.jpg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rt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333375" y="1371600"/>
            <a:ext cx="5838825" cy="4648200"/>
          </a:xfrm>
          <a:prstGeom prst="rect">
            <a:avLst/>
          </a:prstGeom>
          <a:solidFill>
            <a:schemeClr val="bg1">
              <a:alpha val="59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7400" y="6392487"/>
            <a:ext cx="6172200" cy="328988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 smtClean="0"/>
              <a:t>© Copyright SELA software &amp; Education Labs Ltd. 14-18 Baruch Hirsch </a:t>
            </a:r>
            <a:r>
              <a:rPr lang="en-US" dirty="0" err="1" smtClean="0"/>
              <a:t>St.Bnei</a:t>
            </a:r>
            <a:r>
              <a:rPr lang="en-US" dirty="0" smtClean="0"/>
              <a:t> </a:t>
            </a:r>
            <a:r>
              <a:rPr lang="en-US" dirty="0" err="1" smtClean="0"/>
              <a:t>Brak</a:t>
            </a:r>
            <a:r>
              <a:rPr lang="en-US" dirty="0" smtClean="0"/>
              <a:t> 51202 Israel</a:t>
            </a:r>
            <a:endParaRPr lang="en-US" sz="90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37664" y="6356350"/>
            <a:ext cx="4073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33375" y="1371600"/>
            <a:ext cx="5851294" cy="4572000"/>
          </a:xfrm>
          <a:prstGeom prst="rect">
            <a:avLst/>
          </a:prstGeom>
        </p:spPr>
        <p:txBody>
          <a:bodyPr>
            <a:normAutofit/>
          </a:bodyPr>
          <a:lstStyle>
            <a:lvl1pPr algn="l" rtl="0">
              <a:buSzPct val="75000"/>
              <a:buFontTx/>
              <a:buBlip>
                <a:blip r:embed="rId3"/>
              </a:buBlip>
              <a:defRPr sz="2800" b="0"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1" name="Picture 10" descr="logo_sela_college_shad6CM.gif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odule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module_agenda_small.jpg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rt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333375" y="1371600"/>
            <a:ext cx="4010025" cy="4648200"/>
          </a:xfrm>
          <a:prstGeom prst="rect">
            <a:avLst/>
          </a:prstGeom>
          <a:solidFill>
            <a:schemeClr val="bg1">
              <a:alpha val="59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7400" y="6392487"/>
            <a:ext cx="6172200" cy="328988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 smtClean="0"/>
              <a:t>© Copyright SELA software &amp; Education Labs Ltd. 14-18 Baruch Hirsch </a:t>
            </a:r>
            <a:r>
              <a:rPr lang="en-US" dirty="0" err="1" smtClean="0"/>
              <a:t>St.Bnei</a:t>
            </a:r>
            <a:r>
              <a:rPr lang="en-US" dirty="0" smtClean="0"/>
              <a:t> </a:t>
            </a:r>
            <a:r>
              <a:rPr lang="en-US" dirty="0" err="1" smtClean="0"/>
              <a:t>Brak</a:t>
            </a:r>
            <a:r>
              <a:rPr lang="en-US" dirty="0" smtClean="0"/>
              <a:t> 51202 Israel</a:t>
            </a:r>
            <a:endParaRPr lang="en-US" sz="90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37664" y="6356350"/>
            <a:ext cx="4073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324195" y="1371600"/>
            <a:ext cx="4031674" cy="4648200"/>
          </a:xfrm>
          <a:prstGeom prst="rect">
            <a:avLst/>
          </a:prstGeom>
        </p:spPr>
        <p:txBody>
          <a:bodyPr>
            <a:normAutofit/>
          </a:bodyPr>
          <a:lstStyle>
            <a:lvl1pPr algn="l" rtl="0">
              <a:buFontTx/>
              <a:buBlip>
                <a:blip r:embed="rId3"/>
              </a:buBlip>
              <a:defRPr sz="2000"/>
            </a:lvl1pPr>
            <a:lvl2pPr algn="l" rtl="0">
              <a:buFontTx/>
              <a:buBlip>
                <a:blip r:embed="rId3"/>
              </a:buBlip>
              <a:defRPr sz="1800"/>
            </a:lvl2pPr>
            <a:lvl3pPr algn="l" rtl="0">
              <a:buNone/>
              <a:defRPr sz="1600"/>
            </a:lvl3pPr>
            <a:lvl4pPr>
              <a:buNone/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pic>
        <p:nvPicPr>
          <p:cNvPr id="12" name="Picture 11" descr="logo_sela_college_shad6CM.gif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ips_small.jpg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304800" y="1371600"/>
            <a:ext cx="6553200" cy="4724400"/>
          </a:xfrm>
          <a:prstGeom prst="rect">
            <a:avLst/>
          </a:prstGeom>
          <a:solidFill>
            <a:schemeClr val="bg1">
              <a:alpha val="40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rt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37664" y="6356350"/>
            <a:ext cx="4073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7162800" y="2514600"/>
            <a:ext cx="1676400" cy="457200"/>
          </a:xfrm>
          <a:prstGeom prst="rect">
            <a:avLst/>
          </a:prstGeom>
        </p:spPr>
        <p:txBody>
          <a:bodyPr/>
          <a:lstStyle>
            <a:lvl1pPr marL="233363" indent="339725">
              <a:buNone/>
              <a:defRPr sz="2000" b="1"/>
            </a:lvl1pPr>
            <a:lvl2pPr marL="233363" indent="-233363">
              <a:buFontTx/>
              <a:buBlip>
                <a:blip r:embed="rId3"/>
              </a:buBlip>
              <a:defRPr sz="1600" baseline="0"/>
            </a:lvl2pPr>
          </a:lstStyle>
          <a:p>
            <a:pPr lvl="0"/>
            <a:r>
              <a:rPr lang="en-US" dirty="0" smtClean="0"/>
              <a:t>Tips</a:t>
            </a:r>
          </a:p>
          <a:p>
            <a:pPr lvl="1"/>
            <a:endParaRPr lang="en-US" dirty="0" smtClean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7162800" y="3048000"/>
            <a:ext cx="1828800" cy="1676400"/>
          </a:xfrm>
          <a:prstGeom prst="rect">
            <a:avLst/>
          </a:prstGeom>
        </p:spPr>
        <p:txBody>
          <a:bodyPr>
            <a:normAutofit/>
          </a:bodyPr>
          <a:lstStyle>
            <a:lvl1pPr marL="115888" indent="-115888">
              <a:buFont typeface="Arial" pitchFamily="34" charset="0"/>
              <a:buChar char="•"/>
              <a:defRPr sz="14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7400" y="6392487"/>
            <a:ext cx="6172200" cy="328988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 smtClean="0"/>
              <a:t>© Copyright SELA software &amp; Education Labs Ltd. 14-18 Baruch Hirsch </a:t>
            </a:r>
            <a:r>
              <a:rPr lang="en-US" dirty="0" err="1" smtClean="0"/>
              <a:t>St.Bnei</a:t>
            </a:r>
            <a:r>
              <a:rPr lang="en-US" dirty="0" smtClean="0"/>
              <a:t> </a:t>
            </a:r>
            <a:r>
              <a:rPr lang="en-US" dirty="0" err="1" smtClean="0"/>
              <a:t>Brak</a:t>
            </a:r>
            <a:r>
              <a:rPr lang="en-US" dirty="0" smtClean="0"/>
              <a:t> 51202 Israel</a:t>
            </a:r>
            <a:endParaRPr lang="en-US" sz="900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304800" y="1371600"/>
            <a:ext cx="6553200" cy="4724400"/>
          </a:xfrm>
          <a:prstGeom prst="rect">
            <a:avLst/>
          </a:prstGeom>
        </p:spPr>
        <p:txBody>
          <a:bodyPr/>
          <a:lstStyle>
            <a:lvl1pPr algn="l" rtl="0">
              <a:buFontTx/>
              <a:buBlip>
                <a:blip r:embed="rId4"/>
              </a:buBlip>
              <a:defRPr/>
            </a:lvl1pPr>
            <a:lvl2pPr algn="l" rtl="0">
              <a:buFontTx/>
              <a:buBlip>
                <a:blip r:embed="rId4"/>
              </a:buBlip>
              <a:defRPr/>
            </a:lvl2pPr>
            <a:lvl3pPr algn="l" rtl="0">
              <a:buFontTx/>
              <a:buBlip>
                <a:blip r:embed="rId4"/>
              </a:buBlip>
              <a:defRPr/>
            </a:lvl3pPr>
            <a:lvl4pPr algn="l" rtl="0">
              <a:buFontTx/>
              <a:buBlip>
                <a:blip r:embed="rId4"/>
              </a:buBlip>
              <a:defRPr/>
            </a:lvl4pPr>
            <a:lvl5pPr algn="l" rtl="0">
              <a:buFontTx/>
              <a:buBlip>
                <a:blip r:embed="rId4"/>
              </a:buBlip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13" name="Picture 12" descr="logo_sela_college_shad6CM.gif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476672"/>
            <a:ext cx="8424268" cy="1015489"/>
          </a:xfrm>
          <a:prstGeom prst="rect">
            <a:avLst/>
          </a:prstGeom>
          <a:ln>
            <a:noFill/>
          </a:ln>
          <a:effectLst/>
        </p:spPr>
        <p:txBody>
          <a:bodyPr vert="horz" lIns="0" tIns="0" rIns="91440" bIns="45720" rtlCol="0" anchor="t" anchorCtr="0">
            <a:normAutofit/>
          </a:bodyPr>
          <a:lstStyle/>
          <a:p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611188" y="6309320"/>
            <a:ext cx="7951904" cy="1578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132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51" r:id="rId17"/>
    <p:sldLayoutId id="2147483668" r:id="rId18"/>
    <p:sldLayoutId id="2147483669" r:id="rId19"/>
    <p:sldLayoutId id="2147483672" r:id="rId20"/>
    <p:sldLayoutId id="2147483660" r:id="rId21"/>
    <p:sldLayoutId id="2147483661" r:id="rId22"/>
    <p:sldLayoutId id="2147483670" r:id="rId23"/>
    <p:sldLayoutId id="2147483671" r:id="rId24"/>
    <p:sldLayoutId id="2147483662" r:id="rId25"/>
    <p:sldLayoutId id="2147483663" r:id="rId26"/>
    <p:sldLayoutId id="2147483666" r:id="rId27"/>
    <p:sldLayoutId id="2147483665" r:id="rId28"/>
  </p:sldLayoutIdLst>
  <p:hf hdr="0" dt="0"/>
  <p:txStyles>
    <p:titleStyle>
      <a:lvl1pPr algn="l" defTabSz="914400" rtl="1" eaLnBrk="1" latinLnBrk="0" hangingPunct="1">
        <a:spcBef>
          <a:spcPct val="0"/>
        </a:spcBef>
        <a:buNone/>
        <a:defRPr lang="en-US" sz="4000" b="0" kern="1200" dirty="0" smtClean="0">
          <a:ln w="3175">
            <a:noFill/>
          </a:ln>
          <a:solidFill>
            <a:srgbClr val="F08E1B"/>
          </a:solidFill>
          <a:effectLst/>
          <a:latin typeface="Segoe Light" panose="020B0302040504020203" pitchFamily="34" charset="0"/>
          <a:ea typeface="+mn-ea"/>
          <a:cs typeface="Segoe UI" panose="020B0502040204020203" pitchFamily="34" charset="0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064">
          <p15:clr>
            <a:srgbClr val="F26B43"/>
          </p15:clr>
        </p15:guide>
        <p15:guide id="3" pos="54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0" tIns="34275" rIns="68569" bIns="34275" rtlCol="0" anchor="t" anchorCtr="0">
            <a:noAutofit/>
          </a:bodyPr>
          <a:lstStyle/>
          <a:p>
            <a:pPr rtl="0">
              <a:spcBef>
                <a:spcPts val="0"/>
              </a:spcBef>
              <a:buClr>
                <a:srgbClr val="F08E1B"/>
              </a:buClr>
              <a:buSzPct val="25000"/>
            </a:pPr>
            <a:r>
              <a:rPr lang="en-US" sz="3000" dirty="0"/>
              <a:t>MongoDB for Developers</a:t>
            </a:r>
            <a:br>
              <a:rPr lang="en-US" sz="3000" dirty="0"/>
            </a:br>
            <a:r>
              <a:rPr lang="en-US" sz="3000" dirty="0"/>
              <a:t/>
            </a:r>
            <a:br>
              <a:rPr lang="en-US" sz="3000" dirty="0"/>
            </a:br>
            <a:r>
              <a:rPr lang="en-US" sz="3000" dirty="0"/>
              <a:t/>
            </a:r>
            <a:br>
              <a:rPr lang="en-US" sz="3000" dirty="0"/>
            </a:b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Module 03 – CRUD operations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647457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Create/Insert </a:t>
            </a:r>
            <a:r>
              <a:rPr lang="en-US" dirty="0"/>
              <a:t>Operations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/>
              <a:t>MongoDB has the following functions for inserting documents (functions names are for mongo shell):</a:t>
            </a:r>
          </a:p>
          <a:p>
            <a:pPr lvl="1"/>
            <a:r>
              <a:rPr lang="en-US" dirty="0" err="1" smtClean="0"/>
              <a:t>insertOne</a:t>
            </a:r>
            <a:r>
              <a:rPr lang="en-US" dirty="0" smtClean="0"/>
              <a:t> – inserts single document to a collection</a:t>
            </a:r>
          </a:p>
          <a:p>
            <a:pPr lvl="1"/>
            <a:r>
              <a:rPr lang="en-US" dirty="0" err="1" smtClean="0"/>
              <a:t>insertMany</a:t>
            </a:r>
            <a:r>
              <a:rPr lang="en-US" dirty="0" smtClean="0"/>
              <a:t>  </a:t>
            </a:r>
            <a:r>
              <a:rPr lang="en-US" dirty="0"/>
              <a:t>– inserts </a:t>
            </a:r>
            <a:r>
              <a:rPr lang="en-US" dirty="0" smtClean="0"/>
              <a:t>several documents </a:t>
            </a:r>
            <a:r>
              <a:rPr lang="en-US" dirty="0"/>
              <a:t>to a collection</a:t>
            </a:r>
            <a:endParaRPr lang="en-US" dirty="0" smtClean="0"/>
          </a:p>
          <a:p>
            <a:pPr lvl="1"/>
            <a:r>
              <a:rPr lang="en-US" dirty="0" smtClean="0"/>
              <a:t>insert – inserts </a:t>
            </a:r>
            <a:r>
              <a:rPr lang="en-US" dirty="0"/>
              <a:t>single document or </a:t>
            </a:r>
            <a:r>
              <a:rPr lang="en-US" dirty="0" smtClean="0"/>
              <a:t>an array </a:t>
            </a:r>
            <a:r>
              <a:rPr lang="en-US" dirty="0"/>
              <a:t>of </a:t>
            </a:r>
            <a:r>
              <a:rPr lang="en-US" dirty="0" smtClean="0"/>
              <a:t>documents</a:t>
            </a:r>
          </a:p>
          <a:p>
            <a:pPr lvl="1"/>
            <a:endParaRPr lang="en-US" dirty="0" smtClean="0"/>
          </a:p>
          <a:p>
            <a:r>
              <a:rPr lang="en-US" sz="2400" dirty="0"/>
              <a:t>If the collection does not </a:t>
            </a:r>
            <a:r>
              <a:rPr lang="en-US" sz="2400" dirty="0" smtClean="0"/>
              <a:t>exists, </a:t>
            </a:r>
            <a:r>
              <a:rPr lang="en-US" sz="2400" dirty="0"/>
              <a:t>insert operations will create the </a:t>
            </a:r>
            <a:r>
              <a:rPr lang="en-US" sz="2400" dirty="0" smtClean="0"/>
              <a:t>collection</a:t>
            </a:r>
          </a:p>
          <a:p>
            <a:r>
              <a:rPr lang="en-US" sz="2400" dirty="0" smtClean="0"/>
              <a:t>For Python the names are: </a:t>
            </a:r>
            <a:r>
              <a:rPr lang="en-US" sz="2400" dirty="0" err="1" smtClean="0"/>
              <a:t>insert_one</a:t>
            </a:r>
            <a:r>
              <a:rPr lang="en-US" sz="2400" dirty="0" smtClean="0"/>
              <a:t>, </a:t>
            </a:r>
            <a:r>
              <a:rPr lang="en-US" sz="2400" dirty="0" err="1" smtClean="0"/>
              <a:t>insert_many</a:t>
            </a:r>
            <a:r>
              <a:rPr lang="en-US" sz="2400" dirty="0" smtClean="0"/>
              <a:t>, insert</a:t>
            </a:r>
            <a:r>
              <a:rPr lang="he-IL" sz="2400" dirty="0" smtClean="0"/>
              <a:t> </a:t>
            </a:r>
            <a:r>
              <a:rPr lang="en-US" sz="2400" dirty="0"/>
              <a:t>respectively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 smtClean="0"/>
              <a:t>© Copyright SELA software &amp; Education Labs Ltd. 14-18 Baruch Hirsch </a:t>
            </a:r>
            <a:r>
              <a:rPr lang="en-US" sz="1200" dirty="0" err="1" smtClean="0"/>
              <a:t>St.Bnei</a:t>
            </a:r>
            <a:r>
              <a:rPr lang="en-US" sz="1200" dirty="0" smtClean="0"/>
              <a:t> </a:t>
            </a:r>
            <a:r>
              <a:rPr lang="en-US" sz="1200" dirty="0" err="1" smtClean="0"/>
              <a:t>Brak</a:t>
            </a:r>
            <a:r>
              <a:rPr lang="en-US" sz="1200" dirty="0" smtClean="0"/>
              <a:t> 51202 Israel</a:t>
            </a: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499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 single Document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270247"/>
            <a:ext cx="8227640" cy="5327105"/>
          </a:xfrm>
        </p:spPr>
        <p:txBody>
          <a:bodyPr>
            <a:normAutofit fontScale="70000" lnSpcReduction="20000"/>
          </a:bodyPr>
          <a:lstStyle/>
          <a:p>
            <a:r>
              <a:rPr lang="en-US" sz="3400" u="sng" dirty="0" err="1" smtClean="0"/>
              <a:t>mondo</a:t>
            </a:r>
            <a:r>
              <a:rPr lang="en-US" sz="3400" u="sng" dirty="0" smtClean="0"/>
              <a:t> shell</a:t>
            </a:r>
            <a:r>
              <a:rPr lang="en-US" sz="3400" dirty="0" smtClean="0"/>
              <a:t>:</a:t>
            </a:r>
          </a:p>
          <a:p>
            <a:pPr marL="0" indent="0">
              <a:buNone/>
            </a:pPr>
            <a:r>
              <a:rPr lang="en-US" sz="3100" dirty="0" err="1" smtClean="0"/>
              <a:t>db.library.insertOne</a:t>
            </a:r>
            <a:r>
              <a:rPr lang="en-US" sz="3100" dirty="0"/>
              <a:t>( </a:t>
            </a:r>
            <a:r>
              <a:rPr lang="en-US" sz="3100" dirty="0" smtClean="0"/>
              <a:t>{</a:t>
            </a:r>
          </a:p>
          <a:p>
            <a:pPr marL="0" indent="0">
              <a:buNone/>
            </a:pPr>
            <a:r>
              <a:rPr lang="en-US" sz="3100" dirty="0" smtClean="0"/>
              <a:t>name : "20,000 </a:t>
            </a:r>
            <a:r>
              <a:rPr lang="en-US" sz="3100" dirty="0"/>
              <a:t>Leagues under the </a:t>
            </a:r>
            <a:r>
              <a:rPr lang="en-US" sz="3100" dirty="0" smtClean="0"/>
              <a:t>Sea",</a:t>
            </a:r>
          </a:p>
          <a:p>
            <a:pPr marL="0" indent="0">
              <a:buNone/>
            </a:pPr>
            <a:r>
              <a:rPr lang="en-US" sz="3100" dirty="0" smtClean="0"/>
              <a:t>author : "</a:t>
            </a:r>
            <a:r>
              <a:rPr lang="en-US" sz="3100" dirty="0"/>
              <a:t> Jules </a:t>
            </a:r>
            <a:r>
              <a:rPr lang="en-US" sz="3100" dirty="0" smtClean="0"/>
              <a:t>Verne", </a:t>
            </a:r>
          </a:p>
          <a:p>
            <a:pPr marL="0" indent="0">
              <a:buNone/>
            </a:pPr>
            <a:r>
              <a:rPr lang="en-US" sz="3100" dirty="0" smtClean="0"/>
              <a:t>fiction : [adventure, novel], </a:t>
            </a:r>
          </a:p>
          <a:p>
            <a:pPr marL="0" indent="0">
              <a:buNone/>
            </a:pPr>
            <a:r>
              <a:rPr lang="en-US" sz="3100" dirty="0" smtClean="0"/>
              <a:t>price : 87.60,  </a:t>
            </a:r>
          </a:p>
          <a:p>
            <a:pPr marL="0" indent="0">
              <a:buNone/>
            </a:pPr>
            <a:r>
              <a:rPr lang="en-US" sz="3100" dirty="0" smtClean="0"/>
              <a:t>content : {pages : 387, </a:t>
            </a:r>
            <a:r>
              <a:rPr lang="en-US" sz="3100" dirty="0" err="1" smtClean="0"/>
              <a:t>fontSize</a:t>
            </a:r>
            <a:r>
              <a:rPr lang="en-US" sz="3100" dirty="0" smtClean="0"/>
              <a:t> : 12, </a:t>
            </a:r>
            <a:r>
              <a:rPr lang="en-US" sz="3100" dirty="0" err="1" smtClean="0"/>
              <a:t>fontStyle</a:t>
            </a:r>
            <a:r>
              <a:rPr lang="en-US" sz="3100" dirty="0" smtClean="0"/>
              <a:t> : </a:t>
            </a:r>
            <a:r>
              <a:rPr lang="en-US" sz="3100" dirty="0"/>
              <a:t>"</a:t>
            </a:r>
            <a:r>
              <a:rPr lang="en-US" sz="3100" dirty="0" smtClean="0"/>
              <a:t>Ariel"}} </a:t>
            </a:r>
            <a:r>
              <a:rPr lang="en-US" sz="3100" dirty="0"/>
              <a:t>)</a:t>
            </a:r>
          </a:p>
          <a:p>
            <a:endParaRPr lang="en-US" sz="2000" dirty="0"/>
          </a:p>
          <a:p>
            <a:r>
              <a:rPr lang="en-US" sz="3400" u="sng" dirty="0" smtClean="0"/>
              <a:t>python example</a:t>
            </a:r>
          </a:p>
          <a:p>
            <a:pPr marL="0" indent="0">
              <a:buNone/>
            </a:pPr>
            <a:r>
              <a:rPr lang="en-US" sz="3100" dirty="0" err="1" smtClean="0"/>
              <a:t>db.library.insert_one</a:t>
            </a:r>
            <a:r>
              <a:rPr lang="en-US" sz="3100" dirty="0"/>
              <a:t>( {</a:t>
            </a:r>
          </a:p>
          <a:p>
            <a:pPr marL="0" indent="0">
              <a:buNone/>
            </a:pPr>
            <a:r>
              <a:rPr lang="en-US" sz="3100" dirty="0" smtClean="0"/>
              <a:t>"name" </a:t>
            </a:r>
            <a:r>
              <a:rPr lang="en-US" sz="3100" dirty="0"/>
              <a:t>: "20,000 Leagues under the Sea",</a:t>
            </a:r>
          </a:p>
          <a:p>
            <a:pPr marL="0" indent="0">
              <a:buNone/>
            </a:pPr>
            <a:r>
              <a:rPr lang="en-US" sz="3100" dirty="0" smtClean="0"/>
              <a:t>"author" </a:t>
            </a:r>
            <a:r>
              <a:rPr lang="en-US" sz="3100" dirty="0"/>
              <a:t>: " Jules Verne", </a:t>
            </a:r>
          </a:p>
          <a:p>
            <a:pPr marL="0" indent="0">
              <a:buNone/>
            </a:pPr>
            <a:r>
              <a:rPr lang="en-US" sz="3100" dirty="0" smtClean="0"/>
              <a:t>"fiction" </a:t>
            </a:r>
            <a:r>
              <a:rPr lang="en-US" sz="3100" dirty="0"/>
              <a:t>: [adventure, novel], </a:t>
            </a:r>
          </a:p>
          <a:p>
            <a:pPr marL="0" indent="0">
              <a:buNone/>
            </a:pPr>
            <a:r>
              <a:rPr lang="en-US" sz="3100" dirty="0" smtClean="0"/>
              <a:t>"price" </a:t>
            </a:r>
            <a:r>
              <a:rPr lang="en-US" sz="3100" dirty="0"/>
              <a:t>: 87.60,  </a:t>
            </a:r>
          </a:p>
          <a:p>
            <a:pPr marL="0" indent="0">
              <a:buNone/>
            </a:pPr>
            <a:r>
              <a:rPr lang="en-US" sz="3100" dirty="0" smtClean="0"/>
              <a:t>"content" </a:t>
            </a:r>
            <a:r>
              <a:rPr lang="en-US" sz="3100" dirty="0"/>
              <a:t>: </a:t>
            </a:r>
            <a:r>
              <a:rPr lang="en-US" sz="3100" dirty="0" smtClean="0"/>
              <a:t>{"pages" </a:t>
            </a:r>
            <a:r>
              <a:rPr lang="en-US" sz="3100" dirty="0"/>
              <a:t>: 387, </a:t>
            </a:r>
            <a:r>
              <a:rPr lang="en-US" sz="3100" dirty="0" smtClean="0"/>
              <a:t>"</a:t>
            </a:r>
            <a:r>
              <a:rPr lang="en-US" sz="3100" dirty="0" err="1" smtClean="0"/>
              <a:t>fontSize</a:t>
            </a:r>
            <a:r>
              <a:rPr lang="en-US" sz="3100" dirty="0" smtClean="0"/>
              <a:t>" </a:t>
            </a:r>
            <a:r>
              <a:rPr lang="en-US" sz="3100" dirty="0"/>
              <a:t>: 12, </a:t>
            </a:r>
            <a:r>
              <a:rPr lang="en-US" sz="3100" dirty="0" smtClean="0"/>
              <a:t>"</a:t>
            </a:r>
            <a:r>
              <a:rPr lang="en-US" sz="3100" dirty="0" err="1" smtClean="0"/>
              <a:t>fontStyle</a:t>
            </a:r>
            <a:r>
              <a:rPr lang="en-US" sz="3100" dirty="0" smtClean="0"/>
              <a:t>" </a:t>
            </a:r>
            <a:r>
              <a:rPr lang="en-US" sz="3100" dirty="0"/>
              <a:t>: "Ariel"}} 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 smtClean="0"/>
              <a:t>© Copyright SELA software &amp; Education Labs Ltd. 14-18 Baruch Hirsch </a:t>
            </a:r>
            <a:r>
              <a:rPr lang="en-US" sz="1200" dirty="0" err="1" smtClean="0"/>
              <a:t>St.Bnei</a:t>
            </a:r>
            <a:r>
              <a:rPr lang="en-US" sz="1200" dirty="0" smtClean="0"/>
              <a:t> </a:t>
            </a:r>
            <a:r>
              <a:rPr lang="en-US" sz="1200" dirty="0" err="1" smtClean="0"/>
              <a:t>Brak</a:t>
            </a:r>
            <a:r>
              <a:rPr lang="en-US" sz="1200" dirty="0" smtClean="0"/>
              <a:t> 51202 Israel</a:t>
            </a: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04448" y="6374606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08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Insert Multiple </a:t>
            </a:r>
            <a:r>
              <a:rPr lang="en-US" dirty="0" smtClean="0">
                <a:effectLst/>
              </a:rPr>
              <a:t>Documents – mongo shell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352" y="1235076"/>
            <a:ext cx="8534400" cy="5486399"/>
          </a:xfrm>
        </p:spPr>
        <p:txBody>
          <a:bodyPr>
            <a:normAutofit/>
          </a:bodyPr>
          <a:lstStyle/>
          <a:p>
            <a:r>
              <a:rPr lang="en-US" sz="2400" dirty="0" smtClean="0"/>
              <a:t>Mongo shell </a:t>
            </a:r>
          </a:p>
          <a:p>
            <a:pPr marL="0" indent="0">
              <a:buNone/>
            </a:pPr>
            <a:r>
              <a:rPr lang="en-US" sz="2100" dirty="0" err="1" smtClean="0"/>
              <a:t>db.library.insertMany</a:t>
            </a:r>
            <a:r>
              <a:rPr lang="en-US" sz="2100" dirty="0" smtClean="0"/>
              <a:t>([ </a:t>
            </a:r>
          </a:p>
          <a:p>
            <a:pPr marL="0" indent="0">
              <a:buNone/>
            </a:pPr>
            <a:r>
              <a:rPr lang="en-US" sz="2100" dirty="0" smtClean="0"/>
              <a:t>{ name : "20,000 Leagues under the Sea",</a:t>
            </a:r>
          </a:p>
          <a:p>
            <a:pPr marL="0" indent="0">
              <a:buNone/>
            </a:pPr>
            <a:r>
              <a:rPr lang="en-US" sz="2100" dirty="0" smtClean="0"/>
              <a:t>author : " Jules Verne", </a:t>
            </a:r>
          </a:p>
          <a:p>
            <a:pPr marL="0" indent="0">
              <a:buNone/>
            </a:pPr>
            <a:r>
              <a:rPr lang="en-US" sz="2100" dirty="0" smtClean="0"/>
              <a:t>fiction : [adventure, novel], </a:t>
            </a:r>
          </a:p>
          <a:p>
            <a:pPr marL="0" indent="0">
              <a:buNone/>
            </a:pPr>
            <a:r>
              <a:rPr lang="en-US" sz="2100" dirty="0" smtClean="0"/>
              <a:t>price : 87.60,  </a:t>
            </a:r>
          </a:p>
          <a:p>
            <a:pPr marL="0" indent="0">
              <a:buNone/>
            </a:pPr>
            <a:r>
              <a:rPr lang="en-US" sz="2100" dirty="0" smtClean="0"/>
              <a:t>content : {pages : 387, </a:t>
            </a:r>
            <a:r>
              <a:rPr lang="en-US" sz="2100" dirty="0" err="1" smtClean="0"/>
              <a:t>fontSize</a:t>
            </a:r>
            <a:r>
              <a:rPr lang="en-US" sz="2100" dirty="0" smtClean="0"/>
              <a:t> : 12, </a:t>
            </a:r>
            <a:r>
              <a:rPr lang="en-US" sz="2100" dirty="0" err="1" smtClean="0"/>
              <a:t>fontStyle</a:t>
            </a:r>
            <a:r>
              <a:rPr lang="en-US" sz="2100" dirty="0" smtClean="0"/>
              <a:t> : "Ariel"}},</a:t>
            </a:r>
          </a:p>
          <a:p>
            <a:pPr marL="0" indent="0">
              <a:buNone/>
            </a:pPr>
            <a:r>
              <a:rPr lang="en-US" sz="2100" dirty="0" smtClean="0"/>
              <a:t>{ name : " The Da Vinci Code",</a:t>
            </a:r>
          </a:p>
          <a:p>
            <a:pPr marL="0" indent="0">
              <a:buNone/>
            </a:pPr>
            <a:r>
              <a:rPr lang="en-US" sz="2100" dirty="0" smtClean="0"/>
              <a:t>author : " Dan Brown", </a:t>
            </a:r>
          </a:p>
          <a:p>
            <a:pPr marL="0" indent="0">
              <a:buNone/>
            </a:pPr>
            <a:r>
              <a:rPr lang="en-US" sz="2100" dirty="0" smtClean="0"/>
              <a:t>fiction : [mystery,  thriller, novel], </a:t>
            </a:r>
          </a:p>
          <a:p>
            <a:pPr marL="0" indent="0">
              <a:buNone/>
            </a:pPr>
            <a:r>
              <a:rPr lang="en-US" sz="2100" dirty="0" smtClean="0"/>
              <a:t>price : 42.90,  </a:t>
            </a:r>
          </a:p>
          <a:p>
            <a:pPr marL="0" indent="0">
              <a:buNone/>
            </a:pPr>
            <a:r>
              <a:rPr lang="en-US" sz="2100" dirty="0" err="1" smtClean="0"/>
              <a:t>minAge</a:t>
            </a:r>
            <a:r>
              <a:rPr lang="en-US" sz="2100" dirty="0" smtClean="0"/>
              <a:t> :  12</a:t>
            </a:r>
          </a:p>
          <a:p>
            <a:pPr marL="0" indent="0">
              <a:buNone/>
            </a:pPr>
            <a:r>
              <a:rPr lang="en-US" sz="2100" dirty="0" smtClean="0"/>
              <a:t>content : {pages : 454, </a:t>
            </a:r>
            <a:r>
              <a:rPr lang="en-US" sz="2100" dirty="0" err="1" smtClean="0"/>
              <a:t>fontSize</a:t>
            </a:r>
            <a:r>
              <a:rPr lang="en-US" sz="2100" dirty="0" smtClean="0"/>
              <a:t> : 12, </a:t>
            </a:r>
            <a:r>
              <a:rPr lang="en-US" sz="2100" dirty="0" err="1" smtClean="0"/>
              <a:t>fontStyle</a:t>
            </a:r>
            <a:r>
              <a:rPr lang="en-US" sz="2100" dirty="0" smtClean="0"/>
              <a:t> : "Ariel"}}])</a:t>
            </a:r>
            <a:endParaRPr lang="en-US" sz="21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 smtClean="0"/>
              <a:t>© Copyright SELA software &amp; Education Labs Ltd. 14-18 Baruch Hirsch </a:t>
            </a:r>
            <a:r>
              <a:rPr lang="en-US" sz="1200" dirty="0" err="1" smtClean="0"/>
              <a:t>St.Bnei</a:t>
            </a:r>
            <a:r>
              <a:rPr lang="en-US" sz="1200" dirty="0" smtClean="0"/>
              <a:t> </a:t>
            </a:r>
            <a:r>
              <a:rPr lang="en-US" sz="1200" dirty="0" err="1" smtClean="0"/>
              <a:t>Brak</a:t>
            </a:r>
            <a:r>
              <a:rPr lang="en-US" sz="1200" dirty="0" smtClean="0"/>
              <a:t> 51202 Israel</a:t>
            </a: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541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Insert Multiple </a:t>
            </a:r>
            <a:r>
              <a:rPr lang="en-US" dirty="0" smtClean="0">
                <a:effectLst/>
              </a:rPr>
              <a:t>Documents -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96752"/>
            <a:ext cx="8534400" cy="5486399"/>
          </a:xfrm>
        </p:spPr>
        <p:txBody>
          <a:bodyPr>
            <a:normAutofit/>
          </a:bodyPr>
          <a:lstStyle/>
          <a:p>
            <a:r>
              <a:rPr lang="en-US" sz="2400" dirty="0" smtClean="0"/>
              <a:t>Python</a:t>
            </a:r>
          </a:p>
          <a:p>
            <a:endParaRPr lang="en-US" sz="1400" dirty="0" smtClean="0"/>
          </a:p>
          <a:p>
            <a:pPr marL="0" indent="0">
              <a:buNone/>
            </a:pPr>
            <a:r>
              <a:rPr lang="en-US" sz="2400" dirty="0" err="1" smtClean="0"/>
              <a:t>insertManyRes</a:t>
            </a:r>
            <a:r>
              <a:rPr lang="en-US" sz="2400" dirty="0" smtClean="0"/>
              <a:t> = </a:t>
            </a:r>
            <a:r>
              <a:rPr lang="en-US" sz="2400" dirty="0" err="1" smtClean="0"/>
              <a:t>db.library.insert_many</a:t>
            </a:r>
            <a:r>
              <a:rPr lang="en-US" sz="2400" dirty="0" smtClean="0"/>
              <a:t>([ </a:t>
            </a:r>
          </a:p>
          <a:p>
            <a:pPr marL="0" indent="0">
              <a:buNone/>
            </a:pPr>
            <a:r>
              <a:rPr lang="en-US" sz="2400" dirty="0" smtClean="0"/>
              <a:t>{ "name" : "20,000 Leagues under the Sea",</a:t>
            </a:r>
          </a:p>
          <a:p>
            <a:pPr marL="0" indent="0">
              <a:buNone/>
            </a:pPr>
            <a:r>
              <a:rPr lang="en-US" sz="2400" dirty="0" smtClean="0"/>
              <a:t>……},</a:t>
            </a:r>
          </a:p>
          <a:p>
            <a:pPr marL="0" indent="0">
              <a:buNone/>
            </a:pPr>
            <a:r>
              <a:rPr lang="en-US" sz="2400" dirty="0" smtClean="0"/>
              <a:t>{ "name" : " The Da Vinci Code",</a:t>
            </a:r>
          </a:p>
          <a:p>
            <a:pPr marL="0" indent="0">
              <a:buNone/>
            </a:pPr>
            <a:r>
              <a:rPr lang="en-US" sz="2400" dirty="0" smtClean="0"/>
              <a:t>….}</a:t>
            </a:r>
          </a:p>
          <a:p>
            <a:pPr marL="0" indent="0">
              <a:buNone/>
            </a:pPr>
            <a:r>
              <a:rPr lang="en-US" sz="2400" dirty="0" smtClean="0"/>
              <a:t>])</a:t>
            </a:r>
          </a:p>
          <a:p>
            <a:pPr marL="0" indent="0">
              <a:buNone/>
            </a:pPr>
            <a:r>
              <a:rPr lang="en-US" sz="2400" dirty="0" smtClean="0"/>
              <a:t>print(</a:t>
            </a:r>
            <a:r>
              <a:rPr lang="en-US" sz="2400" dirty="0" err="1" smtClean="0"/>
              <a:t>insertManyRes</a:t>
            </a:r>
            <a:r>
              <a:rPr lang="en-US" sz="2400" dirty="0"/>
              <a:t>. </a:t>
            </a:r>
            <a:r>
              <a:rPr lang="en-US" sz="2400" dirty="0" err="1" smtClean="0"/>
              <a:t>inserted_ids</a:t>
            </a:r>
            <a:r>
              <a:rPr lang="en-US" sz="2400" dirty="0" smtClean="0"/>
              <a:t>)</a:t>
            </a:r>
          </a:p>
          <a:p>
            <a:pPr marL="0" indent="0">
              <a:buNone/>
            </a:pPr>
            <a:r>
              <a:rPr lang="en-US" sz="2400" dirty="0" smtClean="0"/>
              <a:t>	The output:</a:t>
            </a:r>
          </a:p>
          <a:p>
            <a:pPr marL="0" indent="0">
              <a:buNone/>
            </a:pPr>
            <a:r>
              <a:rPr lang="en-US" sz="2400" dirty="0" smtClean="0"/>
              <a:t>	[</a:t>
            </a:r>
            <a:r>
              <a:rPr lang="en-US" sz="2400" dirty="0" err="1" smtClean="0"/>
              <a:t>ObjectId</a:t>
            </a:r>
            <a:r>
              <a:rPr lang="en-US" sz="2400" dirty="0"/>
              <a:t>('5ac5250880d5591ddc607993'), </a:t>
            </a:r>
            <a:r>
              <a:rPr lang="en-US" sz="2400" dirty="0" smtClean="0"/>
              <a:t>	</a:t>
            </a:r>
            <a:r>
              <a:rPr lang="en-US" sz="2400" dirty="0" err="1" smtClean="0"/>
              <a:t>ObjectId</a:t>
            </a:r>
            <a:r>
              <a:rPr lang="en-US" sz="2400" dirty="0"/>
              <a:t>('5ac5250880d5591ddc607994')]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 smtClean="0"/>
              <a:t>© Copyright SELA software &amp; Education Labs Ltd. 14-18 Baruch Hirsch </a:t>
            </a:r>
            <a:r>
              <a:rPr lang="en-US" sz="1200" dirty="0" err="1" smtClean="0"/>
              <a:t>St.Bnei</a:t>
            </a:r>
            <a:r>
              <a:rPr lang="en-US" sz="1200" dirty="0" smtClean="0"/>
              <a:t> </a:t>
            </a:r>
            <a:r>
              <a:rPr lang="en-US" sz="1200" dirty="0" err="1" smtClean="0"/>
              <a:t>Brak</a:t>
            </a:r>
            <a:r>
              <a:rPr lang="en-US" sz="1200" dirty="0" smtClean="0"/>
              <a:t> 51202 Israel</a:t>
            </a: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33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</a:t>
            </a:r>
            <a:r>
              <a:rPr lang="en-US" dirty="0" smtClean="0"/>
              <a:t>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MongoDB provides the </a:t>
            </a:r>
            <a:r>
              <a:rPr lang="en-US" sz="2400" i="1" dirty="0" smtClean="0"/>
              <a:t>find</a:t>
            </a:r>
            <a:r>
              <a:rPr lang="en-US" sz="2400" dirty="0" smtClean="0"/>
              <a:t> methods </a:t>
            </a:r>
            <a:r>
              <a:rPr lang="en-US" sz="2400" dirty="0"/>
              <a:t>to read documents from a collection:</a:t>
            </a:r>
          </a:p>
          <a:p>
            <a:pPr marL="0" indent="0">
              <a:buNone/>
            </a:pPr>
            <a:r>
              <a:rPr lang="en-US" sz="2400" dirty="0" smtClean="0"/>
              <a:t>	</a:t>
            </a:r>
            <a:r>
              <a:rPr lang="en-US" sz="2400" i="1" dirty="0" err="1" smtClean="0"/>
              <a:t>db.collection.find</a:t>
            </a:r>
            <a:r>
              <a:rPr lang="en-US" sz="2400" i="1" dirty="0" smtClean="0"/>
              <a:t>()</a:t>
            </a:r>
          </a:p>
          <a:p>
            <a:pPr marL="0" indent="0">
              <a:buNone/>
            </a:pPr>
            <a:endParaRPr lang="en-US" sz="2400" i="1" dirty="0" smtClean="0"/>
          </a:p>
          <a:p>
            <a:r>
              <a:rPr lang="en-US" sz="2400" dirty="0" smtClean="0"/>
              <a:t>We can </a:t>
            </a:r>
            <a:r>
              <a:rPr lang="en-US" sz="2400" dirty="0"/>
              <a:t>specify query </a:t>
            </a:r>
            <a:r>
              <a:rPr lang="en-US" sz="2400" dirty="0" smtClean="0"/>
              <a:t>filter/s</a:t>
            </a:r>
            <a:r>
              <a:rPr lang="en-US" sz="2400" dirty="0"/>
              <a:t> that identify the documents to </a:t>
            </a:r>
            <a:r>
              <a:rPr lang="en-US" sz="2400" dirty="0" smtClean="0"/>
              <a:t>return</a:t>
            </a:r>
          </a:p>
          <a:p>
            <a:endParaRPr lang="en-US" sz="2400" dirty="0" smtClean="0"/>
          </a:p>
          <a:p>
            <a:r>
              <a:rPr lang="en-US" sz="2400" dirty="0" smtClean="0"/>
              <a:t>If no filter specified, all the documents for this collection returns</a:t>
            </a:r>
          </a:p>
          <a:p>
            <a:endParaRPr lang="en-US" sz="2400" dirty="0" smtClean="0"/>
          </a:p>
          <a:p>
            <a:r>
              <a:rPr lang="en-US" sz="2400" dirty="0" smtClean="0"/>
              <a:t>If query is specified, the </a:t>
            </a:r>
            <a:r>
              <a:rPr lang="en-US" sz="2400" i="1" dirty="0" smtClean="0"/>
              <a:t>find</a:t>
            </a:r>
            <a:r>
              <a:rPr lang="en-US" sz="2400" dirty="0" smtClean="0"/>
              <a:t> function returns all the documents that satisfy this query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 smtClean="0"/>
              <a:t>© Copyright SELA software &amp; Education Labs Ltd. 14-18 Baruch Hirsch </a:t>
            </a:r>
            <a:r>
              <a:rPr lang="en-US" sz="1200" dirty="0" err="1" smtClean="0"/>
              <a:t>St.Bnei</a:t>
            </a:r>
            <a:r>
              <a:rPr lang="en-US" sz="1200" dirty="0" smtClean="0"/>
              <a:t> </a:t>
            </a:r>
            <a:r>
              <a:rPr lang="en-US" sz="1200" dirty="0" err="1" smtClean="0"/>
              <a:t>Brak</a:t>
            </a:r>
            <a:r>
              <a:rPr lang="en-US" sz="1200" dirty="0" smtClean="0"/>
              <a:t> 51202 Israel</a:t>
            </a: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642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Query collection – make a 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839200" cy="4937719"/>
          </a:xfrm>
        </p:spPr>
        <p:txBody>
          <a:bodyPr>
            <a:normAutofit fontScale="85000" lnSpcReduction="20000"/>
          </a:bodyPr>
          <a:lstStyle/>
          <a:p>
            <a:r>
              <a:rPr lang="en-US" sz="2600" dirty="0" smtClean="0"/>
              <a:t>Lets perform the following input  first:</a:t>
            </a:r>
          </a:p>
          <a:p>
            <a:endParaRPr lang="en-US" sz="1900" dirty="0" smtClean="0"/>
          </a:p>
          <a:p>
            <a:pPr marL="0" indent="0">
              <a:buNone/>
            </a:pPr>
            <a:r>
              <a:rPr lang="en-US" sz="2600" dirty="0" err="1" smtClean="0"/>
              <a:t>db.library.insert_many</a:t>
            </a:r>
            <a:r>
              <a:rPr lang="en-US" sz="2600" dirty="0"/>
              <a:t>([ </a:t>
            </a:r>
          </a:p>
          <a:p>
            <a:pPr marL="0" indent="0">
              <a:buNone/>
            </a:pPr>
            <a:r>
              <a:rPr lang="en-US" sz="2600" dirty="0"/>
              <a:t>{"name" : "b1", "fiction" : ["adventure", "children", "classics"], "price": 60,  "content" : {"pages" : 230, "</a:t>
            </a:r>
            <a:r>
              <a:rPr lang="en-US" sz="2600" dirty="0" err="1"/>
              <a:t>fontSize</a:t>
            </a:r>
            <a:r>
              <a:rPr lang="en-US" sz="2600" dirty="0"/>
              <a:t>" : 14, "</a:t>
            </a:r>
            <a:r>
              <a:rPr lang="en-US" sz="2600" dirty="0" err="1"/>
              <a:t>hasPictures</a:t>
            </a:r>
            <a:r>
              <a:rPr lang="en-US" sz="2600" dirty="0"/>
              <a:t>": True}},</a:t>
            </a:r>
          </a:p>
          <a:p>
            <a:pPr marL="0" indent="0">
              <a:buNone/>
            </a:pPr>
            <a:r>
              <a:rPr lang="en-US" sz="2600" dirty="0"/>
              <a:t>{"name" : "b2", "fiction" : ["romance", "love"], "price" : 83, "content" : {"pages" : 473, "</a:t>
            </a:r>
            <a:r>
              <a:rPr lang="en-US" sz="2600" dirty="0" err="1"/>
              <a:t>fontSize</a:t>
            </a:r>
            <a:r>
              <a:rPr lang="en-US" sz="2600" dirty="0"/>
              <a:t>" : 12}},</a:t>
            </a:r>
          </a:p>
          <a:p>
            <a:pPr marL="0" indent="0">
              <a:buNone/>
            </a:pPr>
            <a:r>
              <a:rPr lang="en-US" sz="2600" dirty="0"/>
              <a:t>{"name" : "b3", "fiction" : ["babies", "children“, classics"], "price" : 60, "content" : {"pages" : 15, "</a:t>
            </a:r>
            <a:r>
              <a:rPr lang="en-US" sz="2600" dirty="0" err="1"/>
              <a:t>fontSize</a:t>
            </a:r>
            <a:r>
              <a:rPr lang="en-US" sz="2600" dirty="0"/>
              <a:t>" : 14, "</a:t>
            </a:r>
            <a:r>
              <a:rPr lang="en-US" sz="2600" dirty="0" err="1"/>
              <a:t>colorful":True</a:t>
            </a:r>
            <a:r>
              <a:rPr lang="en-US" sz="2600" dirty="0"/>
              <a:t>}},</a:t>
            </a:r>
          </a:p>
          <a:p>
            <a:pPr marL="0" indent="0">
              <a:buNone/>
            </a:pPr>
            <a:r>
              <a:rPr lang="en-US" sz="2600" dirty="0"/>
              <a:t>{"name" : "b4", "fiction" : ["mystery", "</a:t>
            </a:r>
            <a:r>
              <a:rPr lang="en-US" sz="2600" dirty="0" err="1"/>
              <a:t>paranormal","classics</a:t>
            </a:r>
            <a:r>
              <a:rPr lang="en-US" sz="2600" dirty="0"/>
              <a:t>"], "price" : 91, "</a:t>
            </a:r>
            <a:r>
              <a:rPr lang="en-US" sz="2600" dirty="0" err="1"/>
              <a:t>minAge</a:t>
            </a:r>
            <a:r>
              <a:rPr lang="en-US" sz="2600" dirty="0"/>
              <a:t>": 14},</a:t>
            </a:r>
          </a:p>
          <a:p>
            <a:pPr marL="0" indent="0">
              <a:buNone/>
            </a:pPr>
            <a:r>
              <a:rPr lang="en-US" sz="2600" dirty="0"/>
              <a:t>{"name" : "b5", "fiction" : ["love", "romance"], "price" : 23, "content" : {"pages" : 307, "</a:t>
            </a:r>
            <a:r>
              <a:rPr lang="en-US" sz="2600" dirty="0" err="1"/>
              <a:t>fontSize</a:t>
            </a:r>
            <a:r>
              <a:rPr lang="en-US" sz="2600" dirty="0"/>
              <a:t>" : 10</a:t>
            </a:r>
            <a:r>
              <a:rPr lang="en-US" sz="2600" dirty="0" smtClean="0"/>
              <a:t>}},</a:t>
            </a:r>
          </a:p>
          <a:p>
            <a:pPr marL="0" indent="0">
              <a:buNone/>
            </a:pPr>
            <a:r>
              <a:rPr lang="en-US" sz="2600" dirty="0"/>
              <a:t>{"name" : "b6", "fiction" : ["love", "romance", </a:t>
            </a:r>
            <a:r>
              <a:rPr lang="en-US" sz="2600" dirty="0" smtClean="0"/>
              <a:t>"comedy"], </a:t>
            </a:r>
            <a:r>
              <a:rPr lang="en-US" sz="2600" dirty="0"/>
              <a:t>"price" : </a:t>
            </a:r>
            <a:r>
              <a:rPr lang="en-US" sz="2600" dirty="0" smtClean="0"/>
              <a:t>44, </a:t>
            </a:r>
            <a:r>
              <a:rPr lang="en-US" sz="2600" dirty="0"/>
              <a:t>"content" : {"pages" : </a:t>
            </a:r>
            <a:r>
              <a:rPr lang="en-US" sz="2600" dirty="0" smtClean="0"/>
              <a:t>118, </a:t>
            </a:r>
            <a:r>
              <a:rPr lang="en-US" sz="2600" dirty="0"/>
              <a:t>"</a:t>
            </a:r>
            <a:r>
              <a:rPr lang="en-US" sz="2600" dirty="0" err="1"/>
              <a:t>fontSize</a:t>
            </a:r>
            <a:r>
              <a:rPr lang="en-US" sz="2600" dirty="0"/>
              <a:t>" : </a:t>
            </a:r>
            <a:r>
              <a:rPr lang="en-US" sz="2600" dirty="0" smtClean="0"/>
              <a:t>13}}</a:t>
            </a:r>
            <a:endParaRPr lang="en-US" sz="2600" dirty="0"/>
          </a:p>
          <a:p>
            <a:pPr marL="0" indent="0">
              <a:buNone/>
            </a:pPr>
            <a:r>
              <a:rPr lang="en-US" sz="2600" dirty="0" smtClean="0"/>
              <a:t>])</a:t>
            </a:r>
            <a:endParaRPr lang="en-US" sz="2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 smtClean="0"/>
              <a:t>© Copyright SELA software &amp; Education Labs Ltd. 14-18 Baruch Hirsch </a:t>
            </a:r>
            <a:r>
              <a:rPr lang="en-US" sz="1200" dirty="0" err="1" smtClean="0"/>
              <a:t>St.Bnei</a:t>
            </a:r>
            <a:r>
              <a:rPr lang="en-US" sz="1200" dirty="0" smtClean="0"/>
              <a:t> </a:t>
            </a:r>
            <a:r>
              <a:rPr lang="en-US" sz="1200" dirty="0" err="1" smtClean="0"/>
              <a:t>Brak</a:t>
            </a:r>
            <a:r>
              <a:rPr lang="en-US" sz="1200" dirty="0" smtClean="0"/>
              <a:t> 51202 Israel</a:t>
            </a: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927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</a:t>
            </a:r>
            <a:r>
              <a:rPr lang="en-US" dirty="0" smtClean="0"/>
              <a:t>collection - </a:t>
            </a:r>
            <a:r>
              <a:rPr lang="en-US" dirty="0"/>
              <a:t>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 smtClean="0"/>
              <a:t>Find all documents whose name is b1</a:t>
            </a:r>
          </a:p>
          <a:p>
            <a:endParaRPr lang="en-US" sz="2400" dirty="0" smtClean="0"/>
          </a:p>
          <a:p>
            <a:pPr marL="0" indent="0">
              <a:buNone/>
            </a:pPr>
            <a:r>
              <a:rPr lang="en-US" sz="2400" dirty="0" err="1" smtClean="0"/>
              <a:t>db.library.find</a:t>
            </a:r>
            <a:r>
              <a:rPr lang="en-US" sz="2400" dirty="0" smtClean="0"/>
              <a:t>({name:"b1"})</a:t>
            </a:r>
          </a:p>
          <a:p>
            <a:pPr marL="0" indent="0">
              <a:buNone/>
            </a:pPr>
            <a:r>
              <a:rPr lang="en-US" sz="2400" dirty="0" err="1" smtClean="0"/>
              <a:t>matchedDocuments</a:t>
            </a:r>
            <a:r>
              <a:rPr lang="en-US" sz="2400" dirty="0" smtClean="0"/>
              <a:t> = </a:t>
            </a:r>
            <a:r>
              <a:rPr lang="en-US" sz="2400" dirty="0" err="1"/>
              <a:t>db.library.find</a:t>
            </a:r>
            <a:r>
              <a:rPr lang="en-US" sz="2400" dirty="0"/>
              <a:t>({"name": "b1"})</a:t>
            </a:r>
            <a:br>
              <a:rPr lang="en-US" sz="2400" dirty="0"/>
            </a:br>
            <a:r>
              <a:rPr lang="en-US" sz="2400" dirty="0"/>
              <a:t>for </a:t>
            </a:r>
            <a:r>
              <a:rPr lang="en-US" sz="2400" dirty="0" smtClean="0"/>
              <a:t>doc </a:t>
            </a:r>
            <a:r>
              <a:rPr lang="en-US" sz="2400" dirty="0"/>
              <a:t>in </a:t>
            </a:r>
            <a:r>
              <a:rPr lang="en-US" sz="2400" dirty="0" err="1"/>
              <a:t>matchedDocuments</a:t>
            </a:r>
            <a:r>
              <a:rPr lang="en-US" sz="2400" dirty="0"/>
              <a:t> </a:t>
            </a:r>
            <a:r>
              <a:rPr lang="en-US" sz="2400" dirty="0" smtClean="0"/>
              <a:t>: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    </a:t>
            </a:r>
            <a:r>
              <a:rPr lang="en-US" sz="2400" dirty="0" smtClean="0"/>
              <a:t>print(doc)</a:t>
            </a:r>
          </a:p>
          <a:p>
            <a:pPr marL="0" indent="0">
              <a:buNone/>
            </a:pPr>
            <a:r>
              <a:rPr lang="en-US" sz="2400" dirty="0" smtClean="0"/>
              <a:t>The output:</a:t>
            </a:r>
          </a:p>
          <a:p>
            <a:pPr marL="0" indent="0">
              <a:buNone/>
            </a:pPr>
            <a:r>
              <a:rPr lang="en-US" sz="2400" dirty="0"/>
              <a:t>{'_id': </a:t>
            </a:r>
            <a:r>
              <a:rPr lang="en-US" sz="2400" dirty="0" err="1"/>
              <a:t>ObjectId</a:t>
            </a:r>
            <a:r>
              <a:rPr lang="en-US" sz="2400" dirty="0"/>
              <a:t>('5ac5400d80d5593ca08e4d80'), 'name': 'b1', 'fiction': ['adventure', 'children', 'classics'], 'price': 60, 'content': {'pages': 230, '</a:t>
            </a:r>
            <a:r>
              <a:rPr lang="en-US" sz="2400" dirty="0" err="1"/>
              <a:t>fontSize</a:t>
            </a:r>
            <a:r>
              <a:rPr lang="en-US" sz="2400" dirty="0"/>
              <a:t>': 14, '</a:t>
            </a:r>
            <a:r>
              <a:rPr lang="en-US" sz="2400" dirty="0" err="1"/>
              <a:t>hasPictures</a:t>
            </a:r>
            <a:r>
              <a:rPr lang="en-US" sz="2400" dirty="0"/>
              <a:t>': True}}</a:t>
            </a:r>
          </a:p>
          <a:p>
            <a:pPr marL="0" indent="0">
              <a:buNone/>
            </a:pPr>
            <a:r>
              <a:rPr lang="en-US" sz="2400" dirty="0" smtClean="0"/>
              <a:t> 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 smtClean="0"/>
              <a:t>© Copyright SELA software &amp; Education Labs Ltd. 14-18 Baruch Hirsch </a:t>
            </a:r>
            <a:r>
              <a:rPr lang="en-US" sz="1200" dirty="0" err="1" smtClean="0"/>
              <a:t>St.Bnei</a:t>
            </a:r>
            <a:r>
              <a:rPr lang="en-US" sz="1200" dirty="0" smtClean="0"/>
              <a:t> </a:t>
            </a:r>
            <a:r>
              <a:rPr lang="en-US" sz="1200" dirty="0" err="1" smtClean="0"/>
              <a:t>Brak</a:t>
            </a:r>
            <a:r>
              <a:rPr lang="en-US" sz="1200" dirty="0" smtClean="0"/>
              <a:t> 51202 Israel</a:t>
            </a: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176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</a:t>
            </a:r>
            <a:r>
              <a:rPr lang="en-US" dirty="0" smtClean="0"/>
              <a:t>collection - </a:t>
            </a:r>
            <a:r>
              <a:rPr lang="en-US" dirty="0"/>
              <a:t>example </a:t>
            </a:r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Find all documents whose </a:t>
            </a:r>
            <a:r>
              <a:rPr lang="en-US" dirty="0" smtClean="0"/>
              <a:t>price is 60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600" dirty="0" err="1" smtClean="0"/>
              <a:t>matchedDocuments</a:t>
            </a:r>
            <a:r>
              <a:rPr lang="en-US" sz="2600" dirty="0" smtClean="0"/>
              <a:t>  </a:t>
            </a:r>
            <a:r>
              <a:rPr lang="en-US" sz="2600" dirty="0"/>
              <a:t>= </a:t>
            </a:r>
            <a:r>
              <a:rPr lang="en-US" sz="2600" dirty="0" err="1"/>
              <a:t>db.library.find</a:t>
            </a:r>
            <a:r>
              <a:rPr lang="en-US" sz="2600" dirty="0"/>
              <a:t>({"price": 60})</a:t>
            </a:r>
            <a:br>
              <a:rPr lang="en-US" sz="2600" dirty="0"/>
            </a:br>
            <a:r>
              <a:rPr lang="en-US" sz="2600" dirty="0"/>
              <a:t>for </a:t>
            </a:r>
            <a:r>
              <a:rPr lang="en-US" sz="2600" dirty="0" err="1"/>
              <a:t>cnt</a:t>
            </a:r>
            <a:r>
              <a:rPr lang="en-US" sz="2600" dirty="0" smtClean="0"/>
              <a:t>, doc </a:t>
            </a:r>
            <a:r>
              <a:rPr lang="en-US" sz="2600" dirty="0"/>
              <a:t>in </a:t>
            </a:r>
            <a:r>
              <a:rPr lang="en-US" sz="2600" dirty="0" smtClean="0"/>
              <a:t>enumerate(</a:t>
            </a:r>
            <a:r>
              <a:rPr lang="en-US" sz="2600" dirty="0" err="1"/>
              <a:t>matchedDocuments</a:t>
            </a:r>
            <a:r>
              <a:rPr lang="en-US" sz="2600" dirty="0"/>
              <a:t> </a:t>
            </a:r>
            <a:r>
              <a:rPr lang="en-US" sz="2600" dirty="0" smtClean="0"/>
              <a:t>,</a:t>
            </a:r>
            <a:r>
              <a:rPr lang="en-US" sz="2600" dirty="0"/>
              <a:t>1):</a:t>
            </a:r>
            <a:br>
              <a:rPr lang="en-US" sz="2600" dirty="0"/>
            </a:br>
            <a:r>
              <a:rPr lang="en-US" sz="2600" dirty="0"/>
              <a:t>    print("{}) {}".format(</a:t>
            </a:r>
            <a:r>
              <a:rPr lang="en-US" sz="2600" dirty="0" err="1"/>
              <a:t>cnt,doc</a:t>
            </a:r>
            <a:r>
              <a:rPr lang="en-US" sz="2600" dirty="0"/>
              <a:t>))</a:t>
            </a:r>
            <a:br>
              <a:rPr lang="en-US" sz="2600" dirty="0"/>
            </a:br>
            <a:endParaRPr lang="en-US" sz="2600" dirty="0" smtClean="0"/>
          </a:p>
          <a:p>
            <a:pPr marL="0" indent="0">
              <a:buNone/>
            </a:pPr>
            <a:r>
              <a:rPr lang="en-US" sz="2600" dirty="0" smtClean="0"/>
              <a:t>The output:</a:t>
            </a:r>
          </a:p>
          <a:p>
            <a:pPr marL="0" indent="0">
              <a:buNone/>
            </a:pPr>
            <a:r>
              <a:rPr lang="en-US" sz="2600" dirty="0"/>
              <a:t>1) {'_id': </a:t>
            </a:r>
            <a:r>
              <a:rPr lang="en-US" sz="2600" dirty="0" err="1"/>
              <a:t>ObjectId</a:t>
            </a:r>
            <a:r>
              <a:rPr lang="en-US" sz="2600" dirty="0"/>
              <a:t>('5ac5466a80d55946b8a9e59e'), 'name': 'b1', 'fiction': ['adventure', 'children', 'classics'], 'price': 60, 'content': {'pages': 230, '</a:t>
            </a:r>
            <a:r>
              <a:rPr lang="en-US" sz="2600" dirty="0" err="1"/>
              <a:t>fontSize</a:t>
            </a:r>
            <a:r>
              <a:rPr lang="en-US" sz="2600" dirty="0"/>
              <a:t>': 14, '</a:t>
            </a:r>
            <a:r>
              <a:rPr lang="en-US" sz="2600" dirty="0" err="1"/>
              <a:t>hasPictures</a:t>
            </a:r>
            <a:r>
              <a:rPr lang="en-US" sz="2600" dirty="0"/>
              <a:t>': True}}</a:t>
            </a:r>
          </a:p>
          <a:p>
            <a:pPr marL="0" indent="0">
              <a:buNone/>
            </a:pPr>
            <a:r>
              <a:rPr lang="en-US" sz="2600" dirty="0"/>
              <a:t>2) {'_id': </a:t>
            </a:r>
            <a:r>
              <a:rPr lang="en-US" sz="2600" dirty="0" err="1"/>
              <a:t>ObjectId</a:t>
            </a:r>
            <a:r>
              <a:rPr lang="en-US" sz="2600" dirty="0"/>
              <a:t>('5ac5466a80d55946b8a9e5a0'), 'name': 'b3', 'fiction': ['babies', 'children'], 'price': 60, 'content': {'pages': 15, '</a:t>
            </a:r>
            <a:r>
              <a:rPr lang="en-US" sz="2600" dirty="0" err="1"/>
              <a:t>fontSize</a:t>
            </a:r>
            <a:r>
              <a:rPr lang="en-US" sz="2600" dirty="0"/>
              <a:t>': 14, 'colorful': True}}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 smtClean="0"/>
              <a:t>© Copyright SELA software &amp; Education Labs Ltd. 14-18 Baruch Hirsch </a:t>
            </a:r>
            <a:r>
              <a:rPr lang="en-US" sz="1200" dirty="0" err="1" smtClean="0"/>
              <a:t>St.Bnei</a:t>
            </a:r>
            <a:r>
              <a:rPr lang="en-US" sz="1200" dirty="0" smtClean="0"/>
              <a:t> </a:t>
            </a:r>
            <a:r>
              <a:rPr lang="en-US" sz="1200" dirty="0" err="1" smtClean="0"/>
              <a:t>Brak</a:t>
            </a:r>
            <a:r>
              <a:rPr lang="en-US" sz="1200" dirty="0" smtClean="0"/>
              <a:t> 51202 Israel</a:t>
            </a: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849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908800"/>
            <a:ext cx="7992888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Query </a:t>
            </a:r>
            <a:r>
              <a:rPr lang="en-US" dirty="0" smtClean="0"/>
              <a:t>collection – </a:t>
            </a:r>
            <a:r>
              <a:rPr lang="en-US" dirty="0">
                <a:effectLst/>
              </a:rPr>
              <a:t>Comparison Query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731641"/>
            <a:ext cx="8839200" cy="48657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syntax is </a:t>
            </a:r>
            <a:r>
              <a:rPr lang="en-US" sz="2000" i="1" dirty="0"/>
              <a:t>{field : {$relation : value</a:t>
            </a:r>
            <a:r>
              <a:rPr lang="en-US" sz="2000" i="1" dirty="0" smtClean="0"/>
              <a:t>}}</a:t>
            </a:r>
            <a:r>
              <a:rPr lang="en-US" sz="2000" dirty="0" smtClean="0"/>
              <a:t> where </a:t>
            </a:r>
            <a:r>
              <a:rPr lang="en-US" sz="2000" b="1" dirty="0" smtClean="0"/>
              <a:t>$</a:t>
            </a:r>
            <a:r>
              <a:rPr lang="en-US" sz="2000" b="1" dirty="0"/>
              <a:t>relation </a:t>
            </a:r>
            <a:r>
              <a:rPr lang="en-US" sz="2000" dirty="0" smtClean="0"/>
              <a:t>is one of the following:</a:t>
            </a:r>
          </a:p>
          <a:p>
            <a:pPr marL="0" indent="0">
              <a:buNone/>
            </a:pPr>
            <a:r>
              <a:rPr lang="en-US" sz="2000" b="1" dirty="0" smtClean="0"/>
              <a:t>$</a:t>
            </a:r>
            <a:r>
              <a:rPr lang="en-US" sz="2000" b="1" dirty="0" err="1" smtClean="0"/>
              <a:t>gt</a:t>
            </a:r>
            <a:r>
              <a:rPr lang="en-US" sz="2000" b="1" dirty="0" smtClean="0"/>
              <a:t> </a:t>
            </a:r>
            <a:r>
              <a:rPr lang="en-US" sz="2000" dirty="0" smtClean="0"/>
              <a:t>- 	matches </a:t>
            </a:r>
            <a:r>
              <a:rPr lang="en-US" sz="2000" dirty="0"/>
              <a:t>values that are greater than a specified value.</a:t>
            </a:r>
          </a:p>
          <a:p>
            <a:pPr marL="0" indent="0">
              <a:buNone/>
            </a:pPr>
            <a:r>
              <a:rPr lang="en-US" sz="2000" b="1" dirty="0"/>
              <a:t>$</a:t>
            </a:r>
            <a:r>
              <a:rPr lang="en-US" sz="2000" b="1" dirty="0" err="1"/>
              <a:t>gte</a:t>
            </a:r>
            <a:r>
              <a:rPr lang="en-US" sz="2000" b="1" dirty="0"/>
              <a:t> </a:t>
            </a:r>
            <a:r>
              <a:rPr lang="en-US" sz="2000" dirty="0" smtClean="0"/>
              <a:t>- 	matches </a:t>
            </a:r>
            <a:r>
              <a:rPr lang="en-US" sz="2000" dirty="0"/>
              <a:t>values that are greater than or equal to a specified value.</a:t>
            </a:r>
          </a:p>
          <a:p>
            <a:pPr marL="0" indent="0">
              <a:buNone/>
            </a:pPr>
            <a:r>
              <a:rPr lang="en-US" sz="2000" b="1" dirty="0"/>
              <a:t>$</a:t>
            </a:r>
            <a:r>
              <a:rPr lang="en-US" sz="2000" b="1" dirty="0" err="1"/>
              <a:t>lt</a:t>
            </a:r>
            <a:r>
              <a:rPr lang="en-US" sz="2000" b="1" dirty="0"/>
              <a:t> </a:t>
            </a:r>
            <a:r>
              <a:rPr lang="en-US" sz="2000" dirty="0" smtClean="0"/>
              <a:t>-	matches </a:t>
            </a:r>
            <a:r>
              <a:rPr lang="en-US" sz="2000" dirty="0"/>
              <a:t>values that are less than a specified value.</a:t>
            </a:r>
          </a:p>
          <a:p>
            <a:pPr marL="0" indent="0">
              <a:buNone/>
            </a:pPr>
            <a:r>
              <a:rPr lang="en-US" sz="2000" b="1" dirty="0"/>
              <a:t>$</a:t>
            </a:r>
            <a:r>
              <a:rPr lang="en-US" sz="2000" b="1" dirty="0" err="1"/>
              <a:t>lte</a:t>
            </a:r>
            <a:r>
              <a:rPr lang="en-US" sz="2000" b="1" dirty="0"/>
              <a:t> </a:t>
            </a:r>
            <a:r>
              <a:rPr lang="en-US" sz="2000" dirty="0" smtClean="0"/>
              <a:t>-</a:t>
            </a:r>
            <a:r>
              <a:rPr lang="en-US" sz="2000" dirty="0"/>
              <a:t>	</a:t>
            </a:r>
            <a:r>
              <a:rPr lang="en-US" sz="2000" dirty="0" smtClean="0"/>
              <a:t>matches </a:t>
            </a:r>
            <a:r>
              <a:rPr lang="en-US" sz="2000" dirty="0"/>
              <a:t>values that are less than or equal to a specified value.</a:t>
            </a:r>
          </a:p>
          <a:p>
            <a:pPr marL="0" indent="0">
              <a:buNone/>
            </a:pPr>
            <a:r>
              <a:rPr lang="en-US" sz="2000" b="1" dirty="0"/>
              <a:t>$ne </a:t>
            </a:r>
            <a:r>
              <a:rPr lang="en-US" sz="2000" dirty="0" smtClean="0"/>
              <a:t>- 	matches </a:t>
            </a:r>
            <a:r>
              <a:rPr lang="en-US" sz="2000" dirty="0"/>
              <a:t>all values that are not equal to a specified value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r>
              <a:rPr lang="en-US" sz="2000" b="1" dirty="0"/>
              <a:t>$in </a:t>
            </a:r>
            <a:r>
              <a:rPr lang="en-US" sz="2000" dirty="0"/>
              <a:t>- 	matches any of the values specified in an array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The mongo shell example:</a:t>
            </a:r>
          </a:p>
          <a:p>
            <a:pPr marL="0" indent="0">
              <a:buNone/>
            </a:pPr>
            <a:r>
              <a:rPr lang="en-US" sz="2000" dirty="0" smtClean="0"/>
              <a:t>	</a:t>
            </a:r>
            <a:r>
              <a:rPr lang="en-US" sz="2000" i="1" dirty="0" smtClean="0"/>
              <a:t>{ age : { $</a:t>
            </a:r>
            <a:r>
              <a:rPr lang="en-US" sz="2000" i="1" dirty="0" err="1" smtClean="0"/>
              <a:t>lt</a:t>
            </a:r>
            <a:r>
              <a:rPr lang="en-US" sz="2000" i="1" dirty="0" smtClean="0"/>
              <a:t> : 24 } } </a:t>
            </a:r>
            <a:r>
              <a:rPr lang="en-US" sz="2000" dirty="0" smtClean="0"/>
              <a:t>– finds all the documents where the field age 	has value, lower than 24</a:t>
            </a:r>
          </a:p>
          <a:p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 smtClean="0"/>
              <a:t>© Copyright SELA software &amp; Education Labs Ltd. 14-18 Baruch Hirsch </a:t>
            </a:r>
            <a:r>
              <a:rPr lang="en-US" sz="1200" dirty="0" err="1" smtClean="0"/>
              <a:t>St.Bnei</a:t>
            </a:r>
            <a:r>
              <a:rPr lang="en-US" sz="1200" dirty="0" smtClean="0"/>
              <a:t> </a:t>
            </a:r>
            <a:r>
              <a:rPr lang="en-US" sz="1200" dirty="0" err="1" smtClean="0"/>
              <a:t>Brak</a:t>
            </a:r>
            <a:r>
              <a:rPr lang="en-US" sz="1200" dirty="0" smtClean="0"/>
              <a:t> 51202 Israel</a:t>
            </a: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65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Query </a:t>
            </a:r>
            <a:r>
              <a:rPr lang="en-US" dirty="0" smtClean="0"/>
              <a:t>collection – </a:t>
            </a:r>
            <a:r>
              <a:rPr lang="en-US" dirty="0">
                <a:effectLst/>
              </a:rPr>
              <a:t>Comparison Query </a:t>
            </a:r>
            <a:r>
              <a:rPr lang="en-US" dirty="0" smtClean="0">
                <a:effectLst/>
              </a:rPr>
              <a:t>Operators - example</a:t>
            </a:r>
            <a:endParaRPr lang="en-US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Find all documents whose </a:t>
            </a:r>
            <a:r>
              <a:rPr lang="en-US" dirty="0" smtClean="0"/>
              <a:t>price is bigger than 70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600" dirty="0"/>
              <a:t>res = </a:t>
            </a:r>
            <a:r>
              <a:rPr lang="en-US" sz="2600" dirty="0" err="1"/>
              <a:t>db.library.find</a:t>
            </a:r>
            <a:r>
              <a:rPr lang="en-US" sz="2600" dirty="0"/>
              <a:t>({"price" : {"$</a:t>
            </a:r>
            <a:r>
              <a:rPr lang="en-US" sz="2600" dirty="0" err="1"/>
              <a:t>gt</a:t>
            </a:r>
            <a:r>
              <a:rPr lang="en-US" sz="2600" dirty="0"/>
              <a:t>": 70}})</a:t>
            </a:r>
            <a:br>
              <a:rPr lang="en-US" sz="2600" dirty="0"/>
            </a:br>
            <a:r>
              <a:rPr lang="en-US" sz="2600" dirty="0"/>
              <a:t>for </a:t>
            </a:r>
            <a:r>
              <a:rPr lang="en-US" sz="2600" dirty="0" err="1"/>
              <a:t>cnt,doc</a:t>
            </a:r>
            <a:r>
              <a:rPr lang="en-US" sz="2600" dirty="0"/>
              <a:t> in enumerate(res,1):</a:t>
            </a:r>
            <a:br>
              <a:rPr lang="en-US" sz="2600" dirty="0"/>
            </a:br>
            <a:r>
              <a:rPr lang="en-US" sz="2600" dirty="0"/>
              <a:t>    print("{}) {}".format(</a:t>
            </a:r>
            <a:r>
              <a:rPr lang="en-US" sz="2600" dirty="0" err="1"/>
              <a:t>cnt,doc</a:t>
            </a:r>
            <a:r>
              <a:rPr lang="en-US" sz="2600" dirty="0" smtClean="0"/>
              <a:t>))</a:t>
            </a:r>
          </a:p>
          <a:p>
            <a:pPr marL="0" indent="0">
              <a:buNone/>
            </a:pPr>
            <a:r>
              <a:rPr lang="en-US" sz="2600" dirty="0"/>
              <a:t/>
            </a:r>
            <a:br>
              <a:rPr lang="en-US" sz="2600" dirty="0"/>
            </a:br>
            <a:r>
              <a:rPr lang="en-US" sz="2600" dirty="0" smtClean="0"/>
              <a:t>The output:</a:t>
            </a:r>
          </a:p>
          <a:p>
            <a:pPr marL="0" indent="0">
              <a:buNone/>
            </a:pPr>
            <a:r>
              <a:rPr lang="en-US" sz="2600" dirty="0"/>
              <a:t>1) {'_id': </a:t>
            </a:r>
            <a:r>
              <a:rPr lang="en-US" sz="2600" dirty="0" err="1"/>
              <a:t>ObjectId</a:t>
            </a:r>
            <a:r>
              <a:rPr lang="en-US" sz="2600" dirty="0"/>
              <a:t>('5ac5466a80d55946b8a9e59f'), 'name': 'b2', 'fiction': ['romance', 'love'], 'price': 83, 'content': {'pages': 473, '</a:t>
            </a:r>
            <a:r>
              <a:rPr lang="en-US" sz="2600" dirty="0" err="1"/>
              <a:t>fontSize</a:t>
            </a:r>
            <a:r>
              <a:rPr lang="en-US" sz="2600" dirty="0"/>
              <a:t>': 12}}</a:t>
            </a:r>
          </a:p>
          <a:p>
            <a:pPr marL="0" indent="0">
              <a:buNone/>
            </a:pPr>
            <a:r>
              <a:rPr lang="en-US" sz="2600" dirty="0"/>
              <a:t>2) {'_id': </a:t>
            </a:r>
            <a:r>
              <a:rPr lang="en-US" sz="2600" dirty="0" err="1"/>
              <a:t>ObjectId</a:t>
            </a:r>
            <a:r>
              <a:rPr lang="en-US" sz="2600" dirty="0"/>
              <a:t>('5ac5466a80d55946b8a9e5a1'), 'name': 'b4', 'fiction': ['mystery', 'paranormal', 'classics'], 'price': 91, '</a:t>
            </a:r>
            <a:r>
              <a:rPr lang="en-US" sz="2600" dirty="0" err="1"/>
              <a:t>minAge</a:t>
            </a:r>
            <a:r>
              <a:rPr lang="en-US" sz="2600" dirty="0"/>
              <a:t>': 14}</a:t>
            </a:r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 smtClean="0"/>
              <a:t>© Copyright SELA software &amp; Education Labs Ltd. 14-18 Baruch Hirsch </a:t>
            </a:r>
            <a:r>
              <a:rPr lang="en-US" sz="1200" dirty="0" err="1" smtClean="0"/>
              <a:t>St.Bnei</a:t>
            </a:r>
            <a:r>
              <a:rPr lang="en-US" sz="1200" dirty="0" smtClean="0"/>
              <a:t> </a:t>
            </a:r>
            <a:r>
              <a:rPr lang="en-US" sz="1200" dirty="0" err="1" smtClean="0"/>
              <a:t>Brak</a:t>
            </a:r>
            <a:r>
              <a:rPr lang="en-US" sz="1200" dirty="0" smtClean="0"/>
              <a:t> 51202 Israel</a:t>
            </a: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72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</a:t>
            </a:r>
            <a:r>
              <a:rPr lang="en-US" dirty="0" smtClean="0"/>
              <a:t>collection – AND condition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96752"/>
            <a:ext cx="8534400" cy="5369768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By default, if the query contains more that one sub-queries, they all have an AND relations</a:t>
            </a:r>
          </a:p>
          <a:p>
            <a:pPr marL="0" indent="0">
              <a:buNone/>
            </a:pPr>
            <a:r>
              <a:rPr lang="en-US" i="1" dirty="0" smtClean="0"/>
              <a:t>{field1 : value1,  … </a:t>
            </a:r>
            <a:r>
              <a:rPr lang="en-US" i="1" dirty="0" err="1" smtClean="0"/>
              <a:t>fieldN</a:t>
            </a:r>
            <a:r>
              <a:rPr lang="en-US" i="1" dirty="0" smtClean="0"/>
              <a:t> : </a:t>
            </a:r>
            <a:r>
              <a:rPr lang="en-US" i="1" dirty="0" err="1" smtClean="0"/>
              <a:t>valueN</a:t>
            </a:r>
            <a:r>
              <a:rPr lang="en-US" i="1" dirty="0" smtClean="0"/>
              <a:t>}  - matches documents that satisfy all of the queries</a:t>
            </a:r>
          </a:p>
          <a:p>
            <a:pPr marL="0" indent="0">
              <a:buNone/>
            </a:pPr>
            <a:endParaRPr lang="en-US" sz="1900" dirty="0" smtClean="0"/>
          </a:p>
          <a:p>
            <a:pPr marL="0" indent="0">
              <a:buNone/>
            </a:pPr>
            <a:r>
              <a:rPr lang="en-US" dirty="0" smtClean="0"/>
              <a:t>For example – find all the documents with a price equals to one of [</a:t>
            </a:r>
            <a:r>
              <a:rPr lang="en-US" dirty="0"/>
              <a:t>60,91,85</a:t>
            </a:r>
            <a:r>
              <a:rPr lang="en-US" dirty="0" smtClean="0"/>
              <a:t>] and a name bigger that "b1" lexicographically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dirty="0"/>
              <a:t>res = </a:t>
            </a:r>
            <a:r>
              <a:rPr lang="en-US" dirty="0" err="1"/>
              <a:t>db.library.find</a:t>
            </a:r>
            <a:r>
              <a:rPr lang="en-US" dirty="0"/>
              <a:t>({"name" : {"$</a:t>
            </a:r>
            <a:r>
              <a:rPr lang="en-US" dirty="0" err="1"/>
              <a:t>gt</a:t>
            </a:r>
            <a:r>
              <a:rPr lang="en-US" dirty="0"/>
              <a:t>": "b1"}, "price" : {"$in" : [</a:t>
            </a:r>
            <a:r>
              <a:rPr lang="en-US" dirty="0" smtClean="0"/>
              <a:t>60,91,85]}})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for </a:t>
            </a:r>
            <a:r>
              <a:rPr lang="en-US" dirty="0" err="1"/>
              <a:t>cnt</a:t>
            </a:r>
            <a:r>
              <a:rPr lang="en-US" dirty="0" smtClean="0"/>
              <a:t>, doc </a:t>
            </a:r>
            <a:r>
              <a:rPr lang="en-US" dirty="0"/>
              <a:t>in enumerate(res,1):</a:t>
            </a:r>
            <a:br>
              <a:rPr lang="en-US" dirty="0"/>
            </a:br>
            <a:r>
              <a:rPr lang="en-US" dirty="0"/>
              <a:t>    print("{}) {}".format(</a:t>
            </a:r>
            <a:r>
              <a:rPr lang="en-US" dirty="0" err="1"/>
              <a:t>cnt,doc</a:t>
            </a:r>
            <a:r>
              <a:rPr lang="en-US" dirty="0" smtClean="0"/>
              <a:t>))</a:t>
            </a:r>
          </a:p>
          <a:p>
            <a:pPr marL="0" indent="0">
              <a:buNone/>
            </a:pPr>
            <a:endParaRPr lang="en-US" sz="2100" dirty="0" smtClean="0"/>
          </a:p>
          <a:p>
            <a:pPr marL="0" indent="0">
              <a:buNone/>
            </a:pPr>
            <a:r>
              <a:rPr lang="en-US" dirty="0" smtClean="0"/>
              <a:t>The Output:</a:t>
            </a:r>
          </a:p>
          <a:p>
            <a:pPr marL="0" indent="0">
              <a:buNone/>
            </a:pPr>
            <a:r>
              <a:rPr lang="en-US" sz="2700" dirty="0"/>
              <a:t>1) </a:t>
            </a:r>
            <a:r>
              <a:rPr lang="en-US" sz="2700" dirty="0" smtClean="0"/>
              <a:t>{… 'name</a:t>
            </a:r>
            <a:r>
              <a:rPr lang="en-US" sz="2700" dirty="0"/>
              <a:t>': 'b3', </a:t>
            </a:r>
            <a:r>
              <a:rPr lang="en-US" sz="2700" dirty="0" smtClean="0"/>
              <a:t>'price</a:t>
            </a:r>
            <a:r>
              <a:rPr lang="en-US" sz="2700" dirty="0"/>
              <a:t>': 60</a:t>
            </a:r>
            <a:r>
              <a:rPr lang="en-US" sz="2700" dirty="0" smtClean="0"/>
              <a:t>,…}</a:t>
            </a:r>
            <a:endParaRPr lang="en-US" sz="2700" dirty="0"/>
          </a:p>
          <a:p>
            <a:pPr marL="0" indent="0">
              <a:buNone/>
            </a:pPr>
            <a:r>
              <a:rPr lang="en-US" sz="2700" dirty="0"/>
              <a:t>2) </a:t>
            </a:r>
            <a:r>
              <a:rPr lang="en-US" sz="2700" dirty="0" smtClean="0"/>
              <a:t>{ … 'name</a:t>
            </a:r>
            <a:r>
              <a:rPr lang="en-US" sz="2700" dirty="0"/>
              <a:t>': 'b4', </a:t>
            </a:r>
            <a:r>
              <a:rPr lang="en-US" sz="2700" dirty="0" smtClean="0"/>
              <a:t>'price</a:t>
            </a:r>
            <a:r>
              <a:rPr lang="en-US" sz="2700" dirty="0"/>
              <a:t>': 91, </a:t>
            </a:r>
            <a:r>
              <a:rPr lang="en-US" sz="2700" dirty="0" smtClean="0"/>
              <a:t>…}</a:t>
            </a:r>
            <a:endParaRPr lang="en-US" sz="27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 smtClean="0"/>
              <a:t>© Copyright SELA software &amp; Education Labs Ltd. 14-18 Baruch Hirsch </a:t>
            </a:r>
            <a:r>
              <a:rPr lang="en-US" sz="1200" dirty="0" err="1" smtClean="0"/>
              <a:t>St.Bnei</a:t>
            </a:r>
            <a:r>
              <a:rPr lang="en-US" sz="1200" dirty="0" smtClean="0"/>
              <a:t> </a:t>
            </a:r>
            <a:r>
              <a:rPr lang="en-US" sz="1200" dirty="0" err="1" smtClean="0"/>
              <a:t>Brak</a:t>
            </a:r>
            <a:r>
              <a:rPr lang="en-US" sz="1200" dirty="0" smtClean="0"/>
              <a:t> 51202 Israel</a:t>
            </a: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30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</a:t>
            </a:r>
            <a:r>
              <a:rPr lang="en-US" dirty="0" smtClean="0"/>
              <a:t>collection – OR condition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55576"/>
            <a:ext cx="8534400" cy="5369768"/>
          </a:xfrm>
        </p:spPr>
        <p:txBody>
          <a:bodyPr>
            <a:normAutofit fontScale="92500" lnSpcReduction="10000"/>
          </a:bodyPr>
          <a:lstStyle/>
          <a:p>
            <a:r>
              <a:rPr lang="en-US" sz="2600" dirty="0" smtClean="0"/>
              <a:t>sub-queries can have an OR relations. The OR relation can be defined using</a:t>
            </a:r>
            <a:r>
              <a:rPr lang="en-US" sz="2600" b="1" dirty="0" smtClean="0"/>
              <a:t> $or</a:t>
            </a:r>
            <a:r>
              <a:rPr lang="en-US" sz="2600" dirty="0" smtClean="0"/>
              <a:t> operator</a:t>
            </a:r>
          </a:p>
          <a:p>
            <a:pPr marL="0" indent="0">
              <a:buNone/>
            </a:pPr>
            <a:r>
              <a:rPr lang="en-US" sz="2600" i="1" dirty="0"/>
              <a:t>{ $</a:t>
            </a:r>
            <a:r>
              <a:rPr lang="en-US" sz="2600" i="1" dirty="0" smtClean="0"/>
              <a:t>or :  </a:t>
            </a:r>
            <a:r>
              <a:rPr lang="en-US" sz="2600" i="1" dirty="0"/>
              <a:t>[ </a:t>
            </a:r>
            <a:r>
              <a:rPr lang="en-US" sz="2600" i="1" dirty="0" smtClean="0"/>
              <a:t>{sub-querie1 }, …. </a:t>
            </a:r>
            <a:r>
              <a:rPr lang="en-US" sz="2600" i="1" dirty="0"/>
              <a:t>{ </a:t>
            </a:r>
            <a:r>
              <a:rPr lang="en-US" sz="2600" i="1" dirty="0" smtClean="0"/>
              <a:t>sub-</a:t>
            </a:r>
            <a:r>
              <a:rPr lang="en-US" sz="2600" i="1" dirty="0" err="1" smtClean="0"/>
              <a:t>queryN</a:t>
            </a:r>
            <a:r>
              <a:rPr lang="en-US" sz="2600" i="1" dirty="0" smtClean="0"/>
              <a:t> </a:t>
            </a:r>
            <a:r>
              <a:rPr lang="en-US" sz="2600" i="1" dirty="0"/>
              <a:t>} } ] </a:t>
            </a:r>
            <a:r>
              <a:rPr lang="en-US" sz="2600" i="1" dirty="0" smtClean="0"/>
              <a:t>}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2600" dirty="0"/>
              <a:t>For example – find all the documents with a price equals 91 OR 83</a:t>
            </a:r>
          </a:p>
          <a:p>
            <a:pPr marL="0" indent="0">
              <a:buFont typeface="Arial" pitchFamily="34" charset="0"/>
              <a:buNone/>
            </a:pPr>
            <a:endParaRPr lang="en-US" sz="1700" dirty="0"/>
          </a:p>
          <a:p>
            <a:pPr marL="0" indent="0">
              <a:buFont typeface="Arial" pitchFamily="34" charset="0"/>
              <a:buNone/>
            </a:pPr>
            <a:r>
              <a:rPr lang="en-US" sz="2600" dirty="0"/>
              <a:t>res = </a:t>
            </a:r>
            <a:r>
              <a:rPr lang="en-US" sz="2600" dirty="0" err="1"/>
              <a:t>db.library.find</a:t>
            </a:r>
            <a:r>
              <a:rPr lang="en-US" sz="2600" dirty="0"/>
              <a:t>({"$or" : [{"price" : 91}, {"price" : 83}]})</a:t>
            </a:r>
            <a:br>
              <a:rPr lang="en-US" sz="2600" dirty="0"/>
            </a:br>
            <a:r>
              <a:rPr lang="en-US" sz="2600" dirty="0"/>
              <a:t>for </a:t>
            </a:r>
            <a:r>
              <a:rPr lang="en-US" sz="2600" dirty="0" err="1"/>
              <a:t>cnt,doc</a:t>
            </a:r>
            <a:r>
              <a:rPr lang="en-US" sz="2600" dirty="0"/>
              <a:t> in enumerate(res,1):</a:t>
            </a:r>
            <a:br>
              <a:rPr lang="en-US" sz="2600" dirty="0"/>
            </a:br>
            <a:r>
              <a:rPr lang="en-US" sz="2600" dirty="0"/>
              <a:t>    print("{}) {}".format(</a:t>
            </a:r>
            <a:r>
              <a:rPr lang="en-US" sz="2600" dirty="0" err="1"/>
              <a:t>cnt</a:t>
            </a:r>
            <a:r>
              <a:rPr lang="en-US" sz="2600" dirty="0"/>
              <a:t>, doc))</a:t>
            </a:r>
          </a:p>
          <a:p>
            <a:pPr marL="0" indent="0">
              <a:buNone/>
            </a:pPr>
            <a:endParaRPr lang="en-US" sz="2100" dirty="0" smtClean="0"/>
          </a:p>
          <a:p>
            <a:pPr marL="0" indent="0">
              <a:buNone/>
            </a:pPr>
            <a:r>
              <a:rPr lang="en-US" sz="2500" dirty="0" smtClean="0"/>
              <a:t>The Output:</a:t>
            </a:r>
          </a:p>
          <a:p>
            <a:pPr marL="0" indent="0">
              <a:buNone/>
            </a:pPr>
            <a:r>
              <a:rPr lang="en-US" sz="2500" dirty="0"/>
              <a:t>1) </a:t>
            </a:r>
            <a:r>
              <a:rPr lang="en-US" sz="2500" dirty="0" smtClean="0"/>
              <a:t>{… 'name</a:t>
            </a:r>
            <a:r>
              <a:rPr lang="en-US" sz="2500" dirty="0"/>
              <a:t>': 'b2', </a:t>
            </a:r>
            <a:r>
              <a:rPr lang="en-US" sz="2500" dirty="0" smtClean="0"/>
              <a:t>'price</a:t>
            </a:r>
            <a:r>
              <a:rPr lang="en-US" sz="2500" dirty="0"/>
              <a:t>': 83, </a:t>
            </a:r>
            <a:r>
              <a:rPr lang="en-US" sz="2500" dirty="0" smtClean="0"/>
              <a:t>…}</a:t>
            </a:r>
            <a:endParaRPr lang="en-US" sz="2500" dirty="0"/>
          </a:p>
          <a:p>
            <a:pPr marL="0" indent="0">
              <a:buNone/>
            </a:pPr>
            <a:r>
              <a:rPr lang="en-US" sz="2500" dirty="0"/>
              <a:t>2) </a:t>
            </a:r>
            <a:r>
              <a:rPr lang="en-US" sz="2500" dirty="0" smtClean="0"/>
              <a:t>{… 'name</a:t>
            </a:r>
            <a:r>
              <a:rPr lang="en-US" sz="2500" dirty="0"/>
              <a:t>': </a:t>
            </a:r>
            <a:r>
              <a:rPr lang="en-US" sz="2500" dirty="0" smtClean="0"/>
              <a:t>'b4', </a:t>
            </a:r>
            <a:r>
              <a:rPr lang="en-US" sz="2500" dirty="0"/>
              <a:t>'price': 91</a:t>
            </a:r>
            <a:r>
              <a:rPr lang="en-US" sz="2500" dirty="0" smtClean="0"/>
              <a:t>, ...}</a:t>
            </a:r>
            <a:endParaRPr lang="en-US" sz="25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 smtClean="0"/>
              <a:t>© Copyright SELA software &amp; Education Labs Ltd. 14-18 Baruch Hirsch </a:t>
            </a:r>
            <a:r>
              <a:rPr lang="en-US" sz="1200" dirty="0" err="1" smtClean="0"/>
              <a:t>St.Bnei</a:t>
            </a:r>
            <a:r>
              <a:rPr lang="en-US" sz="1200" dirty="0" smtClean="0"/>
              <a:t> </a:t>
            </a:r>
            <a:r>
              <a:rPr lang="en-US" sz="1200" dirty="0" err="1" smtClean="0"/>
              <a:t>Brak</a:t>
            </a:r>
            <a:r>
              <a:rPr lang="en-US" sz="1200" dirty="0" smtClean="0"/>
              <a:t> 51202 Israel</a:t>
            </a: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102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Query on arrays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534400" cy="5009727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Query on </a:t>
            </a:r>
            <a:r>
              <a:rPr lang="en-US" sz="2400" dirty="0" smtClean="0"/>
              <a:t>arrays can </a:t>
            </a:r>
            <a:r>
              <a:rPr lang="en-US" sz="2400" dirty="0"/>
              <a:t>query for an exact array match or for specific values in the </a:t>
            </a:r>
            <a:r>
              <a:rPr lang="en-US" sz="2400" dirty="0" smtClean="0"/>
              <a:t>array, </a:t>
            </a:r>
            <a:r>
              <a:rPr lang="en-US" sz="2400" dirty="0"/>
              <a:t>using dot notation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</a:t>
            </a:r>
            <a:r>
              <a:rPr lang="en-US" sz="2400" i="1" dirty="0"/>
              <a:t>{ </a:t>
            </a:r>
            <a:r>
              <a:rPr lang="en-US" sz="2400" i="1" dirty="0" err="1" smtClean="0"/>
              <a:t>arrayFieldName</a:t>
            </a:r>
            <a:r>
              <a:rPr lang="en-US" sz="2400" i="1" dirty="0" smtClean="0"/>
              <a:t> :</a:t>
            </a:r>
            <a:r>
              <a:rPr lang="en-US" sz="2400" i="1" dirty="0"/>
              <a:t> </a:t>
            </a:r>
            <a:r>
              <a:rPr lang="en-US" sz="2400" i="1" dirty="0" err="1" smtClean="0"/>
              <a:t>someArray</a:t>
            </a:r>
            <a:r>
              <a:rPr lang="en-US" sz="2400" i="1" dirty="0" smtClean="0"/>
              <a:t>}</a:t>
            </a:r>
            <a:r>
              <a:rPr lang="en-US" sz="2400" dirty="0"/>
              <a:t> </a:t>
            </a:r>
            <a:r>
              <a:rPr lang="en-US" sz="2400" dirty="0" smtClean="0"/>
              <a:t>query will test for exact </a:t>
            </a:r>
            <a:r>
              <a:rPr lang="en-US" sz="2400" dirty="0"/>
              <a:t>array </a:t>
            </a:r>
            <a:r>
              <a:rPr lang="en-US" sz="2400" dirty="0" smtClean="0"/>
              <a:t>match</a:t>
            </a:r>
            <a:r>
              <a:rPr lang="en-US" sz="2400" dirty="0"/>
              <a:t>, including the order of the elements</a:t>
            </a:r>
            <a:r>
              <a:rPr lang="en-US" sz="2400" dirty="0" smtClean="0"/>
              <a:t>.</a:t>
            </a: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	</a:t>
            </a:r>
            <a:endParaRPr lang="en-US" sz="2400" i="1" dirty="0" smtClean="0"/>
          </a:p>
          <a:p>
            <a:pPr marL="0" indent="0">
              <a:buNone/>
            </a:pPr>
            <a:r>
              <a:rPr lang="en-US" sz="2400" dirty="0" smtClean="0"/>
              <a:t>For example - match only the documents where </a:t>
            </a:r>
            <a:r>
              <a:rPr lang="en-US" sz="2400" dirty="0"/>
              <a:t>fiction </a:t>
            </a:r>
            <a:r>
              <a:rPr lang="en-US" sz="2400" dirty="0" smtClean="0"/>
              <a:t>contains exactly 2 elements: </a:t>
            </a:r>
            <a:r>
              <a:rPr lang="en-US" sz="2400" dirty="0"/>
              <a:t>"</a:t>
            </a:r>
            <a:r>
              <a:rPr lang="en-US" sz="2400" dirty="0" smtClean="0"/>
              <a:t>romance" and </a:t>
            </a:r>
            <a:r>
              <a:rPr lang="en-US" sz="2400" dirty="0"/>
              <a:t>"love"</a:t>
            </a:r>
            <a:r>
              <a:rPr lang="en-US" sz="2400" dirty="0" smtClean="0"/>
              <a:t> with the exact order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res = </a:t>
            </a:r>
            <a:r>
              <a:rPr lang="en-US" sz="2400" dirty="0" err="1"/>
              <a:t>db.library.find</a:t>
            </a:r>
            <a:r>
              <a:rPr lang="en-US" sz="2400" dirty="0"/>
              <a:t>({"fiction": ["romance", "love"] })</a:t>
            </a:r>
            <a:br>
              <a:rPr lang="en-US" sz="2400" dirty="0"/>
            </a:br>
            <a:r>
              <a:rPr lang="en-US" sz="2400" dirty="0"/>
              <a:t>for </a:t>
            </a:r>
            <a:r>
              <a:rPr lang="en-US" sz="2400" dirty="0" err="1"/>
              <a:t>cnt</a:t>
            </a:r>
            <a:r>
              <a:rPr lang="en-US" sz="2400" dirty="0"/>
              <a:t>, doc in enumerate(res,1):</a:t>
            </a:r>
            <a:br>
              <a:rPr lang="en-US" sz="2400" dirty="0"/>
            </a:br>
            <a:r>
              <a:rPr lang="en-US" sz="2400" dirty="0"/>
              <a:t>    print("{}) {}".format(</a:t>
            </a:r>
            <a:r>
              <a:rPr lang="en-US" sz="2400" dirty="0" err="1"/>
              <a:t>cnt</a:t>
            </a:r>
            <a:r>
              <a:rPr lang="en-US" sz="2400" dirty="0"/>
              <a:t>, doc))</a:t>
            </a: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r>
              <a:rPr lang="en-US" sz="2400" dirty="0"/>
              <a:t>1) {…, 'name': 'b2', 'fiction': ['romance', 'love'], ….}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 smtClean="0"/>
              <a:t>© Copyright SELA software &amp; Education Labs Ltd. 14-18 Baruch Hirsch </a:t>
            </a:r>
            <a:r>
              <a:rPr lang="en-US" sz="1200" dirty="0" err="1" smtClean="0"/>
              <a:t>St.Bnei</a:t>
            </a:r>
            <a:r>
              <a:rPr lang="en-US" sz="1200" dirty="0" smtClean="0"/>
              <a:t> </a:t>
            </a:r>
            <a:r>
              <a:rPr lang="en-US" sz="1200" dirty="0" err="1" smtClean="0"/>
              <a:t>Brak</a:t>
            </a:r>
            <a:r>
              <a:rPr lang="en-US" sz="1200" dirty="0" smtClean="0"/>
              <a:t> 51202 Israel</a:t>
            </a: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69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Query on </a:t>
            </a:r>
            <a:r>
              <a:rPr lang="en-US" dirty="0" smtClean="0"/>
              <a:t>array – query for specific element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/>
              <a:t>An array can be tested whether it contains some value</a:t>
            </a:r>
          </a:p>
          <a:p>
            <a:pPr lvl="1"/>
            <a:r>
              <a:rPr lang="en-US" dirty="0" smtClean="0"/>
              <a:t> </a:t>
            </a:r>
            <a:r>
              <a:rPr lang="en-US" i="1" dirty="0" smtClean="0"/>
              <a:t>{array : </a:t>
            </a:r>
            <a:r>
              <a:rPr lang="en-US" i="1" dirty="0" err="1" smtClean="0"/>
              <a:t>someValue</a:t>
            </a:r>
            <a:r>
              <a:rPr lang="en-US" i="1" dirty="0" smtClean="0"/>
              <a:t>}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/>
              <a:t>res = </a:t>
            </a:r>
            <a:r>
              <a:rPr lang="en-US" sz="2400" dirty="0" err="1"/>
              <a:t>db.library.find</a:t>
            </a:r>
            <a:r>
              <a:rPr lang="en-US" sz="2400" dirty="0"/>
              <a:t>({"fiction": "classics"})</a:t>
            </a:r>
            <a:br>
              <a:rPr lang="en-US" sz="2400" dirty="0"/>
            </a:br>
            <a:r>
              <a:rPr lang="en-US" sz="2400" dirty="0"/>
              <a:t>for </a:t>
            </a:r>
            <a:r>
              <a:rPr lang="en-US" sz="2400" dirty="0" err="1"/>
              <a:t>cnt</a:t>
            </a:r>
            <a:r>
              <a:rPr lang="en-US" sz="2400" dirty="0"/>
              <a:t>, doc in enumerate(res, 1):</a:t>
            </a:r>
            <a:br>
              <a:rPr lang="en-US" sz="2400" dirty="0"/>
            </a:br>
            <a:r>
              <a:rPr lang="en-US" sz="2400" dirty="0"/>
              <a:t>    print("{}) {}".format(</a:t>
            </a:r>
            <a:r>
              <a:rPr lang="en-US" sz="2400" dirty="0" err="1"/>
              <a:t>cnt</a:t>
            </a:r>
            <a:r>
              <a:rPr lang="en-US" sz="2400" dirty="0"/>
              <a:t>, doc))</a:t>
            </a:r>
            <a:br>
              <a:rPr lang="en-US" sz="2400" dirty="0"/>
            </a:br>
            <a:r>
              <a:rPr lang="en-US" sz="2400" dirty="0"/>
              <a:t>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The output:</a:t>
            </a:r>
          </a:p>
          <a:p>
            <a:pPr marL="0" indent="0">
              <a:buNone/>
            </a:pPr>
            <a:r>
              <a:rPr lang="en-US" sz="2400" dirty="0"/>
              <a:t>1) </a:t>
            </a:r>
            <a:r>
              <a:rPr lang="en-US" sz="2400" dirty="0" smtClean="0"/>
              <a:t>{'name</a:t>
            </a:r>
            <a:r>
              <a:rPr lang="en-US" sz="2400" dirty="0"/>
              <a:t>': 'b1', 'fiction': ['adventure', 'children', 'classics</a:t>
            </a:r>
            <a:r>
              <a:rPr lang="en-US" sz="2400" dirty="0" smtClean="0"/>
              <a:t>'], …}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2) </a:t>
            </a:r>
            <a:r>
              <a:rPr lang="en-US" sz="2400" dirty="0" smtClean="0"/>
              <a:t>{'name</a:t>
            </a:r>
            <a:r>
              <a:rPr lang="en-US" sz="2400" dirty="0"/>
              <a:t>': 'b3', 'fiction': ['babies', 'children', 'classics'], </a:t>
            </a:r>
            <a:r>
              <a:rPr lang="en-US" sz="2400" dirty="0" smtClean="0"/>
              <a:t>…}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3) </a:t>
            </a:r>
            <a:r>
              <a:rPr lang="en-US" sz="2400" dirty="0" smtClean="0"/>
              <a:t>{'name</a:t>
            </a:r>
            <a:r>
              <a:rPr lang="en-US" sz="2400" dirty="0"/>
              <a:t>': 'b4', 'fiction': ['mystery', 'paranormal', 'classics</a:t>
            </a:r>
            <a:r>
              <a:rPr lang="en-US" sz="2400" dirty="0" smtClean="0"/>
              <a:t>'], …}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 smtClean="0"/>
              <a:t>© Copyright SELA software &amp; Education Labs Ltd. 14-18 Baruch Hirsch </a:t>
            </a:r>
            <a:r>
              <a:rPr lang="en-US" sz="1200" dirty="0" err="1" smtClean="0"/>
              <a:t>St.Bnei</a:t>
            </a:r>
            <a:r>
              <a:rPr lang="en-US" sz="1200" dirty="0" smtClean="0"/>
              <a:t> </a:t>
            </a:r>
            <a:r>
              <a:rPr lang="en-US" sz="1200" dirty="0" err="1" smtClean="0"/>
              <a:t>Brak</a:t>
            </a:r>
            <a:r>
              <a:rPr lang="en-US" sz="1200" dirty="0" smtClean="0"/>
              <a:t> 51202 Israel</a:t>
            </a: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695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Query on array – $all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/>
              <a:t>Use </a:t>
            </a:r>
            <a:r>
              <a:rPr lang="en-US" sz="2400" dirty="0"/>
              <a:t>the </a:t>
            </a:r>
            <a:r>
              <a:rPr lang="en-US" sz="2400" b="1" dirty="0"/>
              <a:t>$all</a:t>
            </a:r>
            <a:r>
              <a:rPr lang="en-US" sz="2400" dirty="0"/>
              <a:t> operator </a:t>
            </a:r>
            <a:r>
              <a:rPr lang="en-US" sz="2400" dirty="0" smtClean="0"/>
              <a:t>to find </a:t>
            </a:r>
            <a:r>
              <a:rPr lang="en-US" sz="2400" dirty="0"/>
              <a:t>an array that </a:t>
            </a:r>
            <a:r>
              <a:rPr lang="en-US" sz="2400" dirty="0" smtClean="0"/>
              <a:t>contains the specified elements , regardless their </a:t>
            </a:r>
            <a:r>
              <a:rPr lang="en-US" sz="2400" dirty="0"/>
              <a:t>order or other elements in the </a:t>
            </a:r>
            <a:r>
              <a:rPr lang="en-US" sz="2400" dirty="0" smtClean="0"/>
              <a:t>array</a:t>
            </a:r>
          </a:p>
          <a:p>
            <a:endParaRPr lang="en-US" sz="2400" dirty="0" smtClean="0"/>
          </a:p>
          <a:p>
            <a:pPr marL="0" indent="0">
              <a:buNone/>
            </a:pPr>
            <a:r>
              <a:rPr lang="en-US" sz="2400" dirty="0"/>
              <a:t>res = </a:t>
            </a:r>
            <a:r>
              <a:rPr lang="en-US" sz="2400" dirty="0" err="1"/>
              <a:t>db.library.find</a:t>
            </a:r>
            <a:r>
              <a:rPr lang="en-US" sz="2400" dirty="0"/>
              <a:t>({"fiction": {"$all":["romance", "love"] }})</a:t>
            </a:r>
            <a:br>
              <a:rPr lang="en-US" sz="2400" dirty="0"/>
            </a:br>
            <a:r>
              <a:rPr lang="en-US" sz="2400" dirty="0"/>
              <a:t>for </a:t>
            </a:r>
            <a:r>
              <a:rPr lang="en-US" sz="2400" dirty="0" err="1"/>
              <a:t>cnt</a:t>
            </a:r>
            <a:r>
              <a:rPr lang="en-US" sz="2400" dirty="0"/>
              <a:t>, doc in enumerate(res, 1):</a:t>
            </a:r>
            <a:br>
              <a:rPr lang="en-US" sz="2400" dirty="0"/>
            </a:br>
            <a:r>
              <a:rPr lang="en-US" sz="2400" dirty="0"/>
              <a:t>    print("{}) {}".format(</a:t>
            </a:r>
            <a:r>
              <a:rPr lang="en-US" sz="2400" dirty="0" err="1"/>
              <a:t>cnt</a:t>
            </a:r>
            <a:r>
              <a:rPr lang="en-US" sz="2400" dirty="0"/>
              <a:t>, doc</a:t>
            </a:r>
            <a:r>
              <a:rPr lang="en-US" sz="2400" dirty="0" smtClean="0"/>
              <a:t>))</a:t>
            </a: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The output:</a:t>
            </a:r>
          </a:p>
          <a:p>
            <a:pPr marL="0" indent="0">
              <a:buNone/>
            </a:pPr>
            <a:r>
              <a:rPr lang="en-US" sz="2400" dirty="0" smtClean="0"/>
              <a:t>1) {…, </a:t>
            </a:r>
            <a:r>
              <a:rPr lang="en-US" sz="2400" dirty="0"/>
              <a:t>'name': 'b2', 'fiction': ['romance', 'love'], </a:t>
            </a:r>
            <a:r>
              <a:rPr lang="en-US" sz="2400" dirty="0" smtClean="0"/>
              <a:t>…}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2) </a:t>
            </a:r>
            <a:r>
              <a:rPr lang="en-US" sz="2400" dirty="0" smtClean="0"/>
              <a:t>{…, </a:t>
            </a:r>
            <a:r>
              <a:rPr lang="en-US" sz="2400" dirty="0"/>
              <a:t>'name': 'b5', 'fiction': ['love', 'romance</a:t>
            </a:r>
            <a:r>
              <a:rPr lang="en-US" sz="2400" dirty="0" smtClean="0"/>
              <a:t>'], …}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3) </a:t>
            </a:r>
            <a:r>
              <a:rPr lang="en-US" sz="2400" dirty="0" smtClean="0"/>
              <a:t>{…, </a:t>
            </a:r>
            <a:r>
              <a:rPr lang="en-US" sz="2400" dirty="0"/>
              <a:t>'name': 'b6', 'fiction': ['love', 'romance', 'comedy'], </a:t>
            </a:r>
            <a:r>
              <a:rPr lang="en-US" sz="2400" dirty="0" smtClean="0"/>
              <a:t>…}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 smtClean="0"/>
              <a:t>© Copyright SELA software &amp; Education Labs Ltd. 14-18 Baruch Hirsch </a:t>
            </a:r>
            <a:r>
              <a:rPr lang="en-US" sz="1200" dirty="0" err="1" smtClean="0"/>
              <a:t>St.Bnei</a:t>
            </a:r>
            <a:r>
              <a:rPr lang="en-US" sz="1200" dirty="0" smtClean="0"/>
              <a:t> </a:t>
            </a:r>
            <a:r>
              <a:rPr lang="en-US" sz="1200" dirty="0" err="1" smtClean="0"/>
              <a:t>Brak</a:t>
            </a:r>
            <a:r>
              <a:rPr lang="en-US" sz="1200" dirty="0" smtClean="0"/>
              <a:t> 51202 Israel</a:t>
            </a: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091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Query on array – conditions on elements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9593"/>
            <a:ext cx="8534400" cy="5009727"/>
          </a:xfrm>
        </p:spPr>
        <p:txBody>
          <a:bodyPr>
            <a:normAutofit fontScale="70000" lnSpcReduction="20000"/>
          </a:bodyPr>
          <a:lstStyle/>
          <a:p>
            <a:r>
              <a:rPr lang="en-US" sz="3300" dirty="0" smtClean="0"/>
              <a:t>A condition/s can be specified on the elements in the array </a:t>
            </a:r>
          </a:p>
          <a:p>
            <a:pPr marL="0" indent="0">
              <a:buNone/>
            </a:pPr>
            <a:r>
              <a:rPr lang="en-US" sz="3300" dirty="0" smtClean="0"/>
              <a:t>	</a:t>
            </a:r>
            <a:r>
              <a:rPr lang="en-US" sz="3300" i="1" dirty="0" smtClean="0"/>
              <a:t>{ array : { operator1 : value1, ... </a:t>
            </a:r>
            <a:r>
              <a:rPr lang="en-US" sz="3300" i="1" dirty="0" err="1" smtClean="0"/>
              <a:t>operatorN</a:t>
            </a:r>
            <a:r>
              <a:rPr lang="en-US" sz="3300" i="1" dirty="0" smtClean="0"/>
              <a:t> : </a:t>
            </a:r>
            <a:r>
              <a:rPr lang="en-US" sz="3300" i="1" dirty="0" err="1" smtClean="0"/>
              <a:t>valueN</a:t>
            </a:r>
            <a:r>
              <a:rPr lang="en-US" sz="3300" i="1" dirty="0" smtClean="0"/>
              <a:t> } }</a:t>
            </a:r>
          </a:p>
          <a:p>
            <a:pPr marL="0" indent="0">
              <a:buNone/>
            </a:pPr>
            <a:endParaRPr lang="en-US" sz="2300" i="1" dirty="0" smtClean="0"/>
          </a:p>
          <a:p>
            <a:pPr marL="0" indent="0">
              <a:buNone/>
            </a:pPr>
            <a:r>
              <a:rPr lang="en-US" sz="3300" dirty="0" smtClean="0"/>
              <a:t>For example - match the documents that at least one of their elements contains 'l' character:</a:t>
            </a:r>
          </a:p>
          <a:p>
            <a:pPr marL="0" indent="0">
              <a:buNone/>
            </a:pPr>
            <a:endParaRPr lang="en-US" sz="2300" dirty="0" smtClean="0"/>
          </a:p>
          <a:p>
            <a:pPr marL="0" indent="0">
              <a:buNone/>
            </a:pPr>
            <a:r>
              <a:rPr lang="en-US" sz="3300" dirty="0" smtClean="0"/>
              <a:t>res = </a:t>
            </a:r>
            <a:r>
              <a:rPr lang="en-US" sz="3300" dirty="0" err="1" smtClean="0"/>
              <a:t>db.library.find</a:t>
            </a:r>
            <a:r>
              <a:rPr lang="en-US" sz="3300" dirty="0" smtClean="0"/>
              <a:t>({"fiction": {"$regex" : "a"}})</a:t>
            </a:r>
            <a:br>
              <a:rPr lang="en-US" sz="3300" dirty="0" smtClean="0"/>
            </a:br>
            <a:r>
              <a:rPr lang="en-US" sz="3300" dirty="0" smtClean="0"/>
              <a:t>for </a:t>
            </a:r>
            <a:r>
              <a:rPr lang="en-US" sz="3300" dirty="0" err="1" smtClean="0"/>
              <a:t>cnt</a:t>
            </a:r>
            <a:r>
              <a:rPr lang="en-US" sz="3300" dirty="0" smtClean="0"/>
              <a:t>, doc in enumerate(res, 1):</a:t>
            </a:r>
            <a:br>
              <a:rPr lang="en-US" sz="3300" dirty="0" smtClean="0"/>
            </a:br>
            <a:r>
              <a:rPr lang="en-US" sz="3300" dirty="0" smtClean="0"/>
              <a:t>    print("{}) {}".format(</a:t>
            </a:r>
            <a:r>
              <a:rPr lang="en-US" sz="3300" dirty="0" err="1" smtClean="0"/>
              <a:t>cnt</a:t>
            </a:r>
            <a:r>
              <a:rPr lang="en-US" sz="3300" dirty="0" smtClean="0"/>
              <a:t>, doc))</a:t>
            </a:r>
            <a:br>
              <a:rPr lang="en-US" sz="3300" dirty="0" smtClean="0"/>
            </a:br>
            <a:endParaRPr lang="en-US" sz="3300" dirty="0" smtClean="0"/>
          </a:p>
          <a:p>
            <a:pPr marL="0" indent="0">
              <a:buNone/>
            </a:pPr>
            <a:r>
              <a:rPr lang="en-US" sz="2900" dirty="0" smtClean="0"/>
              <a:t>1</a:t>
            </a:r>
            <a:r>
              <a:rPr lang="en-US" sz="2900" dirty="0"/>
              <a:t>) </a:t>
            </a:r>
            <a:r>
              <a:rPr lang="en-US" sz="2900" dirty="0" smtClean="0"/>
              <a:t>{… </a:t>
            </a:r>
            <a:r>
              <a:rPr lang="en-US" sz="2900" dirty="0"/>
              <a:t>'name': 'b1', 'fiction': ['adventure', 'children', 'classics</a:t>
            </a:r>
            <a:r>
              <a:rPr lang="en-US" sz="2900" dirty="0" smtClean="0"/>
              <a:t>']…}</a:t>
            </a:r>
            <a:endParaRPr lang="en-US" sz="2900" dirty="0"/>
          </a:p>
          <a:p>
            <a:pPr marL="0" indent="0">
              <a:buNone/>
            </a:pPr>
            <a:r>
              <a:rPr lang="en-US" sz="2900" dirty="0"/>
              <a:t>2) </a:t>
            </a:r>
            <a:r>
              <a:rPr lang="en-US" sz="2900" dirty="0" smtClean="0"/>
              <a:t>{… </a:t>
            </a:r>
            <a:r>
              <a:rPr lang="en-US" sz="2900" dirty="0"/>
              <a:t>'name': 'b2', 'fiction': ['romance', 'love'], </a:t>
            </a:r>
            <a:r>
              <a:rPr lang="en-US" sz="2900" dirty="0" smtClean="0"/>
              <a:t>…}</a:t>
            </a:r>
            <a:endParaRPr lang="en-US" sz="2900" dirty="0"/>
          </a:p>
          <a:p>
            <a:pPr marL="0" indent="0">
              <a:buNone/>
            </a:pPr>
            <a:r>
              <a:rPr lang="en-US" sz="2900" dirty="0"/>
              <a:t>3) </a:t>
            </a:r>
            <a:r>
              <a:rPr lang="en-US" sz="2900" dirty="0" smtClean="0"/>
              <a:t>{… </a:t>
            </a:r>
            <a:r>
              <a:rPr lang="en-US" sz="2900" dirty="0"/>
              <a:t>'name': 'b3', 'fiction': ['babies', 'children', 'classics'], </a:t>
            </a:r>
            <a:r>
              <a:rPr lang="en-US" sz="2900" dirty="0" smtClean="0"/>
              <a:t>…}</a:t>
            </a:r>
            <a:endParaRPr lang="en-US" sz="2900" dirty="0"/>
          </a:p>
          <a:p>
            <a:pPr marL="0" indent="0">
              <a:buNone/>
            </a:pPr>
            <a:r>
              <a:rPr lang="en-US" sz="2900" dirty="0"/>
              <a:t>4) </a:t>
            </a:r>
            <a:r>
              <a:rPr lang="en-US" sz="2900" dirty="0" smtClean="0"/>
              <a:t>…, </a:t>
            </a:r>
            <a:r>
              <a:rPr lang="en-US" sz="2900" dirty="0"/>
              <a:t>'name': 'b4', 'fiction': ['mystery', 'paranormal', 'classics'], </a:t>
            </a:r>
            <a:r>
              <a:rPr lang="en-US" sz="2900" dirty="0" smtClean="0"/>
              <a:t>…}</a:t>
            </a:r>
            <a:endParaRPr lang="en-US" sz="2900" dirty="0"/>
          </a:p>
          <a:p>
            <a:pPr marL="0" indent="0">
              <a:buNone/>
            </a:pPr>
            <a:r>
              <a:rPr lang="en-US" sz="2900" dirty="0"/>
              <a:t>5) </a:t>
            </a:r>
            <a:r>
              <a:rPr lang="en-US" sz="2900" dirty="0" smtClean="0"/>
              <a:t>{…, </a:t>
            </a:r>
            <a:r>
              <a:rPr lang="en-US" sz="2900" dirty="0"/>
              <a:t>'name': 'b5', 'fiction': ['love', 'romance'], </a:t>
            </a:r>
            <a:r>
              <a:rPr lang="en-US" sz="2900" dirty="0" smtClean="0"/>
              <a:t>…}</a:t>
            </a:r>
            <a:endParaRPr lang="en-US" sz="2900" dirty="0"/>
          </a:p>
          <a:p>
            <a:pPr marL="0" indent="0">
              <a:buNone/>
            </a:pPr>
            <a:r>
              <a:rPr lang="en-US" sz="2900" dirty="0"/>
              <a:t>6) </a:t>
            </a:r>
            <a:r>
              <a:rPr lang="en-US" sz="2900" dirty="0" smtClean="0"/>
              <a:t>{…, </a:t>
            </a:r>
            <a:r>
              <a:rPr lang="en-US" sz="2900" dirty="0"/>
              <a:t>'name': 'b6', 'fiction': ['love', 'romance', </a:t>
            </a:r>
            <a:r>
              <a:rPr lang="en-US" sz="2900" dirty="0" smtClean="0"/>
              <a:t>'comedy], …}</a:t>
            </a:r>
            <a:endParaRPr lang="en-US" sz="29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 smtClean="0"/>
              <a:t>© Copyright SELA software &amp; Education Labs Ltd. 14-18 Baruch Hirsch </a:t>
            </a:r>
            <a:r>
              <a:rPr lang="en-US" sz="1200" dirty="0" err="1" smtClean="0"/>
              <a:t>St.Bnei</a:t>
            </a:r>
            <a:r>
              <a:rPr lang="en-US" sz="1200" dirty="0" smtClean="0"/>
              <a:t> </a:t>
            </a:r>
            <a:r>
              <a:rPr lang="en-US" sz="1200" dirty="0" err="1" smtClean="0"/>
              <a:t>Brak</a:t>
            </a:r>
            <a:r>
              <a:rPr lang="en-US" sz="1200" dirty="0" smtClean="0"/>
              <a:t> 51202 Israel</a:t>
            </a: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265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Query on array – access to specific element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27585"/>
            <a:ext cx="8534400" cy="5153743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Query on a specific </a:t>
            </a:r>
            <a:r>
              <a:rPr lang="en-US" dirty="0"/>
              <a:t>e</a:t>
            </a:r>
            <a:r>
              <a:rPr lang="en-US" dirty="0" smtClean="0"/>
              <a:t>lement of array can be done using a don(.) notation. </a:t>
            </a:r>
          </a:p>
          <a:p>
            <a:pPr lvl="1"/>
            <a:r>
              <a:rPr lang="en-US" sz="2700" dirty="0" smtClean="0"/>
              <a:t>The accesses is by index</a:t>
            </a:r>
          </a:p>
          <a:p>
            <a:pPr lvl="1"/>
            <a:r>
              <a:rPr lang="en-US" sz="2700" dirty="0" smtClean="0"/>
              <a:t> </a:t>
            </a:r>
            <a:r>
              <a:rPr lang="en-US" sz="2700" dirty="0"/>
              <a:t>The array uses zero-based indexing</a:t>
            </a:r>
            <a:r>
              <a:rPr lang="en-US" sz="2700" dirty="0" smtClean="0"/>
              <a:t>.</a:t>
            </a:r>
          </a:p>
          <a:p>
            <a:pPr lvl="1"/>
            <a:r>
              <a:rPr lang="en-US" sz="2700" dirty="0"/>
              <a:t>dot </a:t>
            </a:r>
            <a:r>
              <a:rPr lang="en-US" sz="2700" dirty="0" smtClean="0"/>
              <a:t>notation queries must be enclosed with </a:t>
            </a:r>
            <a:r>
              <a:rPr lang="en-US" sz="2700" dirty="0"/>
              <a:t>quotation marks</a:t>
            </a:r>
          </a:p>
          <a:p>
            <a:endParaRPr lang="en-US" sz="1900" cap="all" dirty="0" smtClean="0"/>
          </a:p>
          <a:p>
            <a:pPr marL="0" indent="0">
              <a:buNone/>
            </a:pPr>
            <a:r>
              <a:rPr lang="en-US" dirty="0"/>
              <a:t>res = </a:t>
            </a:r>
            <a:r>
              <a:rPr lang="en-US" dirty="0" err="1"/>
              <a:t>db.library.find</a:t>
            </a:r>
            <a:r>
              <a:rPr lang="en-US" dirty="0"/>
              <a:t>({"fiction.1" : {"$in": ["children", "romance"]}})</a:t>
            </a:r>
            <a:br>
              <a:rPr lang="en-US" dirty="0"/>
            </a:br>
            <a:r>
              <a:rPr lang="en-US" dirty="0"/>
              <a:t>for </a:t>
            </a:r>
            <a:r>
              <a:rPr lang="en-US" dirty="0" err="1"/>
              <a:t>cnt</a:t>
            </a:r>
            <a:r>
              <a:rPr lang="en-US" dirty="0"/>
              <a:t>, doc in enumerate(res, 1):</a:t>
            </a:r>
            <a:br>
              <a:rPr lang="en-US" dirty="0"/>
            </a:br>
            <a:r>
              <a:rPr lang="en-US" dirty="0"/>
              <a:t>    print("{}) {}".format(</a:t>
            </a:r>
            <a:r>
              <a:rPr lang="en-US" dirty="0" err="1"/>
              <a:t>cnt</a:t>
            </a:r>
            <a:r>
              <a:rPr lang="en-US" dirty="0"/>
              <a:t>, doc</a:t>
            </a:r>
            <a:r>
              <a:rPr lang="en-US" dirty="0" smtClean="0"/>
              <a:t>))</a:t>
            </a:r>
          </a:p>
          <a:p>
            <a:endParaRPr lang="en-US" sz="1900" dirty="0" smtClean="0"/>
          </a:p>
          <a:p>
            <a:pPr marL="0" indent="0">
              <a:buNone/>
            </a:pPr>
            <a:r>
              <a:rPr lang="en-US" dirty="0"/>
              <a:t>1</a:t>
            </a:r>
            <a:r>
              <a:rPr lang="en-US" sz="2600" dirty="0"/>
              <a:t>) {… 'name': 'b1', 'fiction': ['adventure', 'children', 'classics']…}</a:t>
            </a:r>
          </a:p>
          <a:p>
            <a:pPr marL="0" indent="0">
              <a:buNone/>
            </a:pPr>
            <a:r>
              <a:rPr lang="en-US" sz="2600" dirty="0"/>
              <a:t>2</a:t>
            </a:r>
            <a:r>
              <a:rPr lang="en-US" sz="2600" dirty="0" smtClean="0"/>
              <a:t>) </a:t>
            </a:r>
            <a:r>
              <a:rPr lang="en-US" sz="2600" dirty="0"/>
              <a:t>{… 'name': 'b3', 'fiction': ['babies', 'children', 'classics'], …}</a:t>
            </a:r>
          </a:p>
          <a:p>
            <a:pPr marL="0" indent="0">
              <a:buNone/>
            </a:pPr>
            <a:r>
              <a:rPr lang="en-US" sz="2600" dirty="0"/>
              <a:t>3</a:t>
            </a:r>
            <a:r>
              <a:rPr lang="en-US" sz="2600" dirty="0" smtClean="0"/>
              <a:t>) </a:t>
            </a:r>
            <a:r>
              <a:rPr lang="en-US" sz="2600" dirty="0"/>
              <a:t>{…, 'name': 'b5', 'fiction': ['love', 'romance'], …}</a:t>
            </a:r>
          </a:p>
          <a:p>
            <a:pPr marL="0" indent="0">
              <a:buNone/>
            </a:pPr>
            <a:r>
              <a:rPr lang="en-US" sz="2600" dirty="0" smtClean="0"/>
              <a:t>4) </a:t>
            </a:r>
            <a:r>
              <a:rPr lang="en-US" sz="2600" dirty="0"/>
              <a:t>{…, 'name': 'b6', 'fiction': ['love', 'romance', 'comedy], </a:t>
            </a:r>
            <a:r>
              <a:rPr lang="en-US" sz="2600" dirty="0" smtClean="0"/>
              <a:t>…}</a:t>
            </a:r>
            <a:endParaRPr lang="en-US" sz="2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 smtClean="0"/>
              <a:t>© Copyright SELA software &amp; Education Labs Ltd. 14-18 Baruch Hirsch </a:t>
            </a:r>
            <a:r>
              <a:rPr lang="en-US" sz="1200" dirty="0" err="1" smtClean="0"/>
              <a:t>St.Bnei</a:t>
            </a:r>
            <a:r>
              <a:rPr lang="en-US" sz="1200" dirty="0" smtClean="0"/>
              <a:t> </a:t>
            </a:r>
            <a:r>
              <a:rPr lang="en-US" sz="1200" dirty="0" err="1" smtClean="0"/>
              <a:t>Brak</a:t>
            </a:r>
            <a:r>
              <a:rPr lang="en-US" sz="1200" dirty="0" smtClean="0"/>
              <a:t> 51202 Israel</a:t>
            </a: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291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Query </a:t>
            </a:r>
            <a:r>
              <a:rPr lang="en-US" dirty="0" smtClean="0">
                <a:effectLst/>
              </a:rPr>
              <a:t>on </a:t>
            </a:r>
            <a:r>
              <a:rPr lang="en-US" dirty="0">
                <a:effectLst/>
              </a:rPr>
              <a:t>Array </a:t>
            </a:r>
            <a:r>
              <a:rPr lang="en-US" dirty="0" smtClean="0">
                <a:effectLst/>
              </a:rPr>
              <a:t> - The $size operator</a:t>
            </a:r>
            <a:endParaRPr lang="en-US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To test array length ( the number of elements in the array) we can use </a:t>
            </a:r>
            <a:r>
              <a:rPr lang="en-US" b="1" dirty="0" smtClean="0"/>
              <a:t>$size</a:t>
            </a:r>
            <a:r>
              <a:rPr lang="en-US" dirty="0" smtClean="0"/>
              <a:t> operator</a:t>
            </a:r>
          </a:p>
          <a:p>
            <a:endParaRPr lang="en-US" dirty="0"/>
          </a:p>
          <a:p>
            <a:r>
              <a:rPr lang="en-US" dirty="0"/>
              <a:t>res = </a:t>
            </a:r>
            <a:r>
              <a:rPr lang="en-US" dirty="0" err="1"/>
              <a:t>db.library.find</a:t>
            </a:r>
            <a:r>
              <a:rPr lang="en-US" dirty="0"/>
              <a:t>({"fiction": {"$size": 2}})</a:t>
            </a:r>
            <a:br>
              <a:rPr lang="en-US" dirty="0"/>
            </a:br>
            <a:r>
              <a:rPr lang="en-US" dirty="0"/>
              <a:t>for </a:t>
            </a:r>
            <a:r>
              <a:rPr lang="en-US" dirty="0" err="1"/>
              <a:t>cnt</a:t>
            </a:r>
            <a:r>
              <a:rPr lang="en-US" dirty="0"/>
              <a:t>, doc in enumerate(res, 1):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smtClean="0"/>
              <a:t>print</a:t>
            </a:r>
            <a:r>
              <a:rPr lang="en-US" dirty="0"/>
              <a:t>("{}) {}".format(</a:t>
            </a:r>
            <a:r>
              <a:rPr lang="en-US" dirty="0" err="1"/>
              <a:t>cnt</a:t>
            </a:r>
            <a:r>
              <a:rPr lang="en-US" dirty="0"/>
              <a:t>, doc</a:t>
            </a:r>
            <a:r>
              <a:rPr lang="en-US" dirty="0" smtClean="0"/>
              <a:t>))</a:t>
            </a:r>
          </a:p>
          <a:p>
            <a:endParaRPr lang="en-US" dirty="0"/>
          </a:p>
          <a:p>
            <a:r>
              <a:rPr lang="en-US" dirty="0"/>
              <a:t>1) </a:t>
            </a:r>
            <a:r>
              <a:rPr lang="en-US" dirty="0" smtClean="0"/>
              <a:t>{…,  </a:t>
            </a:r>
            <a:r>
              <a:rPr lang="en-US" dirty="0"/>
              <a:t>'name': 'b2', 'fiction': ['romance', 'love'], </a:t>
            </a:r>
            <a:r>
              <a:rPr lang="en-US" dirty="0" smtClean="0"/>
              <a:t>…}</a:t>
            </a:r>
            <a:endParaRPr lang="en-US" dirty="0"/>
          </a:p>
          <a:p>
            <a:r>
              <a:rPr lang="en-US" dirty="0"/>
              <a:t>2) </a:t>
            </a:r>
            <a:r>
              <a:rPr lang="en-US" dirty="0" smtClean="0"/>
              <a:t>{…, </a:t>
            </a:r>
            <a:r>
              <a:rPr lang="en-US" dirty="0"/>
              <a:t>'name': 'b5', 'fiction': ['love', 'romance</a:t>
            </a:r>
            <a:r>
              <a:rPr lang="en-US" dirty="0" smtClean="0"/>
              <a:t>'],…}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 smtClean="0"/>
              <a:t>© Copyright SELA software &amp; Education Labs Ltd. 14-18 Baruch Hirsch </a:t>
            </a:r>
            <a:r>
              <a:rPr lang="en-US" sz="1200" dirty="0" err="1" smtClean="0"/>
              <a:t>St.Bnei</a:t>
            </a:r>
            <a:r>
              <a:rPr lang="en-US" sz="1200" dirty="0" smtClean="0"/>
              <a:t> </a:t>
            </a:r>
            <a:r>
              <a:rPr lang="en-US" sz="1200" dirty="0" err="1" smtClean="0"/>
              <a:t>Brak</a:t>
            </a:r>
            <a:r>
              <a:rPr lang="en-US" sz="1200" dirty="0" smtClean="0"/>
              <a:t> 51202 Israel</a:t>
            </a: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055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Query embedded documents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</a:t>
            </a:r>
            <a:r>
              <a:rPr lang="en-US" sz="2400" i="1" dirty="0"/>
              <a:t>{ </a:t>
            </a:r>
            <a:r>
              <a:rPr lang="en-US" sz="2400" i="1" dirty="0" err="1" smtClean="0"/>
              <a:t>innerDocName</a:t>
            </a:r>
            <a:r>
              <a:rPr lang="en-US" sz="2400" i="1" dirty="0" smtClean="0"/>
              <a:t> </a:t>
            </a:r>
            <a:r>
              <a:rPr lang="en-US" sz="2400" i="1" dirty="0"/>
              <a:t>: </a:t>
            </a:r>
            <a:r>
              <a:rPr lang="en-US" sz="2400" i="1" dirty="0" err="1" smtClean="0"/>
              <a:t>someDocument</a:t>
            </a:r>
            <a:r>
              <a:rPr lang="en-US" sz="2400" i="1" dirty="0" smtClean="0"/>
              <a:t>}</a:t>
            </a:r>
            <a:r>
              <a:rPr lang="en-US" sz="2400" dirty="0"/>
              <a:t> query will test for exact </a:t>
            </a:r>
            <a:r>
              <a:rPr lang="en-US" sz="2400" dirty="0" smtClean="0"/>
              <a:t>match of </a:t>
            </a:r>
            <a:r>
              <a:rPr lang="en-US" sz="2400" dirty="0"/>
              <a:t>embedded </a:t>
            </a:r>
            <a:r>
              <a:rPr lang="en-US" sz="2400" dirty="0" smtClean="0"/>
              <a:t>document, </a:t>
            </a:r>
            <a:r>
              <a:rPr lang="en-US" sz="2400" dirty="0"/>
              <a:t>including the order of the elements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pPr marL="0" indent="0">
              <a:buNone/>
            </a:pPr>
            <a:r>
              <a:rPr lang="en-US" sz="2400" dirty="0"/>
              <a:t>res = </a:t>
            </a:r>
            <a:r>
              <a:rPr lang="en-US" sz="2400" dirty="0" err="1"/>
              <a:t>db.library.find</a:t>
            </a:r>
            <a:r>
              <a:rPr lang="en-US" sz="2400" dirty="0"/>
              <a:t>({"content" : {"pages" : 473,"fontSize" : 12</a:t>
            </a:r>
            <a:r>
              <a:rPr lang="en-US" sz="2400" dirty="0" smtClean="0"/>
              <a:t>}})</a:t>
            </a:r>
          </a:p>
          <a:p>
            <a:pPr marL="0" indent="0">
              <a:buNone/>
            </a:pPr>
            <a:r>
              <a:rPr lang="en-US" sz="2400" dirty="0" smtClean="0"/>
              <a:t>for </a:t>
            </a:r>
            <a:r>
              <a:rPr lang="en-US" sz="2400" dirty="0" err="1"/>
              <a:t>cnt</a:t>
            </a:r>
            <a:r>
              <a:rPr lang="en-US" sz="2400" dirty="0"/>
              <a:t>, doc in enumerate(res, 1):</a:t>
            </a:r>
            <a:br>
              <a:rPr lang="en-US" sz="2400" dirty="0"/>
            </a:br>
            <a:r>
              <a:rPr lang="en-US" sz="2400" dirty="0"/>
              <a:t>    print("{}) {}".format(</a:t>
            </a:r>
            <a:r>
              <a:rPr lang="en-US" sz="2400" dirty="0" err="1"/>
              <a:t>cnt</a:t>
            </a:r>
            <a:r>
              <a:rPr lang="en-US" sz="2400" dirty="0"/>
              <a:t>, doc</a:t>
            </a:r>
            <a:r>
              <a:rPr lang="en-US" sz="2400" dirty="0" smtClean="0"/>
              <a:t>))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The output:</a:t>
            </a:r>
          </a:p>
          <a:p>
            <a:pPr marL="0" indent="0">
              <a:buNone/>
            </a:pPr>
            <a:r>
              <a:rPr lang="en-US" sz="2400" dirty="0"/>
              <a:t>1) </a:t>
            </a:r>
            <a:r>
              <a:rPr lang="en-US" sz="2400" dirty="0" smtClean="0"/>
              <a:t>{…, </a:t>
            </a:r>
            <a:r>
              <a:rPr lang="en-US" sz="2400" dirty="0"/>
              <a:t>'name': 'b2', </a:t>
            </a:r>
            <a:r>
              <a:rPr lang="en-US" sz="2400" dirty="0" smtClean="0"/>
              <a:t>'content</a:t>
            </a:r>
            <a:r>
              <a:rPr lang="en-US" sz="2400" dirty="0"/>
              <a:t>': {'pages': 473, '</a:t>
            </a:r>
            <a:r>
              <a:rPr lang="en-US" sz="2400" dirty="0" err="1"/>
              <a:t>fontSize</a:t>
            </a:r>
            <a:r>
              <a:rPr lang="en-US" sz="2400" dirty="0"/>
              <a:t>': 12</a:t>
            </a:r>
            <a:r>
              <a:rPr lang="en-US" sz="2400" dirty="0" smtClean="0"/>
              <a:t>}, …}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 smtClean="0"/>
              <a:t>© Copyright SELA software &amp; Education Labs Ltd. 14-18 Baruch Hirsch </a:t>
            </a:r>
            <a:r>
              <a:rPr lang="en-US" sz="1200" dirty="0" err="1" smtClean="0"/>
              <a:t>St.Bnei</a:t>
            </a:r>
            <a:r>
              <a:rPr lang="en-US" sz="1200" dirty="0" smtClean="0"/>
              <a:t> </a:t>
            </a:r>
            <a:r>
              <a:rPr lang="en-US" sz="1200" dirty="0" err="1" smtClean="0"/>
              <a:t>Brak</a:t>
            </a:r>
            <a:r>
              <a:rPr lang="en-US" sz="1200" dirty="0" smtClean="0"/>
              <a:t> 51202 Israel</a:t>
            </a: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5667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Query embedded documents – access specific field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Specific field </a:t>
            </a:r>
            <a:r>
              <a:rPr lang="en-US" dirty="0"/>
              <a:t>in an embedded/nested </a:t>
            </a:r>
            <a:r>
              <a:rPr lang="en-US" dirty="0" smtClean="0"/>
              <a:t>document can be accessed, using the</a:t>
            </a:r>
            <a:r>
              <a:rPr lang="en-US" dirty="0"/>
              <a:t> dot </a:t>
            </a:r>
            <a:r>
              <a:rPr lang="en-US" dirty="0" smtClean="0"/>
              <a:t>notation. The query should be enclosed in quotes in this case</a:t>
            </a:r>
            <a:r>
              <a:rPr lang="en-US" sz="2600" dirty="0" smtClean="0"/>
              <a:t>.</a:t>
            </a:r>
            <a:endParaRPr lang="en-US" sz="2600" b="1" dirty="0" smtClean="0"/>
          </a:p>
          <a:p>
            <a:endParaRPr lang="en-US" sz="1700" dirty="0" smtClean="0"/>
          </a:p>
          <a:p>
            <a:r>
              <a:rPr lang="en-US" dirty="0" smtClean="0"/>
              <a:t>For example – find all documents where </a:t>
            </a:r>
            <a:r>
              <a:rPr lang="en-US" dirty="0" err="1" smtClean="0"/>
              <a:t>fontSize</a:t>
            </a:r>
            <a:r>
              <a:rPr lang="en-US" dirty="0" smtClean="0"/>
              <a:t> field of content nested document is 14</a:t>
            </a:r>
          </a:p>
          <a:p>
            <a:endParaRPr lang="en-US" sz="1600" dirty="0" smtClean="0"/>
          </a:p>
          <a:p>
            <a:pPr marL="0" indent="0">
              <a:buNone/>
            </a:pPr>
            <a:r>
              <a:rPr lang="en-US" dirty="0"/>
              <a:t>res = </a:t>
            </a:r>
            <a:r>
              <a:rPr lang="en-US" dirty="0" err="1"/>
              <a:t>db.library.find</a:t>
            </a:r>
            <a:r>
              <a:rPr lang="en-US" dirty="0"/>
              <a:t>({"</a:t>
            </a:r>
            <a:r>
              <a:rPr lang="en-US" dirty="0" err="1"/>
              <a:t>content.fontSize</a:t>
            </a:r>
            <a:r>
              <a:rPr lang="en-US" dirty="0"/>
              <a:t>" : 14})</a:t>
            </a:r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cnt</a:t>
            </a:r>
            <a:r>
              <a:rPr lang="en-US" dirty="0"/>
              <a:t>, doc in enumerate(res, 1):</a:t>
            </a:r>
            <a:br>
              <a:rPr lang="en-US" dirty="0"/>
            </a:br>
            <a:r>
              <a:rPr lang="en-US" dirty="0"/>
              <a:t>    print("{}) {}".format(</a:t>
            </a:r>
            <a:r>
              <a:rPr lang="en-US" dirty="0" err="1"/>
              <a:t>cnt</a:t>
            </a:r>
            <a:r>
              <a:rPr lang="en-US" dirty="0"/>
              <a:t>, doc))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600" dirty="0" smtClean="0"/>
              <a:t>The output</a:t>
            </a:r>
            <a:r>
              <a:rPr lang="en-US" sz="2500" dirty="0" smtClean="0"/>
              <a:t>:</a:t>
            </a:r>
          </a:p>
          <a:p>
            <a:pPr marL="0" indent="0">
              <a:buNone/>
            </a:pPr>
            <a:r>
              <a:rPr lang="en-US" sz="2500" dirty="0"/>
              <a:t>1) </a:t>
            </a:r>
            <a:r>
              <a:rPr lang="en-US" sz="2500" dirty="0" smtClean="0"/>
              <a:t>{…, </a:t>
            </a:r>
            <a:r>
              <a:rPr lang="en-US" sz="2500" dirty="0"/>
              <a:t>'name': 'b1', </a:t>
            </a:r>
            <a:r>
              <a:rPr lang="en-US" sz="2500" dirty="0" smtClean="0"/>
              <a:t>'content</a:t>
            </a:r>
            <a:r>
              <a:rPr lang="en-US" sz="2500" dirty="0"/>
              <a:t>': {'pages': 230, '</a:t>
            </a:r>
            <a:r>
              <a:rPr lang="en-US" sz="2500" dirty="0" err="1"/>
              <a:t>fontSize</a:t>
            </a:r>
            <a:r>
              <a:rPr lang="en-US" sz="2500" dirty="0"/>
              <a:t>': 14, '</a:t>
            </a:r>
            <a:r>
              <a:rPr lang="en-US" sz="2500" dirty="0" err="1"/>
              <a:t>hasPictures</a:t>
            </a:r>
            <a:r>
              <a:rPr lang="en-US" sz="2500" dirty="0"/>
              <a:t>': True</a:t>
            </a:r>
            <a:r>
              <a:rPr lang="en-US" sz="2500" dirty="0" smtClean="0"/>
              <a:t>}, …}</a:t>
            </a:r>
            <a:endParaRPr lang="en-US" sz="2500" dirty="0"/>
          </a:p>
          <a:p>
            <a:pPr marL="0" indent="0">
              <a:buNone/>
            </a:pPr>
            <a:r>
              <a:rPr lang="en-US" sz="2600" dirty="0"/>
              <a:t>2) </a:t>
            </a:r>
            <a:r>
              <a:rPr lang="en-US" sz="2600" dirty="0" smtClean="0"/>
              <a:t>{…,'name</a:t>
            </a:r>
            <a:r>
              <a:rPr lang="en-US" sz="2600" dirty="0"/>
              <a:t>': 'b3', </a:t>
            </a:r>
            <a:r>
              <a:rPr lang="en-US" sz="2600" dirty="0" smtClean="0"/>
              <a:t>'content</a:t>
            </a:r>
            <a:r>
              <a:rPr lang="en-US" sz="2600" dirty="0"/>
              <a:t>': {'pages': 15, '</a:t>
            </a:r>
            <a:r>
              <a:rPr lang="en-US" sz="2600" dirty="0" err="1"/>
              <a:t>fontSize</a:t>
            </a:r>
            <a:r>
              <a:rPr lang="en-US" sz="2600" dirty="0"/>
              <a:t>': 14, 'colorful': True}}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 smtClean="0"/>
              <a:t>© Copyright SELA software &amp; Education Labs Ltd. 14-18 Baruch Hirsch </a:t>
            </a:r>
            <a:r>
              <a:rPr lang="en-US" sz="1200" dirty="0" err="1" smtClean="0"/>
              <a:t>St.Bnei</a:t>
            </a:r>
            <a:r>
              <a:rPr lang="en-US" sz="1200" dirty="0" smtClean="0"/>
              <a:t> </a:t>
            </a:r>
            <a:r>
              <a:rPr lang="en-US" sz="1200" dirty="0" err="1" smtClean="0"/>
              <a:t>Brak</a:t>
            </a:r>
            <a:r>
              <a:rPr lang="en-US" sz="1200" dirty="0" smtClean="0"/>
              <a:t> 51202 Israel</a:t>
            </a: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Query embedded documents – access specific field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/>
              <a:t>Find all documents where pages value (of content embedded document) is 473 and </a:t>
            </a:r>
            <a:r>
              <a:rPr lang="en-US" sz="2400" dirty="0" err="1" smtClean="0"/>
              <a:t>fontSize</a:t>
            </a:r>
            <a:r>
              <a:rPr lang="en-US" sz="2400" dirty="0" smtClean="0"/>
              <a:t> (in content) is greater than 10</a:t>
            </a:r>
          </a:p>
          <a:p>
            <a:endParaRPr lang="en-US" sz="2400" dirty="0" smtClean="0"/>
          </a:p>
          <a:p>
            <a:r>
              <a:rPr lang="en-US" sz="2400" dirty="0" smtClean="0"/>
              <a:t>res </a:t>
            </a:r>
            <a:r>
              <a:rPr lang="en-US" sz="2400" dirty="0"/>
              <a:t>= </a:t>
            </a:r>
            <a:r>
              <a:rPr lang="en-US" sz="2400" dirty="0" err="1"/>
              <a:t>db.library.find</a:t>
            </a:r>
            <a:r>
              <a:rPr lang="en-US" sz="2400" dirty="0"/>
              <a:t>({"</a:t>
            </a:r>
            <a:r>
              <a:rPr lang="en-US" sz="2400" dirty="0" err="1"/>
              <a:t>content.pages</a:t>
            </a:r>
            <a:r>
              <a:rPr lang="en-US" sz="2400" dirty="0"/>
              <a:t>" : 473</a:t>
            </a:r>
            <a:r>
              <a:rPr lang="en-US" sz="2400" dirty="0" smtClean="0"/>
              <a:t>, "</a:t>
            </a:r>
            <a:r>
              <a:rPr lang="en-US" sz="2400" dirty="0"/>
              <a:t>content.fontSize" </a:t>
            </a:r>
            <a:r>
              <a:rPr lang="en-US" sz="2400" dirty="0" smtClean="0"/>
              <a:t>:  </a:t>
            </a:r>
            <a:r>
              <a:rPr lang="en-US" sz="2400" dirty="0"/>
              <a:t>{"$gt":10</a:t>
            </a:r>
            <a:r>
              <a:rPr lang="en-US" sz="2400" dirty="0" smtClean="0"/>
              <a:t>}})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>for </a:t>
            </a:r>
            <a:r>
              <a:rPr lang="en-US" sz="2400" dirty="0" err="1"/>
              <a:t>cnt</a:t>
            </a:r>
            <a:r>
              <a:rPr lang="en-US" sz="2400" dirty="0"/>
              <a:t>, doc in enumerate(res, 1):</a:t>
            </a:r>
            <a:br>
              <a:rPr lang="en-US" sz="2400" dirty="0"/>
            </a:br>
            <a:r>
              <a:rPr lang="en-US" sz="2400" dirty="0"/>
              <a:t>    print("{}) {}".format(</a:t>
            </a:r>
            <a:r>
              <a:rPr lang="en-US" sz="2400" dirty="0" err="1"/>
              <a:t>cnt</a:t>
            </a:r>
            <a:r>
              <a:rPr lang="en-US" sz="2400" dirty="0"/>
              <a:t>, doc</a:t>
            </a:r>
            <a:r>
              <a:rPr lang="en-US" sz="2400" dirty="0" smtClean="0"/>
              <a:t>))</a:t>
            </a:r>
          </a:p>
          <a:p>
            <a:endParaRPr lang="en-US" sz="2400" dirty="0"/>
          </a:p>
          <a:p>
            <a:r>
              <a:rPr lang="en-US" sz="2400" dirty="0"/>
              <a:t>1) </a:t>
            </a:r>
            <a:r>
              <a:rPr lang="en-US" sz="2400" dirty="0" smtClean="0"/>
              <a:t>{…, </a:t>
            </a:r>
            <a:r>
              <a:rPr lang="en-US" sz="2400" dirty="0"/>
              <a:t>'name': 'b2', </a:t>
            </a:r>
            <a:r>
              <a:rPr lang="en-US" sz="2400" dirty="0" smtClean="0"/>
              <a:t>'content</a:t>
            </a:r>
            <a:r>
              <a:rPr lang="en-US" sz="2400" dirty="0"/>
              <a:t>': {'pages': 473, '</a:t>
            </a:r>
            <a:r>
              <a:rPr lang="en-US" sz="2400" dirty="0" err="1"/>
              <a:t>fontSize</a:t>
            </a:r>
            <a:r>
              <a:rPr lang="en-US" sz="2400" dirty="0"/>
              <a:t>': 12}}</a:t>
            </a:r>
          </a:p>
          <a:p>
            <a:r>
              <a:rPr lang="en-US" sz="2400" dirty="0"/>
              <a:t>2) </a:t>
            </a:r>
            <a:r>
              <a:rPr lang="en-US" sz="2400" dirty="0" smtClean="0"/>
              <a:t>{…, </a:t>
            </a:r>
            <a:r>
              <a:rPr lang="en-US" sz="2400" dirty="0"/>
              <a:t>'name': 'b6', </a:t>
            </a:r>
            <a:r>
              <a:rPr lang="en-US" sz="2400" dirty="0" smtClean="0"/>
              <a:t>'content</a:t>
            </a:r>
            <a:r>
              <a:rPr lang="en-US" sz="2400" dirty="0"/>
              <a:t>': {'</a:t>
            </a:r>
            <a:r>
              <a:rPr lang="en-US" sz="2400" dirty="0" err="1"/>
              <a:t>fontSize</a:t>
            </a:r>
            <a:r>
              <a:rPr lang="en-US" sz="2400" dirty="0"/>
              <a:t>': 12, 'pages': 473}}</a:t>
            </a:r>
          </a:p>
          <a:p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 smtClean="0"/>
              <a:t>© Copyright SELA software &amp; Education Labs Ltd. 14-18 Baruch Hirsch </a:t>
            </a:r>
            <a:r>
              <a:rPr lang="en-US" sz="1200" dirty="0" err="1" smtClean="0"/>
              <a:t>St.Bnei</a:t>
            </a:r>
            <a:r>
              <a:rPr lang="en-US" sz="1200" dirty="0" smtClean="0"/>
              <a:t> </a:t>
            </a:r>
            <a:r>
              <a:rPr lang="en-US" sz="1200" dirty="0" err="1" smtClean="0"/>
              <a:t>Brak</a:t>
            </a:r>
            <a:r>
              <a:rPr lang="en-US" sz="1200" dirty="0" smtClean="0"/>
              <a:t> 51202 Israel</a:t>
            </a: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9819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Query for field existence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field can be tested for existence using the </a:t>
            </a:r>
            <a:r>
              <a:rPr lang="en-US" sz="2400" i="1" dirty="0" smtClean="0"/>
              <a:t>$exists </a:t>
            </a:r>
            <a:r>
              <a:rPr lang="en-US" sz="2400" dirty="0" smtClean="0"/>
              <a:t>operator</a:t>
            </a:r>
            <a:endParaRPr lang="en-US" sz="2400" i="1" dirty="0" smtClean="0"/>
          </a:p>
          <a:p>
            <a:pPr marL="0" indent="0">
              <a:buNone/>
            </a:pPr>
            <a:r>
              <a:rPr lang="en-US" sz="2400" i="1" dirty="0" smtClean="0"/>
              <a:t>	</a:t>
            </a:r>
            <a:r>
              <a:rPr lang="en-US" sz="2400" i="1" dirty="0"/>
              <a:t> { field: { $exists: </a:t>
            </a:r>
            <a:r>
              <a:rPr lang="en-US" sz="2400" i="1" dirty="0" smtClean="0"/>
              <a:t>true/false</a:t>
            </a:r>
            <a:r>
              <a:rPr lang="en-US" sz="2400" i="1" dirty="0"/>
              <a:t> } </a:t>
            </a:r>
            <a:r>
              <a:rPr lang="en-US" sz="2400" i="1" dirty="0" smtClean="0"/>
              <a:t>}</a:t>
            </a:r>
          </a:p>
          <a:p>
            <a:pPr marL="0" indent="0">
              <a:buNone/>
            </a:pPr>
            <a:endParaRPr lang="en-US" sz="2400" i="1" dirty="0" smtClean="0"/>
          </a:p>
          <a:p>
            <a:pPr marL="0" indent="0">
              <a:buNone/>
            </a:pPr>
            <a:r>
              <a:rPr lang="en-US" sz="2400" dirty="0"/>
              <a:t>Find all documents </a:t>
            </a:r>
            <a:r>
              <a:rPr lang="en-US" sz="2400" dirty="0" smtClean="0"/>
              <a:t>that contain field named </a:t>
            </a:r>
            <a:r>
              <a:rPr lang="en-US" sz="2400" i="1" dirty="0"/>
              <a:t>colorful</a:t>
            </a:r>
            <a:r>
              <a:rPr lang="en-US" sz="2400" dirty="0"/>
              <a:t> </a:t>
            </a:r>
            <a:r>
              <a:rPr lang="en-US" sz="2400" dirty="0" smtClean="0"/>
              <a:t>in </a:t>
            </a:r>
            <a:r>
              <a:rPr lang="en-US" sz="2400" i="1" dirty="0"/>
              <a:t>content</a:t>
            </a:r>
            <a:r>
              <a:rPr lang="en-US" sz="2400" dirty="0"/>
              <a:t> embedded </a:t>
            </a:r>
            <a:r>
              <a:rPr lang="en-US" sz="2400" dirty="0" smtClean="0"/>
              <a:t>document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 res </a:t>
            </a:r>
            <a:r>
              <a:rPr lang="en-US" sz="2400" dirty="0"/>
              <a:t>= </a:t>
            </a:r>
            <a:r>
              <a:rPr lang="en-US" sz="2400" dirty="0" err="1"/>
              <a:t>db.library.find</a:t>
            </a:r>
            <a:r>
              <a:rPr lang="en-US" sz="2400" dirty="0"/>
              <a:t>({"</a:t>
            </a:r>
            <a:r>
              <a:rPr lang="en-US" sz="2400" dirty="0" err="1"/>
              <a:t>content.colorful</a:t>
            </a:r>
            <a:r>
              <a:rPr lang="en-US" sz="2400" dirty="0"/>
              <a:t>" : {"$exists": True}})</a:t>
            </a:r>
            <a:br>
              <a:rPr lang="en-US" sz="2400" dirty="0"/>
            </a:br>
            <a:r>
              <a:rPr lang="en-US" sz="2400" dirty="0" smtClean="0"/>
              <a:t>for </a:t>
            </a:r>
            <a:r>
              <a:rPr lang="en-US" sz="2400" dirty="0" err="1"/>
              <a:t>cnt</a:t>
            </a:r>
            <a:r>
              <a:rPr lang="en-US" sz="2400" dirty="0"/>
              <a:t>, doc in enumerate(res, 1):</a:t>
            </a:r>
            <a:br>
              <a:rPr lang="en-US" sz="2400" dirty="0"/>
            </a:br>
            <a:r>
              <a:rPr lang="en-US" sz="2400" dirty="0"/>
              <a:t>    print("{}) {}".format(</a:t>
            </a:r>
            <a:r>
              <a:rPr lang="en-US" sz="2400" dirty="0" err="1"/>
              <a:t>cnt</a:t>
            </a:r>
            <a:r>
              <a:rPr lang="en-US" sz="2400" dirty="0"/>
              <a:t>, doc</a:t>
            </a:r>
            <a:r>
              <a:rPr lang="en-US" sz="2400" dirty="0" smtClean="0"/>
              <a:t>))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 smtClean="0"/>
              <a:t>© Copyright SELA software &amp; Education Labs Ltd. 14-18 Baruch Hirsch </a:t>
            </a:r>
            <a:r>
              <a:rPr lang="en-US" sz="1200" dirty="0" err="1" smtClean="0"/>
              <a:t>St.Bnei</a:t>
            </a:r>
            <a:r>
              <a:rPr lang="en-US" sz="1200" dirty="0" smtClean="0"/>
              <a:t> </a:t>
            </a:r>
            <a:r>
              <a:rPr lang="en-US" sz="1200" dirty="0" err="1" smtClean="0"/>
              <a:t>Brak</a:t>
            </a:r>
            <a:r>
              <a:rPr lang="en-US" sz="1200" dirty="0" smtClean="0"/>
              <a:t> 51202 Israel</a:t>
            </a: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0496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56792"/>
            <a:ext cx="8534400" cy="4608512"/>
          </a:xfrm>
        </p:spPr>
        <p:txBody>
          <a:bodyPr>
            <a:noAutofit/>
          </a:bodyPr>
          <a:lstStyle/>
          <a:p>
            <a:r>
              <a:rPr lang="en-US" sz="2000" dirty="0"/>
              <a:t>MongoDB has the following functions for </a:t>
            </a:r>
            <a:r>
              <a:rPr lang="en-US" sz="2000" dirty="0" smtClean="0"/>
              <a:t>updating/changing the documents </a:t>
            </a:r>
            <a:r>
              <a:rPr lang="en-US" sz="2000" dirty="0"/>
              <a:t>(functions names are for mongo shell):</a:t>
            </a:r>
          </a:p>
          <a:p>
            <a:pPr lvl="1"/>
            <a:r>
              <a:rPr lang="en-US" sz="2000" dirty="0" err="1" smtClean="0"/>
              <a:t>updateOne</a:t>
            </a:r>
            <a:r>
              <a:rPr lang="en-US" sz="2000" dirty="0" smtClean="0"/>
              <a:t> </a:t>
            </a:r>
            <a:r>
              <a:rPr lang="en-US" sz="2000" dirty="0"/>
              <a:t>– </a:t>
            </a:r>
            <a:r>
              <a:rPr lang="en-US" sz="2000" dirty="0" smtClean="0"/>
              <a:t> updates a </a:t>
            </a:r>
            <a:r>
              <a:rPr lang="en-US" sz="2000" dirty="0"/>
              <a:t>single </a:t>
            </a:r>
            <a:r>
              <a:rPr lang="en-US" sz="2000" dirty="0" smtClean="0"/>
              <a:t>document (if any) </a:t>
            </a:r>
            <a:r>
              <a:rPr lang="en-US" sz="2000" dirty="0"/>
              <a:t>that match a specified </a:t>
            </a:r>
            <a:r>
              <a:rPr lang="en-US" sz="2000" dirty="0" smtClean="0"/>
              <a:t>filter</a:t>
            </a:r>
          </a:p>
          <a:p>
            <a:pPr lvl="1"/>
            <a:r>
              <a:rPr lang="en-US" sz="2000" dirty="0" err="1" smtClean="0"/>
              <a:t>updateMany</a:t>
            </a:r>
            <a:r>
              <a:rPr lang="en-US" sz="2000" dirty="0" smtClean="0"/>
              <a:t>  </a:t>
            </a:r>
            <a:r>
              <a:rPr lang="en-US" sz="2000" dirty="0"/>
              <a:t>– u</a:t>
            </a:r>
            <a:r>
              <a:rPr lang="en-US" sz="2000" dirty="0" smtClean="0"/>
              <a:t>pdate </a:t>
            </a:r>
            <a:r>
              <a:rPr lang="en-US" sz="2000" dirty="0"/>
              <a:t>all documents that match a specified filter</a:t>
            </a:r>
            <a:endParaRPr lang="en-US" sz="2000" dirty="0" smtClean="0"/>
          </a:p>
          <a:p>
            <a:pPr lvl="1"/>
            <a:r>
              <a:rPr lang="en-US" sz="2000" dirty="0" err="1" smtClean="0"/>
              <a:t>replaceOne</a:t>
            </a:r>
            <a:r>
              <a:rPr lang="en-US" sz="2000" dirty="0" smtClean="0"/>
              <a:t> – replaces </a:t>
            </a:r>
            <a:r>
              <a:rPr lang="en-US" sz="2000" dirty="0"/>
              <a:t>a single document </a:t>
            </a:r>
            <a:r>
              <a:rPr lang="en-US" sz="2000" dirty="0" smtClean="0"/>
              <a:t>(if any) that </a:t>
            </a:r>
            <a:r>
              <a:rPr lang="en-US" sz="2000" dirty="0"/>
              <a:t>match a specified </a:t>
            </a:r>
            <a:r>
              <a:rPr lang="en-US" sz="2000" dirty="0" smtClean="0"/>
              <a:t>filter</a:t>
            </a:r>
          </a:p>
          <a:p>
            <a:r>
              <a:rPr lang="en-US" sz="2000" dirty="0" err="1" smtClean="0"/>
              <a:t>updateOne</a:t>
            </a:r>
            <a:r>
              <a:rPr lang="en-US" sz="2000" dirty="0" smtClean="0"/>
              <a:t> and </a:t>
            </a:r>
            <a:r>
              <a:rPr lang="en-US" sz="2000" dirty="0" err="1" smtClean="0"/>
              <a:t>replaceOne</a:t>
            </a:r>
            <a:r>
              <a:rPr lang="en-US" sz="2000" dirty="0" smtClean="0"/>
              <a:t> functions are update the only the first document in case the multiple </a:t>
            </a:r>
            <a:r>
              <a:rPr lang="en-US" sz="2000" dirty="0"/>
              <a:t>documents </a:t>
            </a:r>
            <a:r>
              <a:rPr lang="en-US" sz="2000" dirty="0" smtClean="0"/>
              <a:t>match </a:t>
            </a:r>
            <a:r>
              <a:rPr lang="en-US" sz="2000" dirty="0"/>
              <a:t>the specified filter</a:t>
            </a:r>
          </a:p>
          <a:p>
            <a:pPr>
              <a:spcBef>
                <a:spcPts val="0"/>
              </a:spcBef>
            </a:pPr>
            <a:r>
              <a:rPr lang="en-US" sz="2000" dirty="0" smtClean="0"/>
              <a:t>For </a:t>
            </a:r>
            <a:r>
              <a:rPr lang="en-US" sz="2000" dirty="0"/>
              <a:t>Python the names are: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2000" dirty="0" err="1" smtClean="0"/>
              <a:t>update_one</a:t>
            </a:r>
            <a:r>
              <a:rPr lang="en-US" sz="2000" dirty="0" smtClean="0"/>
              <a:t>, </a:t>
            </a:r>
            <a:r>
              <a:rPr lang="en-US" sz="2000" dirty="0" err="1"/>
              <a:t>update</a:t>
            </a:r>
            <a:r>
              <a:rPr lang="en-US" sz="2000" dirty="0" err="1" smtClean="0"/>
              <a:t>_many</a:t>
            </a:r>
            <a:r>
              <a:rPr lang="en-US" sz="2000" dirty="0" smtClean="0"/>
              <a:t>, </a:t>
            </a:r>
            <a:r>
              <a:rPr lang="en-US" sz="2000" dirty="0" err="1" smtClean="0"/>
              <a:t>replace_one</a:t>
            </a:r>
            <a:r>
              <a:rPr lang="en-US" sz="2000" dirty="0" smtClean="0"/>
              <a:t> respectively</a:t>
            </a: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 smtClean="0"/>
              <a:t>© Copyright SELA software &amp; Education Labs Ltd. 14-18 Baruch Hirsch </a:t>
            </a:r>
            <a:r>
              <a:rPr lang="en-US" sz="1200" dirty="0" err="1" smtClean="0"/>
              <a:t>St.Bnei</a:t>
            </a:r>
            <a:r>
              <a:rPr lang="en-US" sz="1200" dirty="0" smtClean="0"/>
              <a:t> </a:t>
            </a:r>
            <a:r>
              <a:rPr lang="en-US" sz="1200" dirty="0" err="1" smtClean="0"/>
              <a:t>Brak</a:t>
            </a:r>
            <a:r>
              <a:rPr lang="en-US" sz="1200" dirty="0" smtClean="0"/>
              <a:t> 51202 Israel</a:t>
            </a: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686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Update specific fields of a single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simplest use case of the MongoDB update command is to </a:t>
            </a:r>
            <a:r>
              <a:rPr lang="en-US" dirty="0" smtClean="0"/>
              <a:t>replace a</a:t>
            </a:r>
            <a:r>
              <a:rPr lang="en-US" dirty="0"/>
              <a:t> single existing document entirely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res = </a:t>
            </a:r>
            <a:r>
              <a:rPr lang="en-US" dirty="0" err="1"/>
              <a:t>db.library.find</a:t>
            </a:r>
            <a:r>
              <a:rPr lang="en-US" dirty="0"/>
              <a:t>({})</a:t>
            </a:r>
            <a:br>
              <a:rPr lang="en-US" dirty="0"/>
            </a:br>
            <a:r>
              <a:rPr lang="en-US" dirty="0"/>
              <a:t>for </a:t>
            </a:r>
            <a:r>
              <a:rPr lang="en-US" dirty="0" err="1"/>
              <a:t>cnt</a:t>
            </a:r>
            <a:r>
              <a:rPr lang="en-US" dirty="0"/>
              <a:t>, doc in enumerate(res, 1):</a:t>
            </a:r>
            <a:br>
              <a:rPr lang="en-US" dirty="0"/>
            </a:br>
            <a:r>
              <a:rPr lang="en-US" dirty="0"/>
              <a:t>    print("{}) {}".format(</a:t>
            </a:r>
            <a:r>
              <a:rPr lang="en-US" dirty="0" err="1"/>
              <a:t>cnt</a:t>
            </a:r>
            <a:r>
              <a:rPr lang="en-US" dirty="0"/>
              <a:t>, doc</a:t>
            </a:r>
            <a:r>
              <a:rPr lang="en-US" dirty="0" smtClean="0"/>
              <a:t>))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/>
              <a:t>db.library.update_one</a:t>
            </a:r>
            <a:r>
              <a:rPr lang="en-US" dirty="0"/>
              <a:t>({"name":"b6"}, {"$set": {"price":38</a:t>
            </a:r>
            <a:r>
              <a:rPr lang="en-US" dirty="0" smtClean="0"/>
              <a:t>}})</a:t>
            </a:r>
          </a:p>
          <a:p>
            <a:pPr marL="0" indent="0">
              <a:buNone/>
            </a:pPr>
            <a:r>
              <a:rPr lang="en-US" dirty="0" err="1"/>
              <a:t>db.library.update_one</a:t>
            </a:r>
            <a:r>
              <a:rPr lang="en-US" dirty="0"/>
              <a:t>({"name":"b1"}, {"$</a:t>
            </a:r>
            <a:r>
              <a:rPr lang="en-US" dirty="0" err="1"/>
              <a:t>inc</a:t>
            </a:r>
            <a:r>
              <a:rPr lang="en-US" dirty="0"/>
              <a:t>":{"price":-3</a:t>
            </a:r>
            <a:r>
              <a:rPr lang="en-US" dirty="0" smtClean="0"/>
              <a:t>}})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res = </a:t>
            </a:r>
            <a:r>
              <a:rPr lang="en-US" dirty="0" err="1"/>
              <a:t>db.library.find</a:t>
            </a:r>
            <a:r>
              <a:rPr lang="en-US" dirty="0"/>
              <a:t>({})</a:t>
            </a:r>
            <a:br>
              <a:rPr lang="en-US" dirty="0"/>
            </a:br>
            <a:r>
              <a:rPr lang="en-US" dirty="0"/>
              <a:t>for </a:t>
            </a:r>
            <a:r>
              <a:rPr lang="en-US" dirty="0" err="1"/>
              <a:t>cnt</a:t>
            </a:r>
            <a:r>
              <a:rPr lang="en-US" dirty="0"/>
              <a:t>, doc in enumerate(res, 1):</a:t>
            </a:r>
            <a:br>
              <a:rPr lang="en-US" dirty="0"/>
            </a:br>
            <a:r>
              <a:rPr lang="en-US" dirty="0"/>
              <a:t>    print("{}) {}".format(</a:t>
            </a:r>
            <a:r>
              <a:rPr lang="en-US" dirty="0" err="1"/>
              <a:t>cnt</a:t>
            </a:r>
            <a:r>
              <a:rPr lang="en-US" dirty="0"/>
              <a:t>, doc))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 smtClean="0"/>
              <a:t>© Copyright SELA software &amp; Education Labs Ltd. 14-18 Baruch Hirsch </a:t>
            </a:r>
            <a:r>
              <a:rPr lang="en-US" sz="1200" dirty="0" err="1" smtClean="0"/>
              <a:t>St.Bnei</a:t>
            </a:r>
            <a:r>
              <a:rPr lang="en-US" sz="1200" dirty="0" smtClean="0"/>
              <a:t> </a:t>
            </a:r>
            <a:r>
              <a:rPr lang="en-US" sz="1200" dirty="0" err="1" smtClean="0"/>
              <a:t>Brak</a:t>
            </a:r>
            <a:r>
              <a:rPr lang="en-US" sz="1200" dirty="0" smtClean="0"/>
              <a:t> 51202 Israel</a:t>
            </a: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868144" y="4725144"/>
            <a:ext cx="28083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$</a:t>
            </a:r>
            <a:r>
              <a:rPr lang="en-US" sz="2400" b="1" dirty="0" err="1" smtClean="0"/>
              <a:t>inc</a:t>
            </a:r>
            <a:r>
              <a:rPr lang="en-US" sz="2400" b="1" dirty="0" smtClean="0"/>
              <a:t> </a:t>
            </a:r>
            <a:r>
              <a:rPr lang="en-US" sz="2400" dirty="0" smtClean="0"/>
              <a:t>operator – increments/decrement numeric values</a:t>
            </a:r>
            <a:endParaRPr lang="en-US" sz="2400" dirty="0"/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5580112" y="4509120"/>
            <a:ext cx="792088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7819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Update specific fields of a single </a:t>
            </a:r>
            <a:r>
              <a:rPr lang="en-US" dirty="0" smtClean="0">
                <a:effectLst/>
              </a:rPr>
              <a:t>document – the output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71600"/>
            <a:ext cx="8839200" cy="47937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Before:</a:t>
            </a:r>
          </a:p>
          <a:p>
            <a:pPr marL="0" indent="0">
              <a:buNone/>
            </a:pPr>
            <a:r>
              <a:rPr lang="en-US" sz="2000" dirty="0" smtClean="0"/>
              <a:t>1</a:t>
            </a:r>
            <a:r>
              <a:rPr lang="en-US" sz="2000" dirty="0"/>
              <a:t>) {'_id': </a:t>
            </a:r>
            <a:r>
              <a:rPr lang="en-US" sz="2000" dirty="0" err="1"/>
              <a:t>ObjectId</a:t>
            </a:r>
            <a:r>
              <a:rPr lang="en-US" sz="2000" dirty="0"/>
              <a:t>('5ac9119380d5594a90954ec3'), 'name': 'b1</a:t>
            </a:r>
            <a:r>
              <a:rPr lang="en-US" sz="2000" dirty="0" smtClean="0"/>
              <a:t>', </a:t>
            </a:r>
            <a:r>
              <a:rPr lang="en-US" sz="2000" b="1" dirty="0"/>
              <a:t>'price': </a:t>
            </a:r>
            <a:r>
              <a:rPr lang="en-US" sz="2000" b="1" dirty="0" smtClean="0"/>
              <a:t>60</a:t>
            </a:r>
            <a:r>
              <a:rPr lang="en-US" sz="2000" dirty="0" smtClean="0"/>
              <a:t>,…}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2) {'_id': </a:t>
            </a:r>
            <a:r>
              <a:rPr lang="en-US" sz="2000" dirty="0" err="1"/>
              <a:t>ObjectId</a:t>
            </a:r>
            <a:r>
              <a:rPr lang="en-US" sz="2000" dirty="0"/>
              <a:t>('5ac9119380d5594a90954ec4'), 'name': 'b2</a:t>
            </a:r>
            <a:r>
              <a:rPr lang="en-US" sz="2000" dirty="0" smtClean="0"/>
              <a:t>', …}</a:t>
            </a:r>
          </a:p>
          <a:p>
            <a:pPr marL="0" indent="0">
              <a:buNone/>
            </a:pPr>
            <a:r>
              <a:rPr lang="en-US" sz="2000" dirty="0" smtClean="0"/>
              <a:t>…….</a:t>
            </a: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6</a:t>
            </a:r>
            <a:r>
              <a:rPr lang="en-US" sz="2000" dirty="0"/>
              <a:t>) {'_id': </a:t>
            </a:r>
            <a:r>
              <a:rPr lang="en-US" sz="2000" dirty="0" err="1"/>
              <a:t>ObjectId</a:t>
            </a:r>
            <a:r>
              <a:rPr lang="en-US" sz="2000" dirty="0"/>
              <a:t>('5ac9119380d5594a90954ec8'), 'name': 'b6', 'fiction': ['love', 'romance', 'comedy'], </a:t>
            </a:r>
            <a:r>
              <a:rPr lang="en-US" sz="2000" b="1" dirty="0"/>
              <a:t>'price': </a:t>
            </a:r>
            <a:r>
              <a:rPr lang="en-US" sz="2000" b="1" dirty="0" smtClean="0"/>
              <a:t>43</a:t>
            </a:r>
            <a:r>
              <a:rPr lang="en-US" sz="2000" dirty="0" smtClean="0"/>
              <a:t>,…}</a:t>
            </a: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After:</a:t>
            </a:r>
          </a:p>
          <a:p>
            <a:pPr marL="0" indent="0">
              <a:buNone/>
            </a:pPr>
            <a:r>
              <a:rPr lang="en-US" sz="2000" dirty="0"/>
              <a:t>1) {'_id': </a:t>
            </a:r>
            <a:r>
              <a:rPr lang="en-US" sz="2000" dirty="0" err="1"/>
              <a:t>ObjectId</a:t>
            </a:r>
            <a:r>
              <a:rPr lang="en-US" sz="2000" dirty="0"/>
              <a:t>('5ac9119380d5594a90954ec3'), 'name': </a:t>
            </a:r>
            <a:r>
              <a:rPr lang="en-US" sz="2000" dirty="0" smtClean="0"/>
              <a:t>'b1‘</a:t>
            </a:r>
            <a:r>
              <a:rPr lang="en-US" sz="2000" b="1" dirty="0"/>
              <a:t>'price': </a:t>
            </a:r>
            <a:r>
              <a:rPr lang="en-US" sz="2000" b="1" dirty="0" smtClean="0"/>
              <a:t>57</a:t>
            </a:r>
            <a:r>
              <a:rPr lang="en-US" sz="2000" dirty="0" smtClean="0"/>
              <a:t>, …}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…….</a:t>
            </a:r>
          </a:p>
          <a:p>
            <a:pPr marL="0" indent="0">
              <a:buNone/>
            </a:pPr>
            <a:r>
              <a:rPr lang="en-US" sz="2000" dirty="0"/>
              <a:t>6) {'_id': </a:t>
            </a:r>
            <a:r>
              <a:rPr lang="en-US" sz="2000" dirty="0" err="1"/>
              <a:t>ObjectId</a:t>
            </a:r>
            <a:r>
              <a:rPr lang="en-US" sz="2000" dirty="0"/>
              <a:t>('5ac9119380d5594a90954ec8'), 'name': 'b6', 'fiction': ['love', 'romance', 'comedy'], </a:t>
            </a:r>
            <a:r>
              <a:rPr lang="en-US" sz="2000" b="1" dirty="0"/>
              <a:t>'price': </a:t>
            </a:r>
            <a:r>
              <a:rPr lang="en-US" sz="2000" b="1" dirty="0" smtClean="0"/>
              <a:t>38</a:t>
            </a:r>
            <a:r>
              <a:rPr lang="en-US" sz="2000" dirty="0" smtClean="0"/>
              <a:t>, …}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 smtClean="0"/>
              <a:t>© Copyright SELA software &amp; Education Labs Ltd. 14-18 Baruch Hirsch </a:t>
            </a:r>
            <a:r>
              <a:rPr lang="en-US" sz="1200" dirty="0" err="1" smtClean="0"/>
              <a:t>St.Bnei</a:t>
            </a:r>
            <a:r>
              <a:rPr lang="en-US" sz="1200" dirty="0" smtClean="0"/>
              <a:t> </a:t>
            </a:r>
            <a:r>
              <a:rPr lang="en-US" sz="1200" dirty="0" err="1" smtClean="0"/>
              <a:t>Brak</a:t>
            </a:r>
            <a:r>
              <a:rPr lang="en-US" sz="1200" dirty="0" smtClean="0"/>
              <a:t> 51202 Israel</a:t>
            </a: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52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Replace an existing document entirely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Before:</a:t>
            </a:r>
          </a:p>
          <a:p>
            <a:pPr marL="0" indent="0">
              <a:buNone/>
            </a:pPr>
            <a:r>
              <a:rPr lang="en-US" sz="2400" dirty="0" smtClean="0"/>
              <a:t>{"</a:t>
            </a:r>
            <a:r>
              <a:rPr lang="en-US" sz="2400" dirty="0"/>
              <a:t>name" : "b1", "fiction" : ["adventure", "children", "classics"], "price": 60</a:t>
            </a:r>
            <a:r>
              <a:rPr lang="en-US" sz="2400" dirty="0" smtClean="0"/>
              <a:t>,  </a:t>
            </a:r>
            <a:r>
              <a:rPr lang="en-US" sz="2400" dirty="0"/>
              <a:t>"content" : {"pages" : 230, "</a:t>
            </a:r>
            <a:r>
              <a:rPr lang="en-US" sz="2400" dirty="0" err="1"/>
              <a:t>fontSize</a:t>
            </a:r>
            <a:r>
              <a:rPr lang="en-US" sz="2400" dirty="0"/>
              <a:t>" : 14, "</a:t>
            </a:r>
            <a:r>
              <a:rPr lang="en-US" sz="2400" dirty="0" err="1"/>
              <a:t>hasPictures</a:t>
            </a:r>
            <a:r>
              <a:rPr lang="en-US" sz="2400" dirty="0"/>
              <a:t>": True}</a:t>
            </a: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 smtClean="0"/>
              <a:t>db.library.replace_one</a:t>
            </a:r>
            <a:r>
              <a:rPr lang="en-US" sz="2400" dirty="0"/>
              <a:t>({"name":"b1"}, {"field": "value</a:t>
            </a:r>
            <a:r>
              <a:rPr lang="en-US" sz="2400" dirty="0" smtClean="0"/>
              <a:t>"})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After:</a:t>
            </a: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{'_</a:t>
            </a:r>
            <a:r>
              <a:rPr lang="en-US" sz="2400" dirty="0"/>
              <a:t>id': </a:t>
            </a:r>
            <a:r>
              <a:rPr lang="en-US" sz="2400" dirty="0" err="1"/>
              <a:t>ObjectId</a:t>
            </a:r>
            <a:r>
              <a:rPr lang="en-US" sz="2400" dirty="0"/>
              <a:t>('5ac9119380d5594a90954ec3'), 'field': 'value'}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 smtClean="0"/>
              <a:t>© Copyright SELA software &amp; Education Labs Ltd. 14-18 Baruch Hirsch </a:t>
            </a:r>
            <a:r>
              <a:rPr lang="en-US" sz="1200" dirty="0" err="1" smtClean="0"/>
              <a:t>St.Bnei</a:t>
            </a:r>
            <a:r>
              <a:rPr lang="en-US" sz="1200" dirty="0" smtClean="0"/>
              <a:t> </a:t>
            </a:r>
            <a:r>
              <a:rPr lang="en-US" sz="1200" dirty="0" err="1" smtClean="0"/>
              <a:t>Brak</a:t>
            </a:r>
            <a:r>
              <a:rPr lang="en-US" sz="1200" dirty="0" smtClean="0"/>
              <a:t> 51202 Israel</a:t>
            </a: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7427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Delete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MongoDB has the following functions for </a:t>
            </a:r>
            <a:r>
              <a:rPr lang="en-US" dirty="0" smtClean="0"/>
              <a:t>deleting documents </a:t>
            </a:r>
            <a:r>
              <a:rPr lang="en-US" dirty="0"/>
              <a:t>(functions names are for mongo shell</a:t>
            </a:r>
            <a:r>
              <a:rPr lang="en-US" dirty="0" smtClean="0"/>
              <a:t>):</a:t>
            </a:r>
          </a:p>
          <a:p>
            <a:pPr lvl="1"/>
            <a:r>
              <a:rPr lang="en-US" dirty="0" err="1" smtClean="0"/>
              <a:t>deleteOne</a:t>
            </a:r>
            <a:r>
              <a:rPr lang="en-US" dirty="0" smtClean="0"/>
              <a:t> </a:t>
            </a:r>
            <a:r>
              <a:rPr lang="en-US" dirty="0"/>
              <a:t>- delete </a:t>
            </a:r>
            <a:r>
              <a:rPr lang="en-US" dirty="0" smtClean="0"/>
              <a:t>first document (if any) </a:t>
            </a:r>
            <a:r>
              <a:rPr lang="en-US" dirty="0"/>
              <a:t>that </a:t>
            </a:r>
            <a:r>
              <a:rPr lang="en-US" dirty="0" smtClean="0"/>
              <a:t>matches </a:t>
            </a:r>
            <a:r>
              <a:rPr lang="en-US" dirty="0"/>
              <a:t>a </a:t>
            </a:r>
            <a:r>
              <a:rPr lang="en-US" dirty="0" smtClean="0"/>
              <a:t>condition</a:t>
            </a:r>
          </a:p>
          <a:p>
            <a:pPr lvl="1"/>
            <a:r>
              <a:rPr lang="en-US" dirty="0" err="1"/>
              <a:t>d</a:t>
            </a:r>
            <a:r>
              <a:rPr lang="en-US" dirty="0" err="1" smtClean="0"/>
              <a:t>eleteMany</a:t>
            </a:r>
            <a:r>
              <a:rPr lang="en-US" dirty="0" smtClean="0"/>
              <a:t> - </a:t>
            </a:r>
            <a:r>
              <a:rPr lang="en-US" dirty="0"/>
              <a:t>d</a:t>
            </a:r>
            <a:r>
              <a:rPr lang="en-US" dirty="0" smtClean="0"/>
              <a:t>elete all the documents </a:t>
            </a:r>
            <a:r>
              <a:rPr lang="en-US" dirty="0"/>
              <a:t>that </a:t>
            </a:r>
            <a:r>
              <a:rPr lang="en-US" dirty="0" smtClean="0"/>
              <a:t>match </a:t>
            </a:r>
            <a:r>
              <a:rPr lang="en-US" dirty="0"/>
              <a:t>a </a:t>
            </a:r>
            <a:r>
              <a:rPr lang="en-US" dirty="0" smtClean="0"/>
              <a:t>condition</a:t>
            </a:r>
          </a:p>
          <a:p>
            <a:pPr lvl="1"/>
            <a:endParaRPr lang="en-US" dirty="0"/>
          </a:p>
          <a:p>
            <a:pPr>
              <a:spcBef>
                <a:spcPts val="0"/>
              </a:spcBef>
            </a:pPr>
            <a:r>
              <a:rPr lang="en-US" sz="2400" dirty="0"/>
              <a:t>For </a:t>
            </a:r>
            <a:r>
              <a:rPr lang="en-US" sz="2400" dirty="0" smtClean="0"/>
              <a:t>Python, </a:t>
            </a:r>
            <a:r>
              <a:rPr lang="en-US" sz="2400" dirty="0"/>
              <a:t>the names are: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 err="1" smtClean="0"/>
              <a:t>dalete_one</a:t>
            </a:r>
            <a:r>
              <a:rPr lang="en-US" dirty="0"/>
              <a:t>, </a:t>
            </a:r>
            <a:r>
              <a:rPr lang="en-US" dirty="0" err="1" smtClean="0"/>
              <a:t>delete_many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 smtClean="0"/>
              <a:t>© Copyright SELA software &amp; Education Labs Ltd. 14-18 Baruch Hirsch </a:t>
            </a:r>
            <a:r>
              <a:rPr lang="en-US" sz="1200" dirty="0" err="1" smtClean="0"/>
              <a:t>St.Bnei</a:t>
            </a:r>
            <a:r>
              <a:rPr lang="en-US" sz="1200" dirty="0" smtClean="0"/>
              <a:t> </a:t>
            </a:r>
            <a:r>
              <a:rPr lang="en-US" sz="1200" dirty="0" err="1" smtClean="0"/>
              <a:t>Brak</a:t>
            </a:r>
            <a:r>
              <a:rPr lang="en-US" sz="1200" dirty="0" smtClean="0"/>
              <a:t> 51202 Israel</a:t>
            </a: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1415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Delete Operations -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Delete a</a:t>
            </a:r>
            <a:r>
              <a:rPr lang="en-US" dirty="0" smtClean="0"/>
              <a:t>ll documents from collection:</a:t>
            </a:r>
          </a:p>
          <a:p>
            <a:pPr marL="0" indent="0">
              <a:buNone/>
            </a:pPr>
            <a:r>
              <a:rPr lang="en-US" i="1" dirty="0" smtClean="0"/>
              <a:t>	</a:t>
            </a:r>
            <a:r>
              <a:rPr lang="en-US" i="1" dirty="0" err="1" smtClean="0"/>
              <a:t>db.library.delete_many</a:t>
            </a:r>
            <a:r>
              <a:rPr lang="en-US" i="1" dirty="0" smtClean="0"/>
              <a:t>({})</a:t>
            </a:r>
            <a:endParaRPr lang="en-US" i="1" dirty="0"/>
          </a:p>
          <a:p>
            <a:endParaRPr lang="en-US" dirty="0" smtClean="0"/>
          </a:p>
          <a:p>
            <a:r>
              <a:rPr lang="en-US" dirty="0"/>
              <a:t>Delete all documents </a:t>
            </a:r>
            <a:r>
              <a:rPr lang="en-US" dirty="0" smtClean="0"/>
              <a:t>with price lower then 50: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	</a:t>
            </a:r>
            <a:r>
              <a:rPr lang="en-US" dirty="0" err="1"/>
              <a:t>db.library.delete_many</a:t>
            </a:r>
            <a:r>
              <a:rPr lang="en-US" dirty="0"/>
              <a:t>({"price":{"$lt":50}})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 smtClean="0"/>
              <a:t>© Copyright SELA software &amp; Education Labs Ltd. 14-18 Baruch Hirsch </a:t>
            </a:r>
            <a:r>
              <a:rPr lang="en-US" sz="1200" dirty="0" err="1" smtClean="0"/>
              <a:t>St.Bnei</a:t>
            </a:r>
            <a:r>
              <a:rPr lang="en-US" sz="1200" dirty="0" smtClean="0"/>
              <a:t> </a:t>
            </a:r>
            <a:r>
              <a:rPr lang="en-US" sz="1200" dirty="0" err="1" smtClean="0"/>
              <a:t>Brak</a:t>
            </a:r>
            <a:r>
              <a:rPr lang="en-US" sz="1200" dirty="0" smtClean="0"/>
              <a:t> 51202 Israel</a:t>
            </a: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20591"/>
      </p:ext>
    </p:extLst>
  </p:cSld>
  <p:clrMapOvr>
    <a:masterClrMapping/>
  </p:clrMapOvr>
</p:sld>
</file>

<file path=ppt/theme/theme1.xml><?xml version="1.0" encoding="utf-8"?>
<a:theme xmlns:a="http://schemas.openxmlformats.org/drawingml/2006/main" name="Sela_Template_Ver_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room Template V8 7.1.14" id="{C390D62C-FD2A-4105-98BE-E88C1F565992}" vid="{BA10E712-5CE4-4A76-8C2D-233204200D7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12BCB557AA5D448C5593FF71F2A488" ma:contentTypeVersion="20" ma:contentTypeDescription="Create a new document." ma:contentTypeScope="" ma:versionID="94eeca7f2e9e6f517c55398d5e9f5eed">
  <xsd:schema xmlns:xsd="http://www.w3.org/2001/XMLSchema" xmlns:xs="http://www.w3.org/2001/XMLSchema" xmlns:p="http://schemas.microsoft.com/office/2006/metadata/properties" xmlns:ns2="49dc0417-29c6-4bb5-ae98-f937f0a30532" xmlns:ns3="d58f348b-938b-40b8-8bae-5456f1a0ae9d" targetNamespace="http://schemas.microsoft.com/office/2006/metadata/properties" ma:root="true" ma:fieldsID="ce4dda86146abacb2ee65238c8c34327" ns2:_="" ns3:_="">
    <xsd:import namespace="49dc0417-29c6-4bb5-ae98-f937f0a30532"/>
    <xsd:import namespace="d58f348b-938b-40b8-8bae-5456f1a0ae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AAA" minOccurs="0"/>
                <xsd:element ref="ns2:lcf76f155ced4ddcb4097134ff3c332f" minOccurs="0"/>
                <xsd:element ref="ns3:TaxCatchAll" minOccurs="0"/>
                <xsd:element ref="ns2:Hyperlink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c0417-29c6-4bb5-ae98-f937f0a305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2" nillable="true" ma:displayName="Length (seconds)" ma:internalName="MediaLengthInSeconds" ma:readOnly="true">
      <xsd:simpleType>
        <xsd:restriction base="dms:Unknown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AAA" ma:index="21" nillable="true" ma:displayName="AAA" ma:format="DateOnly" ma:internalName="AAA">
      <xsd:simpleType>
        <xsd:restriction base="dms:DateTime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23256489-8307-4614-a501-3741224748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Hyperlink" ma:index="25" nillable="true" ma:displayName="Hyperlink" ma:format="Hyperlink" ma:internalName="Hyper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8f348b-938b-40b8-8bae-5456f1a0ae9d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92e702-67e0-4df4-9ad4-8876b702b22c}" ma:internalName="TaxCatchAll" ma:showField="CatchAllData" ma:web="d58f348b-938b-40b8-8bae-5456f1a0ae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AA xmlns="49dc0417-29c6-4bb5-ae98-f937f0a30532" xsi:nil="true"/>
    <TaxCatchAll xmlns="d58f348b-938b-40b8-8bae-5456f1a0ae9d" xsi:nil="true"/>
    <Hyperlink xmlns="49dc0417-29c6-4bb5-ae98-f937f0a30532">
      <Url xsi:nil="true"/>
      <Description xsi:nil="true"/>
    </Hyperlink>
    <lcf76f155ced4ddcb4097134ff3c332f xmlns="49dc0417-29c6-4bb5-ae98-f937f0a3053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4202A3E-401A-4875-8262-6C8EEE348783}"/>
</file>

<file path=customXml/itemProps2.xml><?xml version="1.0" encoding="utf-8"?>
<ds:datastoreItem xmlns:ds="http://schemas.openxmlformats.org/officeDocument/2006/customXml" ds:itemID="{FFFD40C0-777C-4DEC-92E3-D16E48C6A964}"/>
</file>

<file path=customXml/itemProps3.xml><?xml version="1.0" encoding="utf-8"?>
<ds:datastoreItem xmlns:ds="http://schemas.openxmlformats.org/officeDocument/2006/customXml" ds:itemID="{A0D5BA1F-EE19-4388-B721-6C7B682936F7}"/>
</file>

<file path=docProps/app.xml><?xml version="1.0" encoding="utf-8"?>
<Properties xmlns="http://schemas.openxmlformats.org/officeDocument/2006/extended-properties" xmlns:vt="http://schemas.openxmlformats.org/officeDocument/2006/docPropsVTypes">
  <Template>Classroom Template V8 7.1.14</Template>
  <TotalTime>28034</TotalTime>
  <Words>1964</Words>
  <Application>Microsoft Office PowerPoint</Application>
  <PresentationFormat>On-screen Show (4:3)</PresentationFormat>
  <Paragraphs>327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Consolas</vt:lpstr>
      <vt:lpstr>Courier New</vt:lpstr>
      <vt:lpstr>Segoe</vt:lpstr>
      <vt:lpstr>Segoe Light</vt:lpstr>
      <vt:lpstr>Segoe UI</vt:lpstr>
      <vt:lpstr>Sela_Template_Ver_01</vt:lpstr>
      <vt:lpstr>MongoDB for Developers   </vt:lpstr>
      <vt:lpstr>Create/Insert Operations </vt:lpstr>
      <vt:lpstr>Insert single Document</vt:lpstr>
      <vt:lpstr>Insert Multiple Documents – mongo shell</vt:lpstr>
      <vt:lpstr>Insert Multiple Documents - python</vt:lpstr>
      <vt:lpstr>Read Operations</vt:lpstr>
      <vt:lpstr>Query collection – make a set</vt:lpstr>
      <vt:lpstr>Query collection - example 1</vt:lpstr>
      <vt:lpstr>Query collection - example 2</vt:lpstr>
      <vt:lpstr>Query collection – Comparison Query Operators</vt:lpstr>
      <vt:lpstr>Query collection – Comparison Query Operators - example</vt:lpstr>
      <vt:lpstr>Query collection – AND condition</vt:lpstr>
      <vt:lpstr>Query collection – OR condition</vt:lpstr>
      <vt:lpstr>Query on arrays</vt:lpstr>
      <vt:lpstr>Query on array – query for specific element</vt:lpstr>
      <vt:lpstr>Query on array – $all operator</vt:lpstr>
      <vt:lpstr>Query on array – conditions on elements</vt:lpstr>
      <vt:lpstr>Query on array – access to specific element</vt:lpstr>
      <vt:lpstr>Query on Array  - The $size operator</vt:lpstr>
      <vt:lpstr>Query embedded documents</vt:lpstr>
      <vt:lpstr>Query embedded documents – access specific field</vt:lpstr>
      <vt:lpstr>Query embedded documents – access specific field</vt:lpstr>
      <vt:lpstr>Query for field existence</vt:lpstr>
      <vt:lpstr>Update Operations</vt:lpstr>
      <vt:lpstr>Update specific fields of a single document</vt:lpstr>
      <vt:lpstr>Update specific fields of a single document – the output</vt:lpstr>
      <vt:lpstr>Replace an existing document entirely</vt:lpstr>
      <vt:lpstr>Delete Operations</vt:lpstr>
      <vt:lpstr>Delete Operations -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Concepts</dc:title>
  <dc:creator>Gal Tfilin</dc:creator>
  <cp:lastModifiedBy>Naor Michelsohn</cp:lastModifiedBy>
  <cp:revision>261</cp:revision>
  <dcterms:created xsi:type="dcterms:W3CDTF">2013-03-18T14:49:18Z</dcterms:created>
  <dcterms:modified xsi:type="dcterms:W3CDTF">2018-04-17T08:01:02Z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0x0101000612BCB557AA5D448C5593FF71F2A488</vt:lpwstr>
  </property>
</Properties>
</file>