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revisionInfo.xml" ContentType="application/vnd.ms-powerpoint.revisioninfo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1"/>
  </p:sldMasterIdLst>
  <p:notesMasterIdLst>
    <p:notesMasterId r:id="rId13"/>
  </p:notesMasterIdLst>
  <p:sldIdLst>
    <p:sldId id="276" r:id="rId2"/>
    <p:sldId id="260" r:id="rId3"/>
    <p:sldId id="258" r:id="rId4"/>
    <p:sldId id="261" r:id="rId5"/>
    <p:sldId id="275" r:id="rId6"/>
    <p:sldId id="262" r:id="rId7"/>
    <p:sldId id="263" r:id="rId8"/>
    <p:sldId id="267" r:id="rId9"/>
    <p:sldId id="266" r:id="rId10"/>
    <p:sldId id="268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2304">
          <p15:clr>
            <a:srgbClr val="A4A3A4"/>
          </p15:clr>
        </p15:guide>
        <p15:guide id="3" orient="horz" pos="2688">
          <p15:clr>
            <a:srgbClr val="A4A3A4"/>
          </p15:clr>
        </p15:guide>
        <p15:guide id="4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3C06"/>
    <a:srgbClr val="A6BEE8"/>
    <a:srgbClr val="B3C7EB"/>
    <a:srgbClr val="FFFFCC"/>
    <a:srgbClr val="DC8506"/>
    <a:srgbClr val="F2BF04"/>
    <a:srgbClr val="FFE05B"/>
    <a:srgbClr val="E0890A"/>
    <a:srgbClr val="FFD629"/>
    <a:srgbClr val="D299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4" d="100"/>
          <a:sy n="64" d="100"/>
        </p:scale>
        <p:origin x="1340" y="36"/>
      </p:cViewPr>
      <p:guideLst>
        <p:guide orient="horz" pos="2160"/>
        <p:guide orient="horz" pos="2304"/>
        <p:guide orient="horz" pos="26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86" d="100"/>
          <a:sy n="86" d="100"/>
        </p:scale>
        <p:origin x="-381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AA33BB-5012-4FA9-BC94-2423B0F96BF0}" type="datetimeFigureOut">
              <a:rPr lang="en-US" smtClean="0"/>
              <a:pPr/>
              <a:t>13-Jun-18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343ED-3762-4D46-A439-B4D407E13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7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6520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24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343ED-3762-4D46-A439-B4D407E13EF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24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gi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gi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gi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gi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gif"/><Relationship Id="rId4" Type="http://schemas.openxmlformats.org/officeDocument/2006/relationships/image" Target="../media/image1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gif"/><Relationship Id="rId5" Type="http://schemas.openxmlformats.org/officeDocument/2006/relationships/image" Target="../media/image12.png"/><Relationship Id="rId4" Type="http://schemas.openxmlformats.org/officeDocument/2006/relationships/image" Target="../media/image14.jpe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gif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gi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gi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gi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gi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.gi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wmf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.gi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wmf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6.gi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wmf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gi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gi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gif"/><Relationship Id="rId4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0537" y="1340768"/>
            <a:ext cx="7388072" cy="1085850"/>
          </a:xfrm>
        </p:spPr>
        <p:txBody>
          <a:bodyPr vert="horz" lIns="0" tIns="45720" rIns="91440" bIns="45720" rtlCol="0" anchor="t" anchorCtr="0">
            <a:normAutofit/>
          </a:bodyPr>
          <a:lstStyle>
            <a:lvl1pPr>
              <a:defRPr lang="en-US" sz="3200" dirty="0">
                <a:ln w="3175">
                  <a:noFill/>
                </a:ln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80537" y="6362070"/>
            <a:ext cx="7879895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Copyright © SELA Software &amp; Education Labs, Ltd. | 14-18 Baruch Hirsch St., </a:t>
            </a:r>
            <a:r>
              <a:rPr lang="en-US" sz="11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Bnei</a:t>
            </a:r>
            <a:r>
              <a:rPr lang="en-US" sz="1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Brak</a:t>
            </a:r>
            <a:r>
              <a:rPr lang="en-US" sz="11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 51202, Israel | www.selagroup.com</a:t>
            </a:r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  <a:latin typeface="Segoe" panose="020B0502040504020203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37" y="534797"/>
            <a:ext cx="2632449" cy="48390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581025" y="2427288"/>
            <a:ext cx="7388225" cy="13620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E89636"/>
                </a:solidFill>
              </a:defRPr>
            </a:lvl1pPr>
            <a:lvl2pPr marL="457200" indent="0" algn="l" rtl="0">
              <a:buFontTx/>
              <a:buNone/>
              <a:defRPr/>
            </a:lvl2pPr>
            <a:lvl3pPr marL="914400" indent="0" algn="l" rtl="0">
              <a:buFontTx/>
              <a:buNone/>
              <a:defRPr/>
            </a:lvl3pPr>
            <a:lvl4pPr marL="1371600" indent="0" algn="l" rtl="0">
              <a:buFontTx/>
              <a:buNone/>
              <a:defRPr/>
            </a:lvl4pPr>
            <a:lvl5pPr marL="1828800" indent="0" algn="l" rtl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1314075"/>
      </p:ext>
    </p:extLst>
  </p:cSld>
  <p:clrMapOvr>
    <a:masterClrMapping/>
  </p:clrMapOvr>
  <p:hf hdr="0" dt="0"/>
  <p:extLst mod="1">
    <p:ext uri="{DCECCB84-F9BA-43D5-87BE-67443E8EF086}">
      <p15:sldGuideLst xmlns:p15="http://schemas.microsoft.com/office/powerpoint/2012/main">
        <p15:guide id="1" orient="horz" pos="789">
          <p15:clr>
            <a:srgbClr val="FBAE40"/>
          </p15:clr>
        </p15:guide>
        <p15:guide id="2" pos="61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0994135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pica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92888" cy="720000"/>
          </a:xfrm>
        </p:spPr>
        <p:txBody>
          <a:bodyPr vert="horz" lIns="0" tIns="0" rIns="91440" bIns="45720" rtlCol="0" anchor="b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492161"/>
            <a:ext cx="7992888" cy="4648200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marL="11430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3pPr>
            <a:lvl4pPr marL="16002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4pPr>
            <a:lvl5pPr marL="20574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4304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1124744"/>
            <a:ext cx="4132746" cy="444361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13" name="TextBox 12"/>
          <p:cNvSpPr txBox="1"/>
          <p:nvPr/>
        </p:nvSpPr>
        <p:spPr>
          <a:xfrm>
            <a:off x="1475656" y="2492896"/>
            <a:ext cx="347082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Demo</a:t>
            </a:r>
          </a:p>
        </p:txBody>
      </p:sp>
      <p:pic>
        <p:nvPicPr>
          <p:cNvPr id="5" name="Picture 4" descr="demo_page_small.jpg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6" name="Picture 5" descr="logo_sela_college_shad6CM.gif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102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57482 2.59259E-6 L 4.72222E-6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875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57482 2.59259E-6 L 4.72222E-6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875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420888"/>
            <a:ext cx="3700697" cy="213270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12" name="TextBox 11"/>
          <p:cNvSpPr txBox="1"/>
          <p:nvPr/>
        </p:nvSpPr>
        <p:spPr>
          <a:xfrm>
            <a:off x="1475656" y="2492896"/>
            <a:ext cx="212590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Lab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Picture 5" descr="lab_small.jpg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logo_sela_college_shad6CM.gif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45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5399 2.59259E-6 L 2.77778E-7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2708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5399 2.59259E-6 L 2.77778E-7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2708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</p:bldLst>
      </p:timing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420888"/>
            <a:ext cx="3700697" cy="213270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11" name="TextBox 10"/>
          <p:cNvSpPr txBox="1"/>
          <p:nvPr/>
        </p:nvSpPr>
        <p:spPr>
          <a:xfrm>
            <a:off x="1547664" y="2492896"/>
            <a:ext cx="393409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Conclusion </a:t>
            </a:r>
          </a:p>
          <a:p>
            <a:r>
              <a:rPr lang="en-US" sz="6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Lab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Picture 5" descr="conclusion_lab_small.jpg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logo_sela_college_shad6CM.gif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92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-1.11111E-6 L -4.44444E-6 -1.11111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1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-1.11111E-6 L -4.44444E-6 -1.11111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1" grpId="1"/>
        </p:bld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clusion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827584" y="2492896"/>
            <a:ext cx="492314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Final</a:t>
            </a:r>
            <a:r>
              <a:rPr lang="en-US" sz="10000" b="1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 </a:t>
            </a:r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Lab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420888"/>
            <a:ext cx="3700697" cy="213270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Picture 2" descr="K:\tmp\Eyal\Untitled-2.jp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-9525" y="-9525"/>
            <a:ext cx="9163050" cy="6877050"/>
          </a:xfrm>
          <a:prstGeom prst="rect">
            <a:avLst/>
          </a:prstGeom>
          <a:noFill/>
        </p:spPr>
      </p:pic>
      <p:pic>
        <p:nvPicPr>
          <p:cNvPr id="7" name="Picture 2" descr="K:\tmp\Eyal\Untitled-2.jp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-77602" y="-6920"/>
            <a:ext cx="9237333" cy="6876000"/>
          </a:xfrm>
          <a:prstGeom prst="rect">
            <a:avLst/>
          </a:prstGeom>
          <a:noFill/>
        </p:spPr>
      </p:pic>
      <p:pic>
        <p:nvPicPr>
          <p:cNvPr id="8" name="Picture 7" descr="logo_sela_college_shad6CM.gif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413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3.33333E-6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3.33333E-6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k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602680" y="1492161"/>
            <a:ext cx="8001315" cy="4659258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938180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11560" y="1494000"/>
            <a:ext cx="7992690" cy="2286000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 baseline="0"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marL="11430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3pPr>
            <a:lvl4pPr marL="16002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4pPr>
            <a:lvl5pPr marL="20574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602680" y="3873731"/>
            <a:ext cx="8001315" cy="2277687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Picture 5" descr="code_2_small.jpg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333375" y="1371600"/>
            <a:ext cx="8505825" cy="2286000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323850" y="3867150"/>
            <a:ext cx="8515349" cy="2286000"/>
          </a:xfrm>
          <a:prstGeom prst="rect">
            <a:avLst/>
          </a:prstGeom>
          <a:gradFill>
            <a:gsLst>
              <a:gs pos="0">
                <a:srgbClr val="A6BEE8">
                  <a:alpha val="69804"/>
                </a:srgbClr>
              </a:gs>
              <a:gs pos="50000">
                <a:schemeClr val="accent1">
                  <a:tint val="44500"/>
                  <a:satMod val="160000"/>
                  <a:alpha val="70000"/>
                </a:schemeClr>
              </a:gs>
              <a:gs pos="100000">
                <a:schemeClr val="accent1">
                  <a:tint val="23500"/>
                  <a:satMod val="160000"/>
                  <a:alpha val="70000"/>
                </a:schemeClr>
              </a:gs>
            </a:gsLst>
            <a:lin ang="16200000" scaled="0"/>
          </a:gradFill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76200" dir="18900000" sy="23000" kx="-1200000" algn="bl" rotWithShape="0">
              <a:schemeClr val="accent1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pic>
        <p:nvPicPr>
          <p:cNvPr id="9" name="Picture 8" descr="Code5copy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7010400" y="3817938"/>
            <a:ext cx="2345379" cy="914400"/>
          </a:xfrm>
          <a:prstGeom prst="rect">
            <a:avLst/>
          </a:prstGeom>
        </p:spPr>
      </p:pic>
      <p:pic>
        <p:nvPicPr>
          <p:cNvPr id="10" name="Picture 9" descr="logo_sela_college_shad6CM.gif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358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11560" y="1494000"/>
            <a:ext cx="7992690" cy="1502952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marL="11430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3pPr>
            <a:lvl4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4pPr>
            <a:lvl5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602680" y="3140969"/>
            <a:ext cx="8001315" cy="3010450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Picture 5" descr="code_2_small.jp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333375" y="1371600"/>
            <a:ext cx="8505825" cy="1485896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323850" y="3071810"/>
            <a:ext cx="8515349" cy="3081340"/>
          </a:xfrm>
          <a:prstGeom prst="rect">
            <a:avLst/>
          </a:prstGeom>
          <a:gradFill>
            <a:gsLst>
              <a:gs pos="0">
                <a:srgbClr val="A6BEE8">
                  <a:alpha val="69804"/>
                </a:srgbClr>
              </a:gs>
              <a:gs pos="50000">
                <a:schemeClr val="accent1">
                  <a:tint val="44500"/>
                  <a:satMod val="160000"/>
                  <a:alpha val="70000"/>
                </a:schemeClr>
              </a:gs>
              <a:gs pos="100000">
                <a:schemeClr val="accent1">
                  <a:tint val="23500"/>
                  <a:satMod val="160000"/>
                  <a:alpha val="70000"/>
                </a:schemeClr>
              </a:gs>
            </a:gsLst>
            <a:lin ang="16200000" scaled="0"/>
          </a:gradFill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76200" dir="18900000" sy="23000" kx="-1200000" algn="bl" rotWithShape="0">
              <a:schemeClr val="accent1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pic>
        <p:nvPicPr>
          <p:cNvPr id="9" name="Picture 8" descr="Code5copy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000892" y="2643182"/>
            <a:ext cx="2345379" cy="914400"/>
          </a:xfrm>
          <a:prstGeom prst="rect">
            <a:avLst/>
          </a:prstGeom>
        </p:spPr>
      </p:pic>
      <p:pic>
        <p:nvPicPr>
          <p:cNvPr id="10" name="Picture 9" descr="logo_sela_college_shad6CM.gif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91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11560" y="1494177"/>
            <a:ext cx="8004764" cy="1070904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 baseline="0"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3pPr>
            <a:lvl4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4pPr>
            <a:lvl5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611560" y="2630516"/>
            <a:ext cx="8013402" cy="1139423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611262" y="3835374"/>
            <a:ext cx="8013700" cy="1073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800" kern="1200" baseline="0" dirty="0">
                <a:solidFill>
                  <a:schemeClr val="tx1"/>
                </a:solidFill>
                <a:latin typeface="Segoe" panose="020B0502040504020203" pitchFamily="34" charset="0"/>
                <a:ea typeface="+mn-ea"/>
                <a:cs typeface="+mn-cs"/>
              </a:defRPr>
            </a:lvl1pPr>
            <a:lvl2pPr marL="342900" indent="-342900">
              <a:defRPr/>
            </a:lvl2pPr>
            <a:lvl3pPr marL="342900" indent="-342900">
              <a:defRPr/>
            </a:lvl3pPr>
            <a:lvl4pPr marL="342900" indent="-342900">
              <a:defRPr/>
            </a:lvl4pPr>
            <a:lvl5pPr marL="342900" indent="-342900">
              <a:defRPr/>
            </a:lvl5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611262" y="4973959"/>
            <a:ext cx="8013700" cy="1119187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txBody>
          <a:bodyPr/>
          <a:lstStyle>
            <a:lvl1pPr marL="0" indent="0"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 marL="0" indent="0">
              <a:defRPr/>
            </a:lvl2pPr>
            <a:lvl3pPr marL="0" indent="0">
              <a:defRPr/>
            </a:lvl3pPr>
            <a:lvl4pPr marL="0" indent="0">
              <a:defRPr/>
            </a:lvl4pPr>
            <a:lvl5pPr marL="0" indent="0">
              <a:defRPr/>
            </a:lvl5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/>
              <a:t>Edit Master text styles</a:t>
            </a:r>
          </a:p>
        </p:txBody>
      </p:sp>
      <p:pic>
        <p:nvPicPr>
          <p:cNvPr id="8" name="Picture 7" descr="code_2_small.jp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333375" y="3786190"/>
            <a:ext cx="8505825" cy="127158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23850" y="5214950"/>
            <a:ext cx="8515349" cy="938200"/>
          </a:xfrm>
          <a:prstGeom prst="rect">
            <a:avLst/>
          </a:prstGeom>
          <a:gradFill>
            <a:gsLst>
              <a:gs pos="0">
                <a:srgbClr val="A6BEE8">
                  <a:alpha val="69804"/>
                </a:srgbClr>
              </a:gs>
              <a:gs pos="50000">
                <a:schemeClr val="accent1">
                  <a:tint val="44500"/>
                  <a:satMod val="160000"/>
                  <a:alpha val="70000"/>
                </a:schemeClr>
              </a:gs>
              <a:gs pos="100000">
                <a:schemeClr val="accent1">
                  <a:tint val="23500"/>
                  <a:satMod val="160000"/>
                  <a:alpha val="70000"/>
                </a:schemeClr>
              </a:gs>
            </a:gsLst>
            <a:lin ang="16200000" scaled="0"/>
          </a:gradFill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76200" dir="18900000" sy="23000" kx="-1200000" algn="bl" rotWithShape="0">
              <a:schemeClr val="accent1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pic>
        <p:nvPicPr>
          <p:cNvPr id="11" name="Picture 10" descr="Code5copy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858148" y="5000636"/>
            <a:ext cx="1428760" cy="557035"/>
          </a:xfrm>
          <a:prstGeom prst="rect">
            <a:avLst/>
          </a:prstGeom>
        </p:spPr>
      </p:pic>
      <p:pic>
        <p:nvPicPr>
          <p:cNvPr id="12" name="Picture 11" descr="logo_sela_college_shad6CM.gif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385733" y="1276354"/>
            <a:ext cx="8505825" cy="127158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376208" y="2705114"/>
            <a:ext cx="8515349" cy="938200"/>
          </a:xfrm>
          <a:prstGeom prst="rect">
            <a:avLst/>
          </a:prstGeom>
          <a:gradFill>
            <a:gsLst>
              <a:gs pos="0">
                <a:srgbClr val="A6BEE8">
                  <a:alpha val="69804"/>
                </a:srgbClr>
              </a:gs>
              <a:gs pos="50000">
                <a:schemeClr val="accent1">
                  <a:tint val="44500"/>
                  <a:satMod val="160000"/>
                  <a:alpha val="70000"/>
                </a:schemeClr>
              </a:gs>
              <a:gs pos="100000">
                <a:schemeClr val="accent1">
                  <a:tint val="23500"/>
                  <a:satMod val="160000"/>
                  <a:alpha val="70000"/>
                </a:schemeClr>
              </a:gs>
            </a:gsLst>
            <a:lin ang="16200000" scaled="0"/>
          </a:gradFill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76200" dir="18900000" sy="23000" kx="-1200000" algn="bl" rotWithShape="0">
              <a:schemeClr val="accent1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pic>
        <p:nvPicPr>
          <p:cNvPr id="15" name="Picture 14" descr="Code5copy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715240" y="2571744"/>
            <a:ext cx="1428760" cy="55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2224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03648" y="2492896"/>
            <a:ext cx="554510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Questions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710" y="1988840"/>
            <a:ext cx="1532540" cy="2844235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pic>
        <p:nvPicPr>
          <p:cNvPr id="4" name="Picture 3" descr="questions_smll.jpg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 descr="logo_sela_college_shad6CM.gif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295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1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4.16667E-6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  <p:bldP spid="7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1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4.16667E-6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  <p:bldP spid="7" grpId="1"/>
        </p:bldLst>
      </p:timing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11560" y="1492161"/>
            <a:ext cx="7992690" cy="467314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rtl="0">
              <a:buSzPct val="75000"/>
              <a:buFontTx/>
              <a:buBlip>
                <a:blip r:embed="rId2"/>
              </a:buBlip>
              <a:defRPr sz="2800" b="0">
                <a:latin typeface="Segoe" panose="020B0502040504020203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 descr="summary_small.jpg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333375" y="1371600"/>
            <a:ext cx="5838825" cy="4648200"/>
          </a:xfrm>
          <a:prstGeom prst="rect">
            <a:avLst/>
          </a:prstGeom>
          <a:solidFill>
            <a:schemeClr val="bg1">
              <a:alpha val="59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 dirty="0"/>
          </a:p>
        </p:txBody>
      </p:sp>
      <p:pic>
        <p:nvPicPr>
          <p:cNvPr id="7" name="Picture 6" descr="logo_sela_college_shad6CM.gif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627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dule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11560" y="1492161"/>
            <a:ext cx="7992690" cy="467314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rtl="0">
              <a:buSzPct val="75000"/>
              <a:buFontTx/>
              <a:buBlip>
                <a:blip r:embed="rId2"/>
              </a:buBlip>
              <a:defRPr sz="2800" b="0">
                <a:latin typeface="Segoe" panose="020B0502040504020203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 descr="module_agenda_small.jpg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333375" y="1371600"/>
            <a:ext cx="4010025" cy="4648200"/>
          </a:xfrm>
          <a:prstGeom prst="rect">
            <a:avLst/>
          </a:prstGeom>
          <a:solidFill>
            <a:schemeClr val="bg1">
              <a:alpha val="59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pic>
        <p:nvPicPr>
          <p:cNvPr id="7" name="Picture 6" descr="logo_sela_college_shad6CM.gif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2111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7380312" y="2348344"/>
            <a:ext cx="1655516" cy="3900056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115888" indent="-115888" algn="l" rtl="0">
              <a:buFont typeface="Arial" pitchFamily="34" charset="0"/>
              <a:buChar char="•"/>
              <a:defRPr sz="14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611560" y="1524000"/>
            <a:ext cx="6553200" cy="4724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>
              <a:buFontTx/>
              <a:buBlip>
                <a:blip r:embed="rId2"/>
              </a:buBlip>
              <a:defRPr/>
            </a:lvl1pPr>
            <a:lvl2pPr marL="742950" indent="-285750" algn="l" rtl="0">
              <a:buFontTx/>
              <a:buBlip>
                <a:blip r:embed="rId2"/>
              </a:buBlip>
              <a:defRPr/>
            </a:lvl2pPr>
            <a:lvl3pPr marL="1143000" indent="-228600" algn="l" rtl="0">
              <a:buFontTx/>
              <a:buBlip>
                <a:blip r:embed="rId2"/>
              </a:buBlip>
              <a:defRPr/>
            </a:lvl3pPr>
            <a:lvl4pPr marL="1600200" indent="-228600" algn="l" rtl="0">
              <a:buFontTx/>
              <a:buBlip>
                <a:blip r:embed="rId2"/>
              </a:buBlip>
              <a:defRPr/>
            </a:lvl4pPr>
            <a:lvl5pPr marL="2057400" indent="-228600" algn="l" rtl="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9692" y="1524000"/>
            <a:ext cx="976164" cy="615553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  <p:txBody>
          <a:bodyPr vert="horz" wrap="square" lIns="0" tIns="0" rIns="0" bIns="0" rtlCol="0" anchor="t" anchorCtr="0">
            <a:spAutoFit/>
          </a:bodyPr>
          <a:lstStyle>
            <a:lvl1pPr>
              <a:spcBef>
                <a:spcPct val="0"/>
              </a:spcBef>
              <a:buNone/>
              <a:defRPr lang="en-US" sz="4000" b="0" dirty="0" smtClean="0">
                <a:ln w="3175">
                  <a:noFill/>
                </a:ln>
                <a:solidFill>
                  <a:srgbClr val="F08E1B"/>
                </a:solidFill>
                <a:effectLst/>
                <a:latin typeface="Segoe Light" panose="020B03020405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anose="020B0502040504020203" pitchFamily="34" charset="0"/>
                <a:cs typeface="Consolas" panose="020B0609020204030204" pitchFamily="49" charset="0"/>
              </a:rPr>
              <a:t>tips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090" y="1414674"/>
            <a:ext cx="938110" cy="938110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 dirty="0"/>
              <a:t>Click to add tips title</a:t>
            </a:r>
          </a:p>
        </p:txBody>
      </p:sp>
    </p:spTree>
    <p:extLst>
      <p:ext uri="{BB962C8B-B14F-4D97-AF65-F5344CB8AC3E}">
        <p14:creationId xmlns:p14="http://schemas.microsoft.com/office/powerpoint/2010/main" val="1150696364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797372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emo_page_small.jp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© Copyright SELA software &amp; Education Labs Ltd. 14-18 Baruch Hirsch </a:t>
            </a:r>
            <a:r>
              <a:rPr lang="en-US" dirty="0" err="1"/>
              <a:t>St.Bnei</a:t>
            </a:r>
            <a:r>
              <a:rPr lang="en-US" dirty="0"/>
              <a:t> </a:t>
            </a:r>
            <a:r>
              <a:rPr lang="en-US" dirty="0" err="1"/>
              <a:t>Brak</a:t>
            </a:r>
            <a:r>
              <a:rPr lang="en-US" dirty="0"/>
              <a:t> 51202 Israel</a:t>
            </a:r>
            <a:endParaRPr lang="en-US" sz="900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9652" y="6356350"/>
            <a:ext cx="520616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logo_sela_college_shad6CM.gif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ab_small.jp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© Copyright SELA software &amp; Education Labs Ltd. 14-18 Baruch Hirsch </a:t>
            </a:r>
            <a:r>
              <a:rPr lang="en-US" dirty="0" err="1"/>
              <a:t>St.Bnei</a:t>
            </a:r>
            <a:r>
              <a:rPr lang="en-US" dirty="0"/>
              <a:t> </a:t>
            </a:r>
            <a:r>
              <a:rPr lang="en-US" dirty="0" err="1"/>
              <a:t>Brak</a:t>
            </a:r>
            <a:r>
              <a:rPr lang="en-US" dirty="0"/>
              <a:t> 51202 Israel</a:t>
            </a:r>
            <a:endParaRPr lang="en-US" sz="900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09102" y="6356350"/>
            <a:ext cx="449178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_sela_college_shad6CM.gif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85720" y="3500446"/>
            <a:ext cx="4714908" cy="17145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clusion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onclusion_lab_small.jp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© Copyright SELA software &amp; Education Labs Ltd. 14-18 Baruch Hirsch </a:t>
            </a:r>
            <a:r>
              <a:rPr lang="en-US" dirty="0" err="1"/>
              <a:t>St.Bnei</a:t>
            </a:r>
            <a:r>
              <a:rPr lang="en-US" dirty="0"/>
              <a:t> </a:t>
            </a:r>
            <a:r>
              <a:rPr lang="en-US" dirty="0" err="1"/>
              <a:t>Brak</a:t>
            </a:r>
            <a:r>
              <a:rPr lang="en-US" dirty="0"/>
              <a:t> 51202 Israel</a:t>
            </a:r>
            <a:endParaRPr lang="en-US" sz="900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80540" y="6356350"/>
            <a:ext cx="449178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_sela_college_shad6CM.gif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42844" y="4214818"/>
            <a:ext cx="4519448" cy="17859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clusion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K:\tmp\Eyal\Untitled-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9525" y="-9525"/>
            <a:ext cx="9163050" cy="6877050"/>
          </a:xfrm>
          <a:prstGeom prst="rect">
            <a:avLst/>
          </a:prstGeom>
          <a:noFill/>
        </p:spPr>
      </p:pic>
      <p:pic>
        <p:nvPicPr>
          <p:cNvPr id="10" name="Picture 2" descr="K:\tmp\Eyal\Untitled-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77602" y="-6920"/>
            <a:ext cx="9237333" cy="6876000"/>
          </a:xfrm>
          <a:prstGeom prst="rect">
            <a:avLst/>
          </a:prstGeom>
          <a:noFill/>
        </p:spPr>
      </p:pic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© Copyright SELA software &amp; Education Labs Ltd. 14-18 Baruch Hirsch </a:t>
            </a:r>
            <a:r>
              <a:rPr lang="en-US" dirty="0" err="1"/>
              <a:t>St.Bnei</a:t>
            </a:r>
            <a:r>
              <a:rPr lang="en-US" dirty="0"/>
              <a:t> </a:t>
            </a:r>
            <a:r>
              <a:rPr lang="en-US" dirty="0" err="1"/>
              <a:t>Brak</a:t>
            </a:r>
            <a:r>
              <a:rPr lang="en-US" dirty="0"/>
              <a:t> 51202 Israel</a:t>
            </a:r>
            <a:endParaRPr lang="en-US" sz="900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80540" y="6356350"/>
            <a:ext cx="449178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_sela_college_shad6CM.gif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42844" y="4214818"/>
            <a:ext cx="4519448" cy="17859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lk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ode_1_small.jp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-24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333375" y="1371600"/>
            <a:ext cx="8429625" cy="4724400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© Copyright SELA software &amp; Education Labs Ltd. 14-18 Baruch Hirsch </a:t>
            </a:r>
            <a:r>
              <a:rPr lang="en-US" dirty="0" err="1"/>
              <a:t>St.Bnei</a:t>
            </a:r>
            <a:r>
              <a:rPr lang="en-US" dirty="0"/>
              <a:t> </a:t>
            </a:r>
            <a:r>
              <a:rPr lang="en-US" dirty="0" err="1"/>
              <a:t>Brak</a:t>
            </a:r>
            <a:r>
              <a:rPr lang="en-US" dirty="0"/>
              <a:t> 51202 Israel</a:t>
            </a:r>
            <a:endParaRPr lang="en-US" sz="90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37664" y="6356350"/>
            <a:ext cx="4073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33375" y="1428736"/>
            <a:ext cx="8382029" cy="4643470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buNone/>
              <a:defRPr sz="1600" b="0">
                <a:latin typeface="Consolas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7" name="Picture 16" descr="Code5copy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858000" y="1295400"/>
            <a:ext cx="2514600" cy="980375"/>
          </a:xfrm>
          <a:prstGeom prst="rect">
            <a:avLst/>
          </a:prstGeom>
        </p:spPr>
      </p:pic>
      <p:pic>
        <p:nvPicPr>
          <p:cNvPr id="11" name="Picture 10" descr="logo_sela_college_shad6CM.gif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ode_2_small.jp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333375" y="1371600"/>
            <a:ext cx="8505825" cy="2286000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© Copyright SELA software &amp; Education Labs Ltd. 14-18 Baruch Hirsch </a:t>
            </a:r>
            <a:r>
              <a:rPr lang="en-US" dirty="0" err="1"/>
              <a:t>St.Bnei</a:t>
            </a:r>
            <a:r>
              <a:rPr lang="en-US" dirty="0"/>
              <a:t> </a:t>
            </a:r>
            <a:r>
              <a:rPr lang="en-US" dirty="0" err="1"/>
              <a:t>Brak</a:t>
            </a:r>
            <a:r>
              <a:rPr lang="en-US" dirty="0"/>
              <a:t> 51202 Israel</a:t>
            </a:r>
            <a:endParaRPr lang="en-US" sz="90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37664" y="6356350"/>
            <a:ext cx="4073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323850" y="3867150"/>
            <a:ext cx="8515349" cy="2286000"/>
          </a:xfrm>
          <a:prstGeom prst="rect">
            <a:avLst/>
          </a:prstGeom>
          <a:gradFill>
            <a:gsLst>
              <a:gs pos="0">
                <a:srgbClr val="A6BEE8">
                  <a:alpha val="69804"/>
                </a:srgbClr>
              </a:gs>
              <a:gs pos="50000">
                <a:schemeClr val="accent1">
                  <a:tint val="44500"/>
                  <a:satMod val="160000"/>
                  <a:alpha val="70000"/>
                </a:schemeClr>
              </a:gs>
              <a:gs pos="100000">
                <a:schemeClr val="accent1">
                  <a:tint val="23500"/>
                  <a:satMod val="160000"/>
                  <a:alpha val="70000"/>
                </a:schemeClr>
              </a:gs>
            </a:gsLst>
            <a:lin ang="16200000" scaled="0"/>
          </a:gradFill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76200" dir="18900000" sy="23000" kx="-1200000" algn="bl" rotWithShape="0">
              <a:schemeClr val="accent1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pic>
        <p:nvPicPr>
          <p:cNvPr id="18" name="Picture 17" descr="Code5copy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010400" y="3817938"/>
            <a:ext cx="2345379" cy="914400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304800" y="1371600"/>
            <a:ext cx="8534400" cy="2286000"/>
          </a:xfrm>
          <a:prstGeom prst="rect">
            <a:avLst/>
          </a:prstGeom>
        </p:spPr>
        <p:txBody>
          <a:bodyPr/>
          <a:lstStyle>
            <a:lvl1pPr algn="l" rtl="0">
              <a:buFontTx/>
              <a:buBlip>
                <a:blip r:embed="rId4"/>
              </a:buBlip>
              <a:defRPr/>
            </a:lvl1pPr>
            <a:lvl2pPr algn="l" rtl="0">
              <a:buFontTx/>
              <a:buBlip>
                <a:blip r:embed="rId5"/>
              </a:buBlip>
              <a:defRPr/>
            </a:lvl2pPr>
            <a:lvl3pPr algn="l" rtl="0">
              <a:buFontTx/>
              <a:buBlip>
                <a:blip r:embed="rId6"/>
              </a:buBlip>
              <a:defRPr/>
            </a:lvl3pPr>
            <a:lvl4pPr algn="l" rtl="0">
              <a:buFontTx/>
              <a:buBlip>
                <a:blip r:embed="rId6"/>
              </a:buBlip>
              <a:defRPr/>
            </a:lvl4pPr>
            <a:lvl5pPr algn="l" rtl="0">
              <a:buFontTx/>
              <a:buBlip>
                <a:blip r:embed="rId6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324196" y="3873731"/>
            <a:ext cx="8515004" cy="2277687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buFont typeface="Arial" pitchFamily="34" charset="0"/>
              <a:buNone/>
              <a:defRPr lang="en-US" sz="1800" b="1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 descr="logo_sela_college_shad6CM.gif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ode_2_small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333375" y="1371600"/>
            <a:ext cx="8505825" cy="1485896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© Copyright SELA software &amp; Education Labs Ltd. 14-18 Baruch Hirsch </a:t>
            </a:r>
            <a:r>
              <a:rPr lang="en-US" dirty="0" err="1"/>
              <a:t>St.Bnei</a:t>
            </a:r>
            <a:r>
              <a:rPr lang="en-US" dirty="0"/>
              <a:t> </a:t>
            </a:r>
            <a:r>
              <a:rPr lang="en-US" dirty="0" err="1"/>
              <a:t>Brak</a:t>
            </a:r>
            <a:r>
              <a:rPr lang="en-US" dirty="0"/>
              <a:t> 51202 Israel</a:t>
            </a:r>
            <a:endParaRPr lang="en-US" sz="90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37664" y="6356350"/>
            <a:ext cx="4073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323850" y="3071810"/>
            <a:ext cx="8515349" cy="3081340"/>
          </a:xfrm>
          <a:prstGeom prst="rect">
            <a:avLst/>
          </a:prstGeom>
          <a:gradFill>
            <a:gsLst>
              <a:gs pos="0">
                <a:srgbClr val="A6BEE8">
                  <a:alpha val="69804"/>
                </a:srgbClr>
              </a:gs>
              <a:gs pos="50000">
                <a:schemeClr val="accent1">
                  <a:tint val="44500"/>
                  <a:satMod val="160000"/>
                  <a:alpha val="70000"/>
                </a:schemeClr>
              </a:gs>
              <a:gs pos="100000">
                <a:schemeClr val="accent1">
                  <a:tint val="23500"/>
                  <a:satMod val="160000"/>
                  <a:alpha val="70000"/>
                </a:schemeClr>
              </a:gs>
            </a:gsLst>
            <a:lin ang="16200000" scaled="0"/>
          </a:gradFill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76200" dir="18900000" sy="23000" kx="-1200000" algn="bl" rotWithShape="0">
              <a:schemeClr val="accent1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pic>
        <p:nvPicPr>
          <p:cNvPr id="18" name="Picture 17" descr="Code5copy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000892" y="2643182"/>
            <a:ext cx="2345379" cy="914400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304800" y="1371600"/>
            <a:ext cx="8534400" cy="1485896"/>
          </a:xfrm>
          <a:prstGeom prst="rect">
            <a:avLst/>
          </a:prstGeom>
        </p:spPr>
        <p:txBody>
          <a:bodyPr/>
          <a:lstStyle>
            <a:lvl1pPr algn="l" rtl="0">
              <a:buFontTx/>
              <a:buBlip>
                <a:blip r:embed="rId4"/>
              </a:buBlip>
              <a:defRPr/>
            </a:lvl1pPr>
            <a:lvl2pPr algn="l" rtl="0">
              <a:buFontTx/>
              <a:buBlip>
                <a:blip r:embed="rId5"/>
              </a:buBlip>
              <a:defRPr/>
            </a:lvl2pPr>
            <a:lvl3pPr algn="l" rtl="0">
              <a:buFontTx/>
              <a:buBlip>
                <a:blip r:embed="rId6"/>
              </a:buBlip>
              <a:defRPr/>
            </a:lvl3pPr>
            <a:lvl4pPr algn="l" rtl="0">
              <a:buFontTx/>
              <a:buNone/>
              <a:defRPr/>
            </a:lvl4pPr>
            <a:lvl5pPr algn="l" rtl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324196" y="3071811"/>
            <a:ext cx="8515004" cy="3079608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buFont typeface="Arial" pitchFamily="34" charset="0"/>
              <a:buNone/>
              <a:defRPr lang="en-US" sz="1600" b="1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 descr="logo_sela_college_shad6CM.gif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ode_2_small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333375" y="3786190"/>
            <a:ext cx="8505825" cy="127158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© Copyright SELA software &amp; Education Labs Ltd. 14-18 Baruch Hirsch </a:t>
            </a:r>
            <a:r>
              <a:rPr lang="en-US" dirty="0" err="1"/>
              <a:t>St.Bnei</a:t>
            </a:r>
            <a:r>
              <a:rPr lang="en-US" dirty="0"/>
              <a:t> </a:t>
            </a:r>
            <a:r>
              <a:rPr lang="en-US" dirty="0" err="1"/>
              <a:t>Brak</a:t>
            </a:r>
            <a:r>
              <a:rPr lang="en-US" dirty="0"/>
              <a:t> 51202 Israel</a:t>
            </a:r>
            <a:endParaRPr lang="en-US" sz="90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37664" y="6356350"/>
            <a:ext cx="4073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323850" y="5214950"/>
            <a:ext cx="8515349" cy="938200"/>
          </a:xfrm>
          <a:prstGeom prst="rect">
            <a:avLst/>
          </a:prstGeom>
          <a:gradFill>
            <a:gsLst>
              <a:gs pos="0">
                <a:srgbClr val="A6BEE8">
                  <a:alpha val="69804"/>
                </a:srgbClr>
              </a:gs>
              <a:gs pos="50000">
                <a:schemeClr val="accent1">
                  <a:tint val="44500"/>
                  <a:satMod val="160000"/>
                  <a:alpha val="70000"/>
                </a:schemeClr>
              </a:gs>
              <a:gs pos="100000">
                <a:schemeClr val="accent1">
                  <a:tint val="23500"/>
                  <a:satMod val="160000"/>
                  <a:alpha val="70000"/>
                </a:schemeClr>
              </a:gs>
            </a:gsLst>
            <a:lin ang="16200000" scaled="0"/>
          </a:gradFill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76200" dir="18900000" sy="23000" kx="-1200000" algn="bl" rotWithShape="0">
              <a:schemeClr val="accent1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pic>
        <p:nvPicPr>
          <p:cNvPr id="18" name="Picture 17" descr="Code5copy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858148" y="5000636"/>
            <a:ext cx="1428760" cy="557035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304800" y="3786190"/>
            <a:ext cx="8534400" cy="1271582"/>
          </a:xfrm>
          <a:prstGeom prst="rect">
            <a:avLst/>
          </a:prstGeom>
        </p:spPr>
        <p:txBody>
          <a:bodyPr/>
          <a:lstStyle>
            <a:lvl1pPr algn="l" rtl="0">
              <a:buFontTx/>
              <a:buBlip>
                <a:blip r:embed="rId4"/>
              </a:buBlip>
              <a:defRPr/>
            </a:lvl1pPr>
            <a:lvl2pPr algn="l" rtl="0">
              <a:buFontTx/>
              <a:buBlip>
                <a:blip r:embed="rId5"/>
              </a:buBlip>
              <a:defRPr/>
            </a:lvl2pPr>
            <a:lvl3pPr algn="l" rtl="0">
              <a:buFontTx/>
              <a:buBlip>
                <a:blip r:embed="rId6"/>
              </a:buBlip>
              <a:defRPr/>
            </a:lvl3pPr>
            <a:lvl4pPr algn="l" rtl="0">
              <a:buFontTx/>
              <a:buNone/>
              <a:defRPr/>
            </a:lvl4pPr>
            <a:lvl5pPr algn="l" rtl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324196" y="5214949"/>
            <a:ext cx="8515004" cy="936469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buFont typeface="Arial" pitchFamily="34" charset="0"/>
              <a:buNone/>
              <a:defRPr lang="en-US" sz="1600" b="1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 descr="logo_sela_college_shad6CM.gif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385733" y="1276354"/>
            <a:ext cx="8505825" cy="127158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376208" y="2705114"/>
            <a:ext cx="8515349" cy="938200"/>
          </a:xfrm>
          <a:prstGeom prst="rect">
            <a:avLst/>
          </a:prstGeom>
          <a:gradFill>
            <a:gsLst>
              <a:gs pos="0">
                <a:srgbClr val="A6BEE8">
                  <a:alpha val="69804"/>
                </a:srgbClr>
              </a:gs>
              <a:gs pos="50000">
                <a:schemeClr val="accent1">
                  <a:tint val="44500"/>
                  <a:satMod val="160000"/>
                  <a:alpha val="70000"/>
                </a:schemeClr>
              </a:gs>
              <a:gs pos="100000">
                <a:schemeClr val="accent1">
                  <a:tint val="23500"/>
                  <a:satMod val="160000"/>
                  <a:alpha val="70000"/>
                </a:schemeClr>
              </a:gs>
            </a:gsLst>
            <a:lin ang="16200000" scaled="0"/>
          </a:gradFill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76200" dir="18900000" sy="23000" kx="-1200000" algn="bl" rotWithShape="0">
              <a:schemeClr val="accent1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357158" y="1276354"/>
            <a:ext cx="8534400" cy="1271582"/>
          </a:xfrm>
          <a:prstGeom prst="rect">
            <a:avLst/>
          </a:prstGeom>
        </p:spPr>
        <p:txBody>
          <a:bodyPr/>
          <a:lstStyle>
            <a:lvl1pPr algn="l" rtl="0">
              <a:buFontTx/>
              <a:buBlip>
                <a:blip r:embed="rId4"/>
              </a:buBlip>
              <a:defRPr/>
            </a:lvl1pPr>
            <a:lvl2pPr algn="l" rtl="0">
              <a:buFontTx/>
              <a:buBlip>
                <a:blip r:embed="rId5"/>
              </a:buBlip>
              <a:defRPr/>
            </a:lvl2pPr>
            <a:lvl3pPr algn="l" rtl="0">
              <a:buFontTx/>
              <a:buBlip>
                <a:blip r:embed="rId6"/>
              </a:buBlip>
              <a:defRPr/>
            </a:lvl3pPr>
            <a:lvl4pPr algn="l" rtl="0">
              <a:buFontTx/>
              <a:buNone/>
              <a:defRPr/>
            </a:lvl4pPr>
            <a:lvl5pPr algn="l" rtl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376554" y="2705113"/>
            <a:ext cx="8515004" cy="936469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buFont typeface="Arial" pitchFamily="34" charset="0"/>
              <a:buNone/>
              <a:defRPr lang="en-US" sz="1600" b="1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1" name="Picture 20" descr="Code5copy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715240" y="2571744"/>
            <a:ext cx="1428760" cy="5570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questions_smll.jp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© Copyright SELA software &amp; Education Labs Ltd. 14-18 Baruch Hirsch </a:t>
            </a:r>
            <a:r>
              <a:rPr lang="en-US" dirty="0" err="1"/>
              <a:t>St.Bnei</a:t>
            </a:r>
            <a:r>
              <a:rPr lang="en-US" dirty="0"/>
              <a:t> </a:t>
            </a:r>
            <a:r>
              <a:rPr lang="en-US" dirty="0" err="1"/>
              <a:t>Brak</a:t>
            </a:r>
            <a:r>
              <a:rPr lang="en-US" dirty="0"/>
              <a:t> 51202 Israel</a:t>
            </a:r>
            <a:endParaRPr lang="en-US" sz="90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37664" y="6356350"/>
            <a:ext cx="4073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logo_sela_college_shad6CM.gif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ummary_small.jp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333375" y="1371600"/>
            <a:ext cx="5838825" cy="4648200"/>
          </a:xfrm>
          <a:prstGeom prst="rect">
            <a:avLst/>
          </a:prstGeom>
          <a:solidFill>
            <a:schemeClr val="bg1">
              <a:alpha val="59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© Copyright SELA software &amp; Education Labs Ltd. 14-18 Baruch Hirsch </a:t>
            </a:r>
            <a:r>
              <a:rPr lang="en-US" dirty="0" err="1"/>
              <a:t>St.Bnei</a:t>
            </a:r>
            <a:r>
              <a:rPr lang="en-US" dirty="0"/>
              <a:t> </a:t>
            </a:r>
            <a:r>
              <a:rPr lang="en-US" dirty="0" err="1"/>
              <a:t>Brak</a:t>
            </a:r>
            <a:r>
              <a:rPr lang="en-US" dirty="0"/>
              <a:t> 51202 Israel</a:t>
            </a:r>
            <a:endParaRPr lang="en-US" sz="90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37664" y="6356350"/>
            <a:ext cx="4073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33375" y="1371600"/>
            <a:ext cx="5851294" cy="4572000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buSzPct val="75000"/>
              <a:buFontTx/>
              <a:buBlip>
                <a:blip r:embed="rId3"/>
              </a:buBlip>
              <a:defRPr sz="2800" b="0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 descr="logo_sela_college_shad6CM.gif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odule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module_agenda_small.jp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333375" y="1371600"/>
            <a:ext cx="4010025" cy="4648200"/>
          </a:xfrm>
          <a:prstGeom prst="rect">
            <a:avLst/>
          </a:prstGeom>
          <a:solidFill>
            <a:schemeClr val="bg1">
              <a:alpha val="59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© Copyright SELA software &amp; Education Labs Ltd. 14-18 Baruch Hirsch </a:t>
            </a:r>
            <a:r>
              <a:rPr lang="en-US" dirty="0" err="1"/>
              <a:t>St.Bnei</a:t>
            </a:r>
            <a:r>
              <a:rPr lang="en-US" dirty="0"/>
              <a:t> </a:t>
            </a:r>
            <a:r>
              <a:rPr lang="en-US" dirty="0" err="1"/>
              <a:t>Brak</a:t>
            </a:r>
            <a:r>
              <a:rPr lang="en-US" dirty="0"/>
              <a:t> 51202 Israel</a:t>
            </a:r>
            <a:endParaRPr lang="en-US" sz="90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37664" y="6356350"/>
            <a:ext cx="4073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324195" y="1371600"/>
            <a:ext cx="4031674" cy="4648200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buFontTx/>
              <a:buBlip>
                <a:blip r:embed="rId3"/>
              </a:buBlip>
              <a:defRPr sz="2000"/>
            </a:lvl1pPr>
            <a:lvl2pPr algn="l" rtl="0">
              <a:buFontTx/>
              <a:buBlip>
                <a:blip r:embed="rId3"/>
              </a:buBlip>
              <a:defRPr sz="1800"/>
            </a:lvl2pPr>
            <a:lvl3pPr algn="l" rtl="0">
              <a:buNone/>
              <a:defRPr sz="1600"/>
            </a:lvl3pPr>
            <a:lvl4pPr>
              <a:buNone/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2" name="Picture 11" descr="logo_sela_college_shad6CM.gif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ips_small.jpg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304800" y="1371600"/>
            <a:ext cx="6553200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37664" y="6356350"/>
            <a:ext cx="4073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7162800" y="2514600"/>
            <a:ext cx="1676400" cy="457200"/>
          </a:xfrm>
          <a:prstGeom prst="rect">
            <a:avLst/>
          </a:prstGeom>
        </p:spPr>
        <p:txBody>
          <a:bodyPr/>
          <a:lstStyle>
            <a:lvl1pPr marL="233363" indent="339725">
              <a:buNone/>
              <a:defRPr sz="2000" b="1"/>
            </a:lvl1pPr>
            <a:lvl2pPr marL="233363" indent="-233363">
              <a:buFontTx/>
              <a:buBlip>
                <a:blip r:embed="rId3"/>
              </a:buBlip>
              <a:defRPr sz="1600" baseline="0"/>
            </a:lvl2pPr>
          </a:lstStyle>
          <a:p>
            <a:pPr lvl="0"/>
            <a:r>
              <a:rPr lang="en-US" dirty="0"/>
              <a:t>Tips</a:t>
            </a:r>
          </a:p>
          <a:p>
            <a:pPr lvl="1"/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7162800" y="3048000"/>
            <a:ext cx="1828800" cy="1676400"/>
          </a:xfrm>
          <a:prstGeom prst="rect">
            <a:avLst/>
          </a:prstGeom>
        </p:spPr>
        <p:txBody>
          <a:bodyPr>
            <a:normAutofit/>
          </a:bodyPr>
          <a:lstStyle>
            <a:lvl1pPr marL="115888" indent="-115888">
              <a:buFont typeface="Arial" pitchFamily="34" charset="0"/>
              <a:buChar char="•"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7400" y="6392487"/>
            <a:ext cx="6172200" cy="3289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© Copyright SELA software &amp; Education Labs Ltd. 14-18 Baruch Hirsch </a:t>
            </a:r>
            <a:r>
              <a:rPr lang="en-US" dirty="0" err="1"/>
              <a:t>St.Bnei</a:t>
            </a:r>
            <a:r>
              <a:rPr lang="en-US" dirty="0"/>
              <a:t> </a:t>
            </a:r>
            <a:r>
              <a:rPr lang="en-US" dirty="0" err="1"/>
              <a:t>Brak</a:t>
            </a:r>
            <a:r>
              <a:rPr lang="en-US" dirty="0"/>
              <a:t> 51202 Israel</a:t>
            </a:r>
            <a:endParaRPr lang="en-US" sz="900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304800" y="1371600"/>
            <a:ext cx="6553200" cy="4724400"/>
          </a:xfrm>
          <a:prstGeom prst="rect">
            <a:avLst/>
          </a:prstGeom>
        </p:spPr>
        <p:txBody>
          <a:bodyPr/>
          <a:lstStyle>
            <a:lvl1pPr algn="l" rtl="0">
              <a:buFontTx/>
              <a:buBlip>
                <a:blip r:embed="rId4"/>
              </a:buBlip>
              <a:defRPr/>
            </a:lvl1pPr>
            <a:lvl2pPr algn="l" rtl="0">
              <a:buFontTx/>
              <a:buBlip>
                <a:blip r:embed="rId4"/>
              </a:buBlip>
              <a:defRPr/>
            </a:lvl2pPr>
            <a:lvl3pPr algn="l" rtl="0">
              <a:buFontTx/>
              <a:buBlip>
                <a:blip r:embed="rId4"/>
              </a:buBlip>
              <a:defRPr/>
            </a:lvl3pPr>
            <a:lvl4pPr algn="l" rtl="0">
              <a:buFontTx/>
              <a:buBlip>
                <a:blip r:embed="rId4"/>
              </a:buBlip>
              <a:defRPr/>
            </a:lvl4pPr>
            <a:lvl5pPr algn="l" rtl="0">
              <a:buFontTx/>
              <a:buBlip>
                <a:blip r:embed="rId4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3" name="Picture 12" descr="logo_sela_college_shad6CM.gif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22564" y="6317673"/>
            <a:ext cx="1326243" cy="42836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476672"/>
            <a:ext cx="8424268" cy="1015489"/>
          </a:xfrm>
          <a:prstGeom prst="rect">
            <a:avLst/>
          </a:prstGeom>
          <a:ln>
            <a:noFill/>
          </a:ln>
          <a:effectLst/>
        </p:spPr>
        <p:txBody>
          <a:bodyPr vert="horz" lIns="0" tIns="0" rIns="91440" bIns="45720" rtlCol="0" anchor="t" anchorCtr="0">
            <a:normAutofit/>
          </a:bodyPr>
          <a:lstStyle/>
          <a:p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611188" y="6309320"/>
            <a:ext cx="7951904" cy="1578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74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51" r:id="rId17"/>
    <p:sldLayoutId id="2147483668" r:id="rId18"/>
    <p:sldLayoutId id="2147483669" r:id="rId19"/>
    <p:sldLayoutId id="2147483672" r:id="rId20"/>
    <p:sldLayoutId id="2147483660" r:id="rId21"/>
    <p:sldLayoutId id="2147483661" r:id="rId22"/>
    <p:sldLayoutId id="2147483670" r:id="rId23"/>
    <p:sldLayoutId id="2147483671" r:id="rId24"/>
    <p:sldLayoutId id="2147483662" r:id="rId25"/>
    <p:sldLayoutId id="2147483663" r:id="rId26"/>
    <p:sldLayoutId id="2147483666" r:id="rId27"/>
    <p:sldLayoutId id="2147483665" r:id="rId28"/>
  </p:sldLayoutIdLst>
  <p:hf hdr="0" dt="0"/>
  <p:txStyles>
    <p:titleStyle>
      <a:lvl1pPr algn="l" defTabSz="914400" rtl="1" eaLnBrk="1" latinLnBrk="0" hangingPunct="1">
        <a:spcBef>
          <a:spcPct val="0"/>
        </a:spcBef>
        <a:buNone/>
        <a:defRPr lang="en-US" sz="4000" b="0" kern="1200" dirty="0" smtClean="0">
          <a:ln w="3175">
            <a:noFill/>
          </a:ln>
          <a:solidFill>
            <a:srgbClr val="F08E1B"/>
          </a:solidFill>
          <a:effectLst/>
          <a:latin typeface="Segoe Light" panose="020B0302040504020203" pitchFamily="34" charset="0"/>
          <a:ea typeface="+mn-ea"/>
          <a:cs typeface="Segoe UI" panose="020B0502040204020203" pitchFamily="34" charset="0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064">
          <p15:clr>
            <a:srgbClr val="F26B43"/>
          </p15:clr>
        </p15:guide>
        <p15:guide id="3" pos="54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ongodb.com/manual/reference/method/db.createCollection/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0" tIns="34275" rIns="68569" bIns="34275" rtlCol="0" anchor="t" anchorCtr="0">
            <a:noAutofit/>
          </a:bodyPr>
          <a:lstStyle/>
          <a:p>
            <a:pPr rtl="0">
              <a:spcBef>
                <a:spcPts val="0"/>
              </a:spcBef>
              <a:buClr>
                <a:srgbClr val="F08E1B"/>
              </a:buClr>
              <a:buSzPct val="25000"/>
            </a:pPr>
            <a:r>
              <a:rPr lang="en-US" sz="3000" dirty="0"/>
              <a:t>MongoDB for Developers</a:t>
            </a:r>
            <a:br>
              <a:rPr lang="en-US" sz="3000" dirty="0"/>
            </a:br>
            <a:br>
              <a:rPr lang="en-US" sz="3000" dirty="0"/>
            </a:br>
            <a:br>
              <a:rPr lang="en-US" sz="3000" dirty="0"/>
            </a:b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Module 02 – Collections and databases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29306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collections and databases </a:t>
            </a:r>
          </a:p>
        </p:txBody>
      </p:sp>
      <p:sp>
        <p:nvSpPr>
          <p:cNvPr id="45363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68760"/>
            <a:ext cx="8534400" cy="511256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MongoDB stores its documents in collections and collections stored in databases.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We can think about MongoDB collection as a table in Relational Database.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42896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databases - mongo shell</a:t>
            </a:r>
          </a:p>
        </p:txBody>
      </p:sp>
      <p:sp>
        <p:nvSpPr>
          <p:cNvPr id="45363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96752"/>
            <a:ext cx="8534400" cy="511256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The default database, in MongoDB, is </a:t>
            </a:r>
            <a:r>
              <a:rPr lang="en-US" sz="2400" i="1" dirty="0"/>
              <a:t>test</a:t>
            </a:r>
            <a:r>
              <a:rPr lang="en-US" sz="2400" dirty="0"/>
              <a:t>. All the data will be stored in </a:t>
            </a:r>
            <a:r>
              <a:rPr lang="en-US" sz="2400" i="1" dirty="0"/>
              <a:t>test</a:t>
            </a:r>
            <a:r>
              <a:rPr lang="en-US" sz="2400" dirty="0"/>
              <a:t> database till we switch to another database.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/>
              <a:t>In mongo shell the command that switches databases is </a:t>
            </a:r>
            <a:r>
              <a:rPr lang="en-US" sz="2400" i="1" dirty="0"/>
              <a:t>use.</a:t>
            </a:r>
          </a:p>
          <a:p>
            <a:pPr>
              <a:lnSpc>
                <a:spcPct val="150000"/>
              </a:lnSpc>
            </a:pPr>
            <a:endParaRPr lang="en-US" sz="1600" i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i="1" dirty="0"/>
              <a:t> </a:t>
            </a:r>
            <a:r>
              <a:rPr lang="en-US" sz="2400" dirty="0"/>
              <a:t>If a database does not exist, MongoDB creates the database when you first store data for that database. 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Switch to a non-existent database first and then store at least one document on it.</a:t>
            </a:r>
          </a:p>
          <a:p>
            <a:pPr>
              <a:lnSpc>
                <a:spcPct val="150000"/>
              </a:lnSpc>
            </a:pPr>
            <a:endParaRPr lang="en-US" sz="2000" i="1" dirty="0"/>
          </a:p>
          <a:p>
            <a:pPr lvl="1">
              <a:lnSpc>
                <a:spcPct val="150000"/>
              </a:lnSpc>
            </a:pPr>
            <a:endParaRPr lang="en-US" sz="2000" i="1" dirty="0"/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41016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MongoDB databases - mongo shell –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24744"/>
            <a:ext cx="8534400" cy="4648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To check all existed databases , use a command </a:t>
            </a:r>
            <a:r>
              <a:rPr lang="en-US" sz="2400" i="1" dirty="0"/>
              <a:t>show </a:t>
            </a:r>
            <a:r>
              <a:rPr lang="en-US" sz="2400" i="1" dirty="0" err="1"/>
              <a:t>dbs</a:t>
            </a:r>
            <a:r>
              <a:rPr lang="en-US" sz="2400" i="1" dirty="0"/>
              <a:t>  i</a:t>
            </a:r>
            <a:r>
              <a:rPr lang="en-US" sz="2400" dirty="0"/>
              <a:t>n a mongo-shell window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Only databases that hold at least one document will be listed by </a:t>
            </a:r>
            <a:r>
              <a:rPr lang="en-US" sz="2200" i="1" dirty="0"/>
              <a:t>show </a:t>
            </a:r>
            <a:r>
              <a:rPr lang="en-US" sz="2200" i="1" dirty="0" err="1"/>
              <a:t>dbs</a:t>
            </a:r>
            <a:r>
              <a:rPr lang="en-US" sz="2200" i="1" dirty="0"/>
              <a:t> </a:t>
            </a:r>
            <a:r>
              <a:rPr lang="en-US" sz="2200" dirty="0"/>
              <a:t>statement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To check your currently selected database, use the command </a:t>
            </a:r>
            <a:r>
              <a:rPr lang="en-US" sz="2400" i="1" dirty="0" err="1"/>
              <a:t>db</a:t>
            </a:r>
            <a:endParaRPr lang="en-US" sz="2600" i="1" dirty="0"/>
          </a:p>
          <a:p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/>
              <a:t>© Copyright SELA software &amp; Education Labs Ltd. 14-18 Baruch Hirsch </a:t>
            </a:r>
            <a:r>
              <a:rPr lang="en-US" sz="1200" dirty="0" err="1"/>
              <a:t>St.Bnei</a:t>
            </a:r>
            <a:r>
              <a:rPr lang="en-US" sz="1200" dirty="0"/>
              <a:t> </a:t>
            </a:r>
            <a:r>
              <a:rPr lang="en-US" sz="1200" dirty="0" err="1"/>
              <a:t>Brak</a:t>
            </a:r>
            <a:r>
              <a:rPr lang="en-US" sz="1200" dirty="0"/>
              <a:t> 51202 Israel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4005064"/>
            <a:ext cx="4248472" cy="2197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7040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databases -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432" y="1196753"/>
            <a:ext cx="7836991" cy="5256583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In order to connect and operate the MongoDB, the </a:t>
            </a:r>
            <a:r>
              <a:rPr lang="en-US" sz="2000" i="1" dirty="0" err="1"/>
              <a:t>pymongo</a:t>
            </a:r>
            <a:r>
              <a:rPr lang="en-US" sz="2000" dirty="0"/>
              <a:t> module should be installed first.  Use </a:t>
            </a:r>
            <a:r>
              <a:rPr lang="en-US" sz="2000" i="1" dirty="0"/>
              <a:t>pip </a:t>
            </a:r>
            <a:r>
              <a:rPr lang="en-US" sz="2000" dirty="0"/>
              <a:t>(or any other python package manager) to install the module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i="1" dirty="0"/>
              <a:t>pip install </a:t>
            </a:r>
            <a:r>
              <a:rPr lang="en-US" sz="2000" i="1" dirty="0" err="1"/>
              <a:t>pymongo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r>
              <a:rPr lang="en-US" sz="2000" dirty="0"/>
              <a:t>Python code should perform the following steps:</a:t>
            </a:r>
          </a:p>
          <a:p>
            <a:pPr lvl="1"/>
            <a:r>
              <a:rPr lang="en-US" sz="2000" dirty="0"/>
              <a:t>Import </a:t>
            </a:r>
            <a:r>
              <a:rPr lang="en-US" sz="2000" dirty="0" err="1"/>
              <a:t>MongoClient</a:t>
            </a:r>
            <a:r>
              <a:rPr lang="en-US" sz="2000" dirty="0"/>
              <a:t> class from </a:t>
            </a:r>
            <a:r>
              <a:rPr lang="en-US" sz="2000" dirty="0" err="1"/>
              <a:t>pymongo</a:t>
            </a:r>
            <a:r>
              <a:rPr lang="en-US" sz="2000" dirty="0"/>
              <a:t> module</a:t>
            </a:r>
          </a:p>
          <a:p>
            <a:pPr marL="400050" lvl="1" indent="0">
              <a:buNone/>
            </a:pPr>
            <a:r>
              <a:rPr lang="en-US" sz="2000" i="1" dirty="0"/>
              <a:t>	from </a:t>
            </a:r>
            <a:r>
              <a:rPr lang="en-US" sz="2000" i="1" dirty="0" err="1"/>
              <a:t>pymongo</a:t>
            </a:r>
            <a:r>
              <a:rPr lang="en-US" sz="2000" i="1" dirty="0"/>
              <a:t> import </a:t>
            </a:r>
            <a:r>
              <a:rPr lang="en-US" sz="2000" i="1" dirty="0" err="1"/>
              <a:t>MongoClient</a:t>
            </a:r>
            <a:endParaRPr lang="en-US" sz="2000" i="1" dirty="0"/>
          </a:p>
          <a:p>
            <a:pPr lvl="1" indent="-342900"/>
            <a:r>
              <a:rPr lang="en-US" sz="2000" dirty="0"/>
              <a:t>Connect to MongoDB server</a:t>
            </a:r>
          </a:p>
          <a:p>
            <a:pPr marL="400050" lvl="1" indent="0">
              <a:buNone/>
            </a:pPr>
            <a:r>
              <a:rPr lang="en-US" sz="2000" dirty="0"/>
              <a:t>	</a:t>
            </a:r>
            <a:r>
              <a:rPr lang="en-US" sz="2000" i="1" dirty="0"/>
              <a:t>client = </a:t>
            </a:r>
            <a:r>
              <a:rPr lang="en-US" sz="2000" i="1" dirty="0" err="1"/>
              <a:t>MongoClient</a:t>
            </a:r>
            <a:r>
              <a:rPr lang="en-US" sz="2000" i="1" dirty="0"/>
              <a:t>('localhost:27017')</a:t>
            </a:r>
            <a:r>
              <a:rPr lang="en-US" sz="2000" dirty="0"/>
              <a:t>    # or any other server/port</a:t>
            </a:r>
          </a:p>
          <a:p>
            <a:pPr lvl="1" indent="-342900"/>
            <a:r>
              <a:rPr lang="en-US" sz="2000" dirty="0"/>
              <a:t>Choose current database</a:t>
            </a:r>
          </a:p>
          <a:p>
            <a:pPr marL="400050" lvl="1" indent="0">
              <a:buNone/>
            </a:pPr>
            <a:r>
              <a:rPr lang="en-US" sz="2000" dirty="0"/>
              <a:t>	</a:t>
            </a:r>
            <a:r>
              <a:rPr lang="en-US" sz="2000" i="1" dirty="0" err="1"/>
              <a:t>db</a:t>
            </a:r>
            <a:r>
              <a:rPr lang="en-US" sz="2000" i="1" dirty="0"/>
              <a:t> = </a:t>
            </a:r>
            <a:r>
              <a:rPr lang="en-US" sz="2000" i="1" dirty="0" err="1"/>
              <a:t>client.LibraryData</a:t>
            </a:r>
            <a:endParaRPr lang="en-US" sz="2000" i="1" dirty="0"/>
          </a:p>
          <a:p>
            <a:pPr marL="400050" lvl="1" indent="0">
              <a:buNone/>
            </a:pPr>
            <a:r>
              <a:rPr lang="en-US" sz="2000" dirty="0"/>
              <a:t>If the database doesn't exist yet, MongoDB will create it implicitly upon it first use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/>
              <a:t>© Copyright SELA software &amp; Education Labs Ltd. 14-18 Baruch Hirsch </a:t>
            </a:r>
            <a:r>
              <a:rPr lang="en-US" sz="1200" dirty="0" err="1"/>
              <a:t>St.Bnei</a:t>
            </a:r>
            <a:r>
              <a:rPr lang="en-US" sz="1200" dirty="0"/>
              <a:t> </a:t>
            </a:r>
            <a:r>
              <a:rPr lang="en-US" sz="1200" dirty="0" err="1"/>
              <a:t>Brak</a:t>
            </a:r>
            <a:r>
              <a:rPr lang="en-US" sz="1200" dirty="0"/>
              <a:t> 51202 Israel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12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MongoDB collections - </a:t>
            </a:r>
            <a:r>
              <a:rPr lang="en-US" dirty="0">
                <a:effectLst/>
              </a:rPr>
              <a:t>Create a Collection</a:t>
            </a:r>
            <a:endParaRPr lang="en-US" dirty="0"/>
          </a:p>
        </p:txBody>
      </p:sp>
      <p:sp>
        <p:nvSpPr>
          <p:cNvPr id="45363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96752"/>
            <a:ext cx="8534400" cy="5112568"/>
          </a:xfrm>
        </p:spPr>
        <p:txBody>
          <a:bodyPr>
            <a:noAutofit/>
          </a:bodyPr>
          <a:lstStyle/>
          <a:p>
            <a:pPr marL="365760"/>
            <a:r>
              <a:rPr lang="en-US" sz="2400" dirty="0"/>
              <a:t>The database is a set of collections </a:t>
            </a:r>
          </a:p>
          <a:p>
            <a:pPr marL="365760"/>
            <a:r>
              <a:rPr lang="en-US" sz="2400" dirty="0"/>
              <a:t>A collection can be created implicitly or explicitly.</a:t>
            </a:r>
          </a:p>
          <a:p>
            <a:pPr marL="365760"/>
            <a:r>
              <a:rPr lang="en-US" sz="2400" dirty="0"/>
              <a:t>Implicit creation: MongoDB automatically creates a collection when we first stores data for that collection.</a:t>
            </a:r>
          </a:p>
          <a:p>
            <a:pPr marL="365760"/>
            <a:r>
              <a:rPr lang="en-US" sz="2400" dirty="0"/>
              <a:t>A collection can be created explicitly. The </a:t>
            </a:r>
            <a:r>
              <a:rPr lang="en-US" sz="2400" i="1" dirty="0" err="1"/>
              <a:t>db.createCollection</a:t>
            </a:r>
            <a:r>
              <a:rPr lang="en-US" sz="2400" i="1" dirty="0"/>
              <a:t>(name ,options)</a:t>
            </a:r>
            <a:r>
              <a:rPr lang="en-US" sz="2400" dirty="0"/>
              <a:t> method creates a collection with various options</a:t>
            </a:r>
          </a:p>
          <a:p>
            <a:pPr lvl="1"/>
            <a:r>
              <a:rPr lang="en-US" sz="2200" i="1" dirty="0"/>
              <a:t>options</a:t>
            </a:r>
            <a:r>
              <a:rPr lang="en-US" sz="2200" dirty="0"/>
              <a:t> flag is are optional and has a document type</a:t>
            </a:r>
          </a:p>
          <a:p>
            <a:pPr lvl="1"/>
            <a:r>
              <a:rPr lang="en-US" sz="2200" dirty="0"/>
              <a:t>With </a:t>
            </a:r>
            <a:r>
              <a:rPr lang="en-US" sz="2200" i="1" dirty="0"/>
              <a:t>options</a:t>
            </a:r>
            <a:r>
              <a:rPr lang="en-US" sz="2200" dirty="0"/>
              <a:t> flag we can define collection size,  max number of documents, to specify validation rules,  </a:t>
            </a:r>
            <a:r>
              <a:rPr lang="en-US" sz="2200" dirty="0" err="1"/>
              <a:t>etc</a:t>
            </a:r>
            <a:endParaRPr lang="en-US" sz="2200" dirty="0"/>
          </a:p>
          <a:p>
            <a:pPr lvl="1"/>
            <a:r>
              <a:rPr lang="en-US" sz="2200" dirty="0"/>
              <a:t>See </a:t>
            </a:r>
            <a:r>
              <a:rPr lang="en-US" sz="2200" dirty="0">
                <a:hlinkClick r:id="rId2"/>
              </a:rPr>
              <a:t>https://docs.mongodb.com/manual/reference/method/db.createCollection/</a:t>
            </a:r>
            <a:r>
              <a:rPr lang="en-US" sz="2200" dirty="0"/>
              <a:t> for full list of options</a:t>
            </a:r>
          </a:p>
          <a:p>
            <a:pPr>
              <a:lnSpc>
                <a:spcPct val="150000"/>
              </a:lnSpc>
            </a:pPr>
            <a:endParaRPr lang="en-US" sz="2000" i="1" dirty="0"/>
          </a:p>
          <a:p>
            <a:pPr lvl="1">
              <a:lnSpc>
                <a:spcPct val="150000"/>
              </a:lnSpc>
            </a:pPr>
            <a:endParaRPr lang="en-US" sz="2000" i="1" dirty="0"/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4" name="Footer Placeholder 3"/>
          <p:cNvSpPr txBox="1">
            <a:spLocks/>
          </p:cNvSpPr>
          <p:nvPr/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© Copyright SELA software &amp; Education Labs Ltd. 14-18 Baruch Hirsch St.Bnei Brak 51202 Israel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52012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-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96753"/>
            <a:ext cx="8659688" cy="5159598"/>
          </a:xfrm>
        </p:spPr>
        <p:txBody>
          <a:bodyPr>
            <a:normAutofit fontScale="92500"/>
          </a:bodyPr>
          <a:lstStyle/>
          <a:p>
            <a:pPr>
              <a:lnSpc>
                <a:spcPct val="130000"/>
              </a:lnSpc>
            </a:pPr>
            <a:r>
              <a:rPr lang="en-US" sz="2400" dirty="0"/>
              <a:t>Data in MongoDB has a flexible schema, so we don’t have to declare nether documents schema nor collections structure before inserting data</a:t>
            </a:r>
          </a:p>
          <a:p>
            <a:pPr>
              <a:lnSpc>
                <a:spcPct val="130000"/>
              </a:lnSpc>
            </a:pPr>
            <a:r>
              <a:rPr lang="en-US" sz="2400" dirty="0"/>
              <a:t>MongoDB documents has BSON representation. </a:t>
            </a:r>
          </a:p>
          <a:p>
            <a:pPr>
              <a:lnSpc>
                <a:spcPct val="130000"/>
              </a:lnSpc>
            </a:pPr>
            <a:r>
              <a:rPr lang="en-US" sz="2400" dirty="0"/>
              <a:t>BSON is a binary serialization format used to store documents and make remote procedure calls in MongoDB.  BSON is: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Traversable - BSON is de­signed to be tra­versed eas­ily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Efficient - en­cod­ing / de­cod­ing  data to/from BSON is quickly.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Lightweight</a:t>
            </a:r>
          </a:p>
          <a:p>
            <a:pPr marL="0" lvl="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3"/>
          <p:cNvSpPr txBox="1">
            <a:spLocks/>
          </p:cNvSpPr>
          <p:nvPr/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© Copyright SELA software &amp; Education Labs Ltd. 14-18 Baruch Hirsch St.Bnei Brak 51202 Israel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09600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-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12776"/>
            <a:ext cx="8659688" cy="5184576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80000"/>
              </a:lnSpc>
            </a:pPr>
            <a:r>
              <a:rPr lang="en-US" sz="2600" dirty="0"/>
              <a:t>BSON documents are composed of field-and-value pairs, like JSON</a:t>
            </a:r>
          </a:p>
          <a:p>
            <a:pPr marL="342900" lvl="1" indent="-342900">
              <a:lnSpc>
                <a:spcPct val="90000"/>
              </a:lnSpc>
            </a:pPr>
            <a:r>
              <a:rPr lang="en-US" dirty="0"/>
              <a:t>BSON supports values of varying types, including complex data types like arrays and other documents</a:t>
            </a:r>
          </a:p>
          <a:p>
            <a:pPr marL="342900" lvl="1" indent="-342900">
              <a:lnSpc>
                <a:spcPct val="80000"/>
              </a:lnSpc>
            </a:pPr>
            <a:r>
              <a:rPr lang="en-US" dirty="0"/>
              <a:t>For example:	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en-US" sz="2300" dirty="0"/>
              <a:t>	{ 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en-US" sz="2300" dirty="0"/>
              <a:t>      		field1: value1, 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en-US" sz="2300" dirty="0"/>
              <a:t>		……..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en-US" sz="2300" dirty="0"/>
              <a:t>      		</a:t>
            </a:r>
            <a:r>
              <a:rPr lang="en-US" sz="2300" dirty="0" err="1"/>
              <a:t>fieldN</a:t>
            </a:r>
            <a:r>
              <a:rPr lang="en-US" sz="2300" dirty="0"/>
              <a:t>: </a:t>
            </a:r>
            <a:r>
              <a:rPr lang="en-US" sz="2300" dirty="0" err="1"/>
              <a:t>valueN</a:t>
            </a:r>
            <a:endParaRPr lang="en-US" sz="2300" dirty="0"/>
          </a:p>
          <a:p>
            <a:pPr marL="0" lvl="4" indent="0">
              <a:lnSpc>
                <a:spcPct val="150000"/>
              </a:lnSpc>
              <a:buNone/>
            </a:pPr>
            <a:r>
              <a:rPr lang="en-US" sz="2300" dirty="0"/>
              <a:t>	}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/>
              <a:t>© Copyright SELA software &amp; Education Labs Ltd. 14-18 Baruch Hirsch </a:t>
            </a:r>
            <a:r>
              <a:rPr lang="en-US" sz="1200" dirty="0" err="1"/>
              <a:t>St.Bnei</a:t>
            </a:r>
            <a:r>
              <a:rPr lang="en-US" sz="1200" dirty="0"/>
              <a:t> </a:t>
            </a:r>
            <a:r>
              <a:rPr lang="en-US" sz="1200" dirty="0" err="1"/>
              <a:t>Brak</a:t>
            </a:r>
            <a:r>
              <a:rPr lang="en-US" sz="1200" dirty="0"/>
              <a:t> 51202 Israel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42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BSON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68760"/>
            <a:ext cx="8534400" cy="508173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BSON format supports values of varying types, the most common are:</a:t>
            </a:r>
          </a:p>
          <a:p>
            <a:pPr marL="457200" lvl="1" indent="0">
              <a:buNone/>
            </a:pPr>
            <a:r>
              <a:rPr lang="en-US" sz="2600" b="1" dirty="0"/>
              <a:t>Type		Number</a:t>
            </a:r>
            <a:r>
              <a:rPr lang="en-US" dirty="0"/>
              <a:t>	</a:t>
            </a:r>
          </a:p>
          <a:p>
            <a:pPr marL="457200" lvl="1" indent="0">
              <a:buNone/>
            </a:pPr>
            <a:r>
              <a:rPr lang="en-US" sz="2500" dirty="0"/>
              <a:t>Double		1		 </a:t>
            </a:r>
          </a:p>
          <a:p>
            <a:pPr marL="457200" lvl="1" indent="0">
              <a:buNone/>
            </a:pPr>
            <a:r>
              <a:rPr lang="en-US" sz="2500" dirty="0"/>
              <a:t>String		2		 </a:t>
            </a:r>
          </a:p>
          <a:p>
            <a:pPr marL="457200" lvl="1" indent="0">
              <a:buNone/>
            </a:pPr>
            <a:r>
              <a:rPr lang="en-US" sz="2500" dirty="0"/>
              <a:t>Object		3		 </a:t>
            </a:r>
          </a:p>
          <a:p>
            <a:pPr marL="457200" lvl="1" indent="0">
              <a:buNone/>
            </a:pPr>
            <a:r>
              <a:rPr lang="en-US" sz="2500" dirty="0"/>
              <a:t>Array		4	</a:t>
            </a:r>
          </a:p>
          <a:p>
            <a:pPr marL="457200" lvl="1" indent="0">
              <a:buNone/>
            </a:pPr>
            <a:r>
              <a:rPr lang="en-US" sz="2500" dirty="0" err="1"/>
              <a:t>ObjectId</a:t>
            </a:r>
            <a:r>
              <a:rPr lang="en-US" sz="2500" dirty="0"/>
              <a:t>		7		 </a:t>
            </a:r>
          </a:p>
          <a:p>
            <a:pPr marL="457200" lvl="1" indent="0">
              <a:buNone/>
            </a:pPr>
            <a:r>
              <a:rPr lang="en-US" sz="2500" dirty="0"/>
              <a:t>Boolean		8		 </a:t>
            </a:r>
          </a:p>
          <a:p>
            <a:pPr marL="457200" lvl="1" indent="0">
              <a:buNone/>
            </a:pPr>
            <a:r>
              <a:rPr lang="en-US" sz="2500" dirty="0"/>
              <a:t>Date		9		 </a:t>
            </a:r>
          </a:p>
          <a:p>
            <a:pPr marL="457200" lvl="1" indent="0">
              <a:buNone/>
            </a:pPr>
            <a:r>
              <a:rPr lang="en-US" sz="2500" dirty="0"/>
              <a:t>Null			10		 </a:t>
            </a:r>
          </a:p>
          <a:p>
            <a:pPr marL="457200" lvl="1" indent="0">
              <a:buNone/>
            </a:pPr>
            <a:r>
              <a:rPr lang="en-US" sz="2500" dirty="0"/>
              <a:t>integer		16		 </a:t>
            </a:r>
          </a:p>
          <a:p>
            <a:pPr marL="457200" lvl="1" indent="0">
              <a:buNone/>
            </a:pPr>
            <a:r>
              <a:rPr lang="en-US" sz="2500" dirty="0"/>
              <a:t>Timestamp		17</a:t>
            </a:r>
          </a:p>
          <a:p>
            <a:pPr marL="457200" lvl="1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Type numbers used to query a field type</a:t>
            </a:r>
            <a:r>
              <a:rPr lang="en-US" sz="3100" dirty="0"/>
              <a:t>	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/>
              <a:t>© Copyright SELA software &amp; Education Labs Ltd. 14-18 Baruch Hirsch </a:t>
            </a:r>
            <a:r>
              <a:rPr lang="en-US" sz="1200" dirty="0" err="1"/>
              <a:t>St.Bnei</a:t>
            </a:r>
            <a:r>
              <a:rPr lang="en-US" sz="1200" dirty="0"/>
              <a:t> </a:t>
            </a:r>
            <a:r>
              <a:rPr lang="en-US" sz="1200" dirty="0" err="1"/>
              <a:t>Brak</a:t>
            </a:r>
            <a:r>
              <a:rPr lang="en-US" sz="1200" dirty="0"/>
              <a:t> 51202 Israel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10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BSON document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48172"/>
            <a:ext cx="8534400" cy="50817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300" dirty="0"/>
              <a:t>{</a:t>
            </a:r>
          </a:p>
          <a:p>
            <a:pPr marL="0" indent="0">
              <a:buNone/>
            </a:pPr>
            <a:r>
              <a:rPr lang="en-US" sz="2300" dirty="0"/>
              <a:t>        </a:t>
            </a:r>
            <a:r>
              <a:rPr lang="en-US" sz="2400" dirty="0"/>
              <a:t>_id : </a:t>
            </a:r>
            <a:r>
              <a:rPr lang="en-US" sz="2400" dirty="0" err="1"/>
              <a:t>ObjectId</a:t>
            </a:r>
            <a:r>
              <a:rPr lang="en-US" sz="2400" dirty="0"/>
              <a:t>("5099803df3f4948bd2f98391"),</a:t>
            </a:r>
          </a:p>
          <a:p>
            <a:pPr marL="0" indent="0">
              <a:buNone/>
            </a:pPr>
            <a:r>
              <a:rPr lang="en-US" sz="2400" dirty="0"/>
              <a:t>         </a:t>
            </a:r>
            <a:r>
              <a:rPr lang="en-US" sz="2400" dirty="0" err="1"/>
              <a:t>bookName</a:t>
            </a:r>
            <a:r>
              <a:rPr lang="en-US" sz="2400" dirty="0"/>
              <a:t> : "MongoDB for beginners",</a:t>
            </a:r>
          </a:p>
          <a:p>
            <a:pPr marL="0" indent="0">
              <a:buNone/>
            </a:pPr>
            <a:r>
              <a:rPr lang="en-US" sz="2400" dirty="0"/>
              <a:t>        genre : [</a:t>
            </a:r>
            <a:r>
              <a:rPr lang="he-IL" sz="2400" dirty="0"/>
              <a:t> </a:t>
            </a:r>
            <a:r>
              <a:rPr lang="en-US" sz="2400" dirty="0"/>
              <a:t>“tech", “science"]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publishData</a:t>
            </a:r>
            <a:r>
              <a:rPr lang="en-US" sz="2400" dirty="0"/>
              <a:t> : new Date('2015-25-10'),</a:t>
            </a:r>
          </a:p>
          <a:p>
            <a:pPr marL="0" indent="0">
              <a:buNone/>
            </a:pPr>
            <a:r>
              <a:rPr lang="en-US" sz="2400" dirty="0"/>
              <a:t>        price : 78.90,</a:t>
            </a:r>
          </a:p>
          <a:p>
            <a:pPr marL="0" indent="0">
              <a:buNone/>
            </a:pPr>
            <a:r>
              <a:rPr lang="en-US" sz="2400" dirty="0"/>
              <a:t>        pages : {</a:t>
            </a:r>
            <a:r>
              <a:rPr lang="en-US" sz="2400" dirty="0" err="1"/>
              <a:t>totalPages</a:t>
            </a:r>
            <a:r>
              <a:rPr lang="en-US" sz="2400" dirty="0"/>
              <a:t> : 345, </a:t>
            </a:r>
            <a:r>
              <a:rPr lang="en-US" sz="2400" dirty="0" err="1"/>
              <a:t>currentPage</a:t>
            </a:r>
            <a:r>
              <a:rPr lang="en-US" sz="2400" dirty="0"/>
              <a:t> : 12}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r>
              <a:rPr lang="en-US" sz="2400" dirty="0"/>
              <a:t>The field name _id is reserved for use as a primary key. </a:t>
            </a:r>
          </a:p>
          <a:p>
            <a:pPr lvl="1"/>
            <a:r>
              <a:rPr lang="en-US" sz="2200" dirty="0"/>
              <a:t>Its value must be unique in the collection</a:t>
            </a:r>
          </a:p>
          <a:p>
            <a:pPr lvl="1"/>
            <a:r>
              <a:rPr lang="en-US" sz="2200" dirty="0"/>
              <a:t>may be of any type other than an array</a:t>
            </a:r>
          </a:p>
          <a:p>
            <a:pPr lvl="1"/>
            <a:r>
              <a:rPr lang="en-US" sz="2200" dirty="0" err="1"/>
              <a:t>MongoDD</a:t>
            </a:r>
            <a:r>
              <a:rPr lang="en-US" sz="2200" dirty="0"/>
              <a:t> will generate one if not specified</a:t>
            </a:r>
          </a:p>
          <a:p>
            <a:pPr lvl="1"/>
            <a:endParaRPr lang="en-US" sz="2200" dirty="0"/>
          </a:p>
          <a:p>
            <a:pPr marL="0" indent="0">
              <a:buNone/>
            </a:pPr>
            <a:endParaRPr lang="en-US" sz="23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/>
              <a:t>© Copyright SELA software &amp; Education Labs Ltd. 14-18 Baruch Hirsch </a:t>
            </a:r>
            <a:r>
              <a:rPr lang="en-US" sz="1200" dirty="0" err="1"/>
              <a:t>St.Bnei</a:t>
            </a:r>
            <a:r>
              <a:rPr lang="en-US" sz="1200" dirty="0"/>
              <a:t> </a:t>
            </a:r>
            <a:r>
              <a:rPr lang="en-US" sz="1200" dirty="0" err="1"/>
              <a:t>Brak</a:t>
            </a:r>
            <a:r>
              <a:rPr lang="en-US" sz="1200" dirty="0"/>
              <a:t> 51202 Israel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380312" y="1556792"/>
            <a:ext cx="161967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 err="1">
                <a:solidFill>
                  <a:schemeClr val="accent6"/>
                </a:solidFill>
              </a:rPr>
              <a:t>ObjectId</a:t>
            </a:r>
            <a:endParaRPr lang="en-US" sz="2300" dirty="0">
              <a:solidFill>
                <a:schemeClr val="accent6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16824" y="2060848"/>
            <a:ext cx="161967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solidFill>
                  <a:schemeClr val="accent6"/>
                </a:solidFill>
              </a:rPr>
              <a:t>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6824" y="2492896"/>
            <a:ext cx="161967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solidFill>
                  <a:schemeClr val="accent6"/>
                </a:solidFill>
              </a:rPr>
              <a:t>Array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6824" y="2852936"/>
            <a:ext cx="161967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solidFill>
                  <a:schemeClr val="accent6"/>
                </a:solidFill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16824" y="3789040"/>
            <a:ext cx="161967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solidFill>
                  <a:schemeClr val="accent6"/>
                </a:solidFill>
              </a:rPr>
              <a:t>Embedded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16824" y="3342764"/>
            <a:ext cx="161967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solidFill>
                  <a:schemeClr val="accent6"/>
                </a:solidFill>
              </a:rPr>
              <a:t>Double</a:t>
            </a:r>
          </a:p>
        </p:txBody>
      </p:sp>
      <p:cxnSp>
        <p:nvCxnSpPr>
          <p:cNvPr id="13" name="Straight Arrow Connector 12"/>
          <p:cNvCxnSpPr>
            <a:stCxn id="6" idx="1"/>
          </p:cNvCxnSpPr>
          <p:nvPr/>
        </p:nvCxnSpPr>
        <p:spPr>
          <a:xfrm flipH="1">
            <a:off x="6516216" y="1779930"/>
            <a:ext cx="864096" cy="79122"/>
          </a:xfrm>
          <a:prstGeom prst="straightConnector1">
            <a:avLst/>
          </a:prstGeom>
          <a:ln w="158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1"/>
          </p:cNvCxnSpPr>
          <p:nvPr/>
        </p:nvCxnSpPr>
        <p:spPr>
          <a:xfrm flipH="1">
            <a:off x="5868144" y="2283986"/>
            <a:ext cx="1548680" cy="0"/>
          </a:xfrm>
          <a:prstGeom prst="straightConnector1">
            <a:avLst/>
          </a:prstGeom>
          <a:ln w="158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5868144" y="2709828"/>
            <a:ext cx="1548680" cy="0"/>
          </a:xfrm>
          <a:prstGeom prst="straightConnector1">
            <a:avLst/>
          </a:prstGeom>
          <a:ln w="158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5868144" y="3076074"/>
            <a:ext cx="1512168" cy="0"/>
          </a:xfrm>
          <a:prstGeom prst="straightConnector1">
            <a:avLst/>
          </a:prstGeom>
          <a:ln w="158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5868144" y="3563470"/>
            <a:ext cx="1489484" cy="2432"/>
          </a:xfrm>
          <a:prstGeom prst="straightConnector1">
            <a:avLst/>
          </a:prstGeom>
          <a:ln w="158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1"/>
          </p:cNvCxnSpPr>
          <p:nvPr/>
        </p:nvCxnSpPr>
        <p:spPr>
          <a:xfrm flipH="1" flipV="1">
            <a:off x="6300192" y="3933056"/>
            <a:ext cx="1116632" cy="256094"/>
          </a:xfrm>
          <a:prstGeom prst="straightConnector1">
            <a:avLst/>
          </a:prstGeom>
          <a:ln w="158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791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sub-data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96752"/>
            <a:ext cx="8534400" cy="5112568"/>
          </a:xfrm>
        </p:spPr>
        <p:txBody>
          <a:bodyPr>
            <a:noAutofit/>
          </a:bodyPr>
          <a:lstStyle/>
          <a:p>
            <a:r>
              <a:rPr lang="en-US" sz="2400" dirty="0"/>
              <a:t>MongoDB allowed access to elements of an array and the fields of an embedded document, using dot (.) notation</a:t>
            </a:r>
          </a:p>
          <a:p>
            <a:endParaRPr lang="en-US" sz="1600" dirty="0"/>
          </a:p>
          <a:p>
            <a:r>
              <a:rPr lang="en-US" sz="2400" dirty="0"/>
              <a:t>An element of an array can be accessed by the zero-based position </a:t>
            </a:r>
            <a:r>
              <a:rPr lang="en-US" sz="2400" i="1" dirty="0"/>
              <a:t>- "</a:t>
            </a:r>
            <a:r>
              <a:rPr lang="en-US" sz="2400" i="1" dirty="0" err="1"/>
              <a:t>arrayName</a:t>
            </a:r>
            <a:r>
              <a:rPr lang="en-US" sz="2400" i="1" dirty="0"/>
              <a:t>. index" </a:t>
            </a:r>
            <a:r>
              <a:rPr lang="en-US" sz="2400" dirty="0"/>
              <a:t>(enclose in quotes)</a:t>
            </a:r>
          </a:p>
          <a:p>
            <a:pPr marL="457200" lvl="1" indent="0">
              <a:buNone/>
            </a:pPr>
            <a:r>
              <a:rPr lang="en-US" sz="2800" dirty="0"/>
              <a:t>	</a:t>
            </a:r>
            <a:r>
              <a:rPr lang="en-US" sz="2200" i="1" dirty="0"/>
              <a:t>"</a:t>
            </a:r>
            <a:r>
              <a:rPr lang="en-US" sz="2000" i="1" dirty="0"/>
              <a:t> fiction</a:t>
            </a:r>
            <a:r>
              <a:rPr lang="en-US" sz="2200" i="1" dirty="0"/>
              <a:t>.0" </a:t>
            </a:r>
            <a:r>
              <a:rPr lang="en-US" sz="2200" dirty="0"/>
              <a:t>specifies the first element in the </a:t>
            </a:r>
            <a:r>
              <a:rPr lang="en-US" sz="2200" i="1" dirty="0"/>
              <a:t>genre</a:t>
            </a:r>
            <a:r>
              <a:rPr lang="en-US" sz="2200" dirty="0"/>
              <a:t> array</a:t>
            </a:r>
          </a:p>
          <a:p>
            <a:endParaRPr lang="en-US" sz="1600" dirty="0"/>
          </a:p>
          <a:p>
            <a:r>
              <a:rPr lang="en-US" sz="2400" dirty="0"/>
              <a:t>A field of an embedded document can be accessed by field name - </a:t>
            </a:r>
            <a:r>
              <a:rPr lang="en-US" sz="2400" i="1" dirty="0"/>
              <a:t>"</a:t>
            </a:r>
            <a:r>
              <a:rPr lang="en-US" sz="2400" i="1" dirty="0" err="1"/>
              <a:t>embeddedDocument.fieldName</a:t>
            </a:r>
            <a:r>
              <a:rPr lang="en-US" sz="2400" i="1" dirty="0"/>
              <a:t>"  </a:t>
            </a:r>
            <a:r>
              <a:rPr lang="en-US" sz="2400" dirty="0"/>
              <a:t>(enclose in quotes)</a:t>
            </a:r>
            <a:endParaRPr lang="en-US" sz="2400" i="1" dirty="0"/>
          </a:p>
          <a:p>
            <a:pPr marL="457200" lvl="1" indent="0">
              <a:buNone/>
            </a:pPr>
            <a:r>
              <a:rPr lang="en-US" sz="2400" i="1" dirty="0"/>
              <a:t>	</a:t>
            </a:r>
            <a:r>
              <a:rPr lang="en-US" sz="2200" i="1" dirty="0"/>
              <a:t>"</a:t>
            </a:r>
            <a:r>
              <a:rPr lang="en-US" sz="2200" i="1" dirty="0" err="1"/>
              <a:t>pages.</a:t>
            </a:r>
            <a:r>
              <a:rPr lang="en-US" sz="2000" i="1" dirty="0" err="1"/>
              <a:t>currentPage</a:t>
            </a:r>
            <a:r>
              <a:rPr lang="en-US" sz="2200" i="1" dirty="0"/>
              <a:t>"  </a:t>
            </a:r>
            <a:r>
              <a:rPr lang="en-US" sz="2200" dirty="0"/>
              <a:t>specifies the </a:t>
            </a:r>
            <a:r>
              <a:rPr lang="en-US" sz="2000" i="1" dirty="0" err="1"/>
              <a:t>currentPage</a:t>
            </a:r>
            <a:r>
              <a:rPr lang="en-US" sz="2000" i="1" dirty="0"/>
              <a:t> </a:t>
            </a:r>
            <a:r>
              <a:rPr lang="en-US" sz="2200" dirty="0"/>
              <a:t>field value in </a:t>
            </a:r>
            <a:r>
              <a:rPr lang="en-US" sz="2200" i="1" dirty="0"/>
              <a:t>pages</a:t>
            </a:r>
            <a:r>
              <a:rPr lang="en-US" sz="2200" dirty="0"/>
              <a:t> </a:t>
            </a:r>
            <a:r>
              <a:rPr lang="en-US" sz="2200" dirty="0" err="1"/>
              <a:t>ellement</a:t>
            </a:r>
            <a:endParaRPr lang="en-US" sz="2200" dirty="0"/>
          </a:p>
          <a:p>
            <a:pPr marL="457200" lvl="1" indent="0">
              <a:buNone/>
            </a:pPr>
            <a:endParaRPr lang="en-US" sz="1600" i="1" dirty="0"/>
          </a:p>
          <a:p>
            <a:r>
              <a:rPr lang="en-US" sz="2400" dirty="0"/>
              <a:t>Will be discussed later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11560" y="6392863"/>
            <a:ext cx="7992888" cy="328612"/>
          </a:xfrm>
          <a:prstGeom prst="rect">
            <a:avLst/>
          </a:prstGeom>
        </p:spPr>
        <p:txBody>
          <a:bodyPr/>
          <a:lstStyle/>
          <a:p>
            <a:r>
              <a:rPr lang="en-US" sz="1200" dirty="0"/>
              <a:t>© Copyright SELA software &amp; Education Labs Ltd. 14-18 Baruch Hirsch </a:t>
            </a:r>
            <a:r>
              <a:rPr lang="en-US" sz="1200" dirty="0" err="1"/>
              <a:t>St.Bnei</a:t>
            </a:r>
            <a:r>
              <a:rPr lang="en-US" sz="1200" dirty="0"/>
              <a:t> </a:t>
            </a:r>
            <a:r>
              <a:rPr lang="en-US" sz="1200" dirty="0" err="1"/>
              <a:t>Brak</a:t>
            </a:r>
            <a:r>
              <a:rPr lang="en-US" sz="1200" dirty="0"/>
              <a:t> 51202 Israel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664575" y="6356350"/>
            <a:ext cx="479425" cy="365125"/>
          </a:xfrm>
          <a:prstGeom prst="rect">
            <a:avLst/>
          </a:prstGeom>
        </p:spPr>
        <p:txBody>
          <a:bodyPr/>
          <a:lstStyle/>
          <a:p>
            <a:fld id="{A8794525-BC30-4BC1-AEF1-2AC4F0B1817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01041"/>
      </p:ext>
    </p:extLst>
  </p:cSld>
  <p:clrMapOvr>
    <a:masterClrMapping/>
  </p:clrMapOvr>
</p:sld>
</file>

<file path=ppt/theme/theme1.xml><?xml version="1.0" encoding="utf-8"?>
<a:theme xmlns:a="http://schemas.openxmlformats.org/drawingml/2006/main" name="Sela_Template_Ver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room Template V8 7.1.14" id="{C390D62C-FD2A-4105-98BE-E88C1F565992}" vid="{BA10E712-5CE4-4A76-8C2D-233204200D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12BCB557AA5D448C5593FF71F2A488" ma:contentTypeVersion="20" ma:contentTypeDescription="Create a new document." ma:contentTypeScope="" ma:versionID="94eeca7f2e9e6f517c55398d5e9f5eed">
  <xsd:schema xmlns:xsd="http://www.w3.org/2001/XMLSchema" xmlns:xs="http://www.w3.org/2001/XMLSchema" xmlns:p="http://schemas.microsoft.com/office/2006/metadata/properties" xmlns:ns2="49dc0417-29c6-4bb5-ae98-f937f0a30532" xmlns:ns3="d58f348b-938b-40b8-8bae-5456f1a0ae9d" targetNamespace="http://schemas.microsoft.com/office/2006/metadata/properties" ma:root="true" ma:fieldsID="ce4dda86146abacb2ee65238c8c34327" ns2:_="" ns3:_="">
    <xsd:import namespace="49dc0417-29c6-4bb5-ae98-f937f0a30532"/>
    <xsd:import namespace="d58f348b-938b-40b8-8bae-5456f1a0ae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AAA" minOccurs="0"/>
                <xsd:element ref="ns2:lcf76f155ced4ddcb4097134ff3c332f" minOccurs="0"/>
                <xsd:element ref="ns3:TaxCatchAll" minOccurs="0"/>
                <xsd:element ref="ns2:Hyperlink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c0417-29c6-4bb5-ae98-f937f0a305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AAA" ma:index="21" nillable="true" ma:displayName="AAA" ma:format="DateOnly" ma:internalName="AAA">
      <xsd:simpleType>
        <xsd:restriction base="dms:DateTim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23256489-8307-4614-a501-3741224748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Hyperlink" ma:index="25" nillable="true" ma:displayName="Hyperlink" ma:format="Hyperlink" ma:internalName="Hyper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8f348b-938b-40b8-8bae-5456f1a0ae9d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92e702-67e0-4df4-9ad4-8876b702b22c}" ma:internalName="TaxCatchAll" ma:showField="CatchAllData" ma:web="d58f348b-938b-40b8-8bae-5456f1a0ae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AA xmlns="49dc0417-29c6-4bb5-ae98-f937f0a30532" xsi:nil="true"/>
    <TaxCatchAll xmlns="d58f348b-938b-40b8-8bae-5456f1a0ae9d" xsi:nil="true"/>
    <lcf76f155ced4ddcb4097134ff3c332f xmlns="49dc0417-29c6-4bb5-ae98-f937f0a30532">
      <Terms xmlns="http://schemas.microsoft.com/office/infopath/2007/PartnerControls"/>
    </lcf76f155ced4ddcb4097134ff3c332f>
    <Hyperlink xmlns="49dc0417-29c6-4bb5-ae98-f937f0a30532">
      <Url xsi:nil="true"/>
      <Description xsi:nil="true"/>
    </Hyperlink>
  </documentManagement>
</p:properties>
</file>

<file path=customXml/itemProps1.xml><?xml version="1.0" encoding="utf-8"?>
<ds:datastoreItem xmlns:ds="http://schemas.openxmlformats.org/officeDocument/2006/customXml" ds:itemID="{FD7A9554-50F3-4230-A619-0ACA72C26D5D}"/>
</file>

<file path=customXml/itemProps2.xml><?xml version="1.0" encoding="utf-8"?>
<ds:datastoreItem xmlns:ds="http://schemas.openxmlformats.org/officeDocument/2006/customXml" ds:itemID="{847647AF-FEFB-49F3-8CF9-EC8B217D8BEC}"/>
</file>

<file path=customXml/itemProps3.xml><?xml version="1.0" encoding="utf-8"?>
<ds:datastoreItem xmlns:ds="http://schemas.openxmlformats.org/officeDocument/2006/customXml" ds:itemID="{C8928614-C0CD-4EC2-B10A-B25A1546F531}"/>
</file>

<file path=docProps/app.xml><?xml version="1.0" encoding="utf-8"?>
<Properties xmlns="http://schemas.openxmlformats.org/officeDocument/2006/extended-properties" xmlns:vt="http://schemas.openxmlformats.org/officeDocument/2006/docPropsVTypes">
  <Template>Classroom Template V8 7.1.14</Template>
  <TotalTime>28038</TotalTime>
  <Words>471</Words>
  <Application>Microsoft Office PowerPoint</Application>
  <PresentationFormat>On-screen Show (4:3)</PresentationFormat>
  <Paragraphs>120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Consolas</vt:lpstr>
      <vt:lpstr>Courier New</vt:lpstr>
      <vt:lpstr>Segoe</vt:lpstr>
      <vt:lpstr>Segoe Light</vt:lpstr>
      <vt:lpstr>Segoe UI</vt:lpstr>
      <vt:lpstr>Sela_Template_Ver_01</vt:lpstr>
      <vt:lpstr>MongoDB for Developers   </vt:lpstr>
      <vt:lpstr>MongoDB collections and databases </vt:lpstr>
      <vt:lpstr>MongoDB databases - mongo shell</vt:lpstr>
      <vt:lpstr>MongoDB databases - mongo shell – cont’d</vt:lpstr>
      <vt:lpstr>MongoDB databases - python</vt:lpstr>
      <vt:lpstr>MongoDB collections - Create a Collection</vt:lpstr>
      <vt:lpstr>MongoDB - documents</vt:lpstr>
      <vt:lpstr>MongoDB - documents</vt:lpstr>
      <vt:lpstr>BSON types</vt:lpstr>
      <vt:lpstr>BSON document example</vt:lpstr>
      <vt:lpstr>Access sub-data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Concepts</dc:title>
  <dc:creator>Gal Tfilin</dc:creator>
  <cp:lastModifiedBy>Netanel</cp:lastModifiedBy>
  <cp:revision>264</cp:revision>
  <dcterms:created xsi:type="dcterms:W3CDTF">2013-03-18T14:49:18Z</dcterms:created>
  <dcterms:modified xsi:type="dcterms:W3CDTF">2018-06-13T19:37:12Z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0x0101000612BCB557AA5D448C5593FF71F2A488</vt:lpwstr>
  </property>
</Properties>
</file>