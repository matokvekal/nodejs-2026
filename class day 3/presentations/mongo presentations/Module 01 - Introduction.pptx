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4"/>
  </p:notesMasterIdLst>
  <p:sldIdLst>
    <p:sldId id="256" r:id="rId2"/>
    <p:sldId id="269" r:id="rId3"/>
    <p:sldId id="268" r:id="rId4"/>
    <p:sldId id="257" r:id="rId5"/>
    <p:sldId id="271" r:id="rId6"/>
    <p:sldId id="270" r:id="rId7"/>
    <p:sldId id="273" r:id="rId8"/>
    <p:sldId id="275" r:id="rId9"/>
    <p:sldId id="274" r:id="rId10"/>
    <p:sldId id="276" r:id="rId11"/>
    <p:sldId id="277" r:id="rId12"/>
    <p:sldId id="298" r:id="rId13"/>
  </p:sldIdLst>
  <p:sldSz cx="12192000" cy="6858000"/>
  <p:notesSz cx="6858000" cy="9144000"/>
  <p:embeddedFontLst>
    <p:embeddedFont>
      <p:font typeface="Segoe Light" panose="020B0604020202020204" charset="0"/>
      <p:regular r:id="rId15"/>
      <p:italic r:id="rId16"/>
    </p:embeddedFont>
    <p:embeddedFont>
      <p:font typeface="Segoe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Quattrocento Sans" panose="020B0604020202020204" charset="0"/>
      <p:bold r:id="rId25"/>
      <p:italic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D3235AE6-15F8-46D2-A07B-7901452A5957}">
  <a:tblStyle styleId="{D3235AE6-15F8-46D2-A07B-7901452A59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1V>
      <a:tcStyle>
        <a:tcBdr/>
        <a:fill>
          <a:solidFill>
            <a:srgbClr val="CFD7E7"/>
          </a:solidFill>
        </a:fill>
      </a:tcStyle>
    </a:band1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50" autoAdjust="0"/>
    <p:restoredTop sz="61273" autoAdjust="0"/>
  </p:normalViewPr>
  <p:slideViewPr>
    <p:cSldViewPr snapToGrid="0">
      <p:cViewPr varScale="1">
        <p:scale>
          <a:sx n="41" d="100"/>
          <a:sy n="41" d="100"/>
        </p:scale>
        <p:origin x="1108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ableStyles" Target="tableStyle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01243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Document – stored as free-form JSON or “documents” </a:t>
            </a:r>
            <a:r>
              <a:rPr lang="en-US" dirty="0" err="1"/>
              <a:t>e.g</a:t>
            </a:r>
            <a:r>
              <a:rPr lang="en-US" dirty="0"/>
              <a:t>: MongoDB, </a:t>
            </a:r>
            <a:r>
              <a:rPr lang="en-US" dirty="0" err="1"/>
              <a:t>CouchDB</a:t>
            </a:r>
            <a:endParaRPr lang="en-US" dirty="0"/>
          </a:p>
          <a:p>
            <a:r>
              <a:rPr lang="en-US" dirty="0"/>
              <a:t> Key value – distributed dictionary (or Hash table), accessed by the key. </a:t>
            </a:r>
            <a:r>
              <a:rPr lang="en-US" dirty="0" err="1"/>
              <a:t>e.g</a:t>
            </a:r>
            <a:r>
              <a:rPr lang="en-US" dirty="0"/>
              <a:t>: Redis, </a:t>
            </a:r>
            <a:r>
              <a:rPr lang="en-US" dirty="0" err="1"/>
              <a:t>Riak</a:t>
            </a:r>
            <a:endParaRPr lang="en-US" dirty="0"/>
          </a:p>
          <a:p>
            <a:r>
              <a:rPr lang="en-US" dirty="0"/>
              <a:t> Wide column – stored in columns instead of rows(as in RDBMS) </a:t>
            </a:r>
            <a:r>
              <a:rPr lang="en-US" dirty="0" err="1"/>
              <a:t>e.g</a:t>
            </a:r>
            <a:r>
              <a:rPr lang="en-US" dirty="0"/>
              <a:t>: </a:t>
            </a:r>
            <a:r>
              <a:rPr lang="en-US" dirty="0" err="1"/>
              <a:t>Hbase</a:t>
            </a:r>
            <a:r>
              <a:rPr lang="en-US" dirty="0"/>
              <a:t>, Cassandra</a:t>
            </a:r>
          </a:p>
          <a:p>
            <a:r>
              <a:rPr lang="en-US" dirty="0"/>
              <a:t> Graph – represented as graph of entities and their relationships, each node contains a free-form of data </a:t>
            </a:r>
            <a:r>
              <a:rPr lang="en-US" dirty="0" err="1"/>
              <a:t>e.g</a:t>
            </a:r>
            <a:r>
              <a:rPr lang="en-US" dirty="0"/>
              <a:t>: Neo4j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791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Scaling Types:</a:t>
            </a:r>
          </a:p>
          <a:p>
            <a:pPr lvl="1"/>
            <a:r>
              <a:rPr lang="en-US" i="0" dirty="0"/>
              <a:t> Horizontally – adding more cheap commodity servers</a:t>
            </a:r>
          </a:p>
          <a:p>
            <a:pPr lvl="1"/>
            <a:r>
              <a:rPr lang="en-US" i="0" dirty="0"/>
              <a:t> Vertically –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increasing the current server hardware power ,or need to buy expensive and bigger server</a:t>
            </a:r>
          </a:p>
          <a:p>
            <a:pPr lvl="0"/>
            <a:r>
              <a:rPr lang="en-US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Detailed </a:t>
            </a:r>
            <a:r>
              <a:rPr lang="en-US" dirty="0"/>
              <a:t>database model – like the entity-relationship model which defines the entities and their relations in a RDBMS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7894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High availability -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characteristic of a system, which aims to ensure an agreed level of operational performance, usually uptime, for a higher than normal period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High performance – ensures read/write </a:t>
            </a:r>
            <a:r>
              <a:rPr lang="en-US" sz="1200" b="1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faster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than usual DB systems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dirty="0"/>
              <a:t>Horizontal scalability -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provides it by using shards to distribute the data across the cluster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sz="1200" b="0" i="0" u="none" strike="noStrike" kern="1200" cap="none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The </a:t>
            </a:r>
            <a:r>
              <a:rPr lang="en-US" sz="1200" b="1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C</a:t>
            </a:r>
            <a:r>
              <a:rPr lang="en-US" sz="1200" b="1" i="0" u="none" strike="noStrike" kern="1200" cap="none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ommunity </a:t>
            </a:r>
            <a:r>
              <a:rPr lang="en-US" sz="1200" b="1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edition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has no limitations in the aspects of memory or storage size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Some of the common </a:t>
            </a:r>
            <a:r>
              <a:rPr lang="en-US" sz="1200" b="1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Enterprise edition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features: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Kerberos and LDAP security solutions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Backup and Monitoring solution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lang="en-US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Support and training contract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Embedded docs – object or docs within another docs. It reduces I/O because otherwise you need to separate the doc to another collection(addresses), and when you want to search, or write you need to do two requests to Mongo instead of 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5110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JSON -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data structure composed of field and value pairs, key is string, and value can be anything(String, number, Array, document, Array of documents etc.)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BSON -  extension of JSON including support of data types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Expensive joins – because the data is denormalized, there is no separate relations,  we basically don’t need joins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Polymorphic type – has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properties that can also be applied to values of some other type, or types (example in the picture above)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317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$lookup – aggregation operator that performs left outer join to an 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unsharded collection in the </a:t>
            </a:r>
            <a:r>
              <a:rPr lang="en-US" sz="1200" b="0" i="1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database</a:t>
            </a:r>
          </a:p>
          <a:p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cs typeface="Calibri"/>
                <a:sym typeface="Calibri"/>
              </a:rPr>
              <a:t> </a:t>
            </a:r>
            <a:r>
              <a:rPr lang="en-US" sz="1200" dirty="0"/>
              <a:t>embedded documents – at least one document that resides inside another document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3255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Baidu – one of the largest internet companies in the world(more common in China)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7281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i="1" dirty="0"/>
              <a:t>Apteligent – </a:t>
            </a:r>
            <a:r>
              <a:rPr lang="en-US" i="0" u="none" dirty="0"/>
              <a:t>analyze app crashes, performance over versions, users flows, users actions and more insights for mobile apps. Used by eBay, Netflix, Snapchat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1238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There is a lot of configurations, you can see them by execute mongod.exe ---help</a:t>
            </a:r>
          </a:p>
          <a:p>
            <a:r>
              <a:rPr lang="en-US" dirty="0"/>
              <a:t> You can choose other data directory, pay attention to change the -–dbpath as well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5482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Compass available as commercial or community product. The community edition enables you to:</a:t>
            </a:r>
          </a:p>
          <a:p>
            <a:pPr marL="628650" lvl="1" indent="-171450"/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View, add, and delete databases and collections</a:t>
            </a:r>
          </a:p>
          <a:p>
            <a:pPr marL="628650" lvl="1" indent="-171450"/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Full CRUD functionality over the documents</a:t>
            </a:r>
          </a:p>
          <a:p>
            <a:pPr marL="628650" lvl="1" indent="-171450"/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Run queries, and view the documents</a:t>
            </a:r>
          </a:p>
          <a:p>
            <a:pPr marL="628650" lvl="1" indent="-171450"/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Optimize queries with visual explain plans</a:t>
            </a:r>
          </a:p>
          <a:p>
            <a:pPr marL="628650" lvl="1" indent="-171450"/>
            <a:r>
              <a:rPr lang="en-US" sz="1200" b="0" i="0" u="none" strike="noStrike" kern="1200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View stats, create, and delete indexes</a:t>
            </a:r>
          </a:p>
          <a:p>
            <a:pPr marL="171450" lvl="0" indent="-171450"/>
            <a:r>
              <a:rPr lang="en-US" dirty="0"/>
              <a:t>After you’ve installed MongoDB, you can start the shell from the &lt;INSTALLED_PATH&gt;\bin\mongo.exe</a:t>
            </a:r>
          </a:p>
          <a:p>
            <a:pPr marL="171450" lvl="0" indent="-171450"/>
            <a:r>
              <a:rPr lang="en-US" dirty="0"/>
              <a:t>The full list of drivers: https://docs.mongodb.com/ecosystem/drivers/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49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049" y="1340768"/>
            <a:ext cx="9850763" cy="1085850"/>
          </a:xfrm>
        </p:spPr>
        <p:txBody>
          <a:bodyPr vert="horz" lIns="0" tIns="45720" rIns="91440" bIns="45720" rtlCol="0" anchor="t" anchorCtr="0">
            <a:normAutofit/>
          </a:bodyPr>
          <a:lstStyle>
            <a:lvl1pPr>
              <a:defRPr lang="en-US" sz="3200" dirty="0">
                <a:ln w="3175">
                  <a:noFill/>
                </a:ln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74050" y="6362070"/>
            <a:ext cx="10506527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Copyright © SELA Software &amp; Education Labs, Ltd. | 14-18 Baruch Hirsch St.,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Bnei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Brak</a:t>
            </a:r>
            <a:r>
              <a:rPr lang="en-US"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51202, Israel | www.selagroup.com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Segoe" panose="020B05020405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50" y="534798"/>
            <a:ext cx="3509932" cy="48390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74701" y="2427289"/>
            <a:ext cx="9850967" cy="13620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89636"/>
                </a:solidFill>
              </a:defRPr>
            </a:lvl1pPr>
            <a:lvl2pPr marL="457200" indent="0" algn="l" rtl="0">
              <a:buFontTx/>
              <a:buNone/>
              <a:defRPr/>
            </a:lvl2pPr>
            <a:lvl3pPr marL="914400" indent="0" algn="l" rtl="0">
              <a:buFontTx/>
              <a:buNone/>
              <a:defRPr/>
            </a:lvl3pPr>
            <a:lvl4pPr marL="1371600" indent="0" algn="l" rtl="0">
              <a:buFontTx/>
              <a:buNone/>
              <a:defRPr/>
            </a:lvl4pPr>
            <a:lvl5pPr marL="1828800" indent="0" algn="l" rtl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1385329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789">
          <p15:clr>
            <a:srgbClr val="FBAE40"/>
          </p15:clr>
        </p15:guide>
        <p15:guide id="2" pos="6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55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pic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413" y="548680"/>
            <a:ext cx="10657184" cy="720000"/>
          </a:xfrm>
        </p:spPr>
        <p:txBody>
          <a:bodyPr vert="horz" lIns="0" tIns="0" rIns="91440" bIns="45720" rtlCol="0" anchor="b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413" y="1492161"/>
            <a:ext cx="10657184" cy="4648200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923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17" y="1124745"/>
            <a:ext cx="5510328" cy="444361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3" name="TextBox 12"/>
          <p:cNvSpPr txBox="1"/>
          <p:nvPr/>
        </p:nvSpPr>
        <p:spPr>
          <a:xfrm>
            <a:off x="1967541" y="2492896"/>
            <a:ext cx="34708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3702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214" y="2420889"/>
            <a:ext cx="4934263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2" name="TextBox 11"/>
          <p:cNvSpPr txBox="1"/>
          <p:nvPr/>
        </p:nvSpPr>
        <p:spPr>
          <a:xfrm>
            <a:off x="1967542" y="2492896"/>
            <a:ext cx="21259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5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214" y="2420889"/>
            <a:ext cx="4934263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1" name="TextBox 10"/>
          <p:cNvSpPr txBox="1"/>
          <p:nvPr/>
        </p:nvSpPr>
        <p:spPr>
          <a:xfrm>
            <a:off x="2063552" y="2492896"/>
            <a:ext cx="3934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Conclusion </a:t>
            </a:r>
          </a:p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0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03446" y="2492896"/>
            <a:ext cx="49231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Final</a:t>
            </a:r>
            <a:r>
              <a:rPr lang="en-US" sz="10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 </a:t>
            </a:r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214" y="2420889"/>
            <a:ext cx="4934263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1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03574" y="1492161"/>
            <a:ext cx="10668420" cy="4659258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8381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15413" y="1494000"/>
            <a:ext cx="10656920" cy="22860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03574" y="3873732"/>
            <a:ext cx="10668420" cy="2277687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491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15413" y="1494000"/>
            <a:ext cx="10656920" cy="1502952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03574" y="3140969"/>
            <a:ext cx="10668420" cy="3010450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9649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15413" y="1494177"/>
            <a:ext cx="10673019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815413" y="2630517"/>
            <a:ext cx="10684536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815016" y="3835374"/>
            <a:ext cx="10684933" cy="107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kern="1200" baseline="0" dirty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342900" indent="-342900">
              <a:defRPr/>
            </a:lvl2pPr>
            <a:lvl3pPr marL="342900" indent="-342900">
              <a:defRPr/>
            </a:lvl3pPr>
            <a:lvl4pPr marL="342900" indent="-342900">
              <a:defRPr/>
            </a:lvl4pPr>
            <a:lvl5pPr marL="342900" indent="-34290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815016" y="4973960"/>
            <a:ext cx="10684933" cy="111918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/>
          <a:lstStyle>
            <a:lvl1pPr marL="0" indent="0"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62537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71531" y="2492896"/>
            <a:ext cx="55451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Questions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947" y="1988841"/>
            <a:ext cx="2043387" cy="2844235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37943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5413" y="1492162"/>
            <a:ext cx="1065692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136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5413" y="1492162"/>
            <a:ext cx="1065692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074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9840416" y="2348344"/>
            <a:ext cx="2207355" cy="390005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15888" indent="-115888" algn="l" rtl="0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815413" y="1524000"/>
            <a:ext cx="8737600" cy="4724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>
              <a:buFontTx/>
              <a:buBlip>
                <a:blip r:embed="rId2"/>
              </a:buBlip>
              <a:defRPr/>
            </a:lvl1pPr>
            <a:lvl2pPr marL="742950" indent="-285750" algn="l" rtl="0">
              <a:buFontTx/>
              <a:buBlip>
                <a:blip r:embed="rId2"/>
              </a:buBlip>
              <a:defRPr/>
            </a:lvl2pPr>
            <a:lvl3pPr marL="1143000" indent="-228600" algn="l" rtl="0">
              <a:buFontTx/>
              <a:buBlip>
                <a:blip r:embed="rId2"/>
              </a:buBlip>
              <a:defRPr/>
            </a:lvl3pPr>
            <a:lvl4pPr marL="1600200" indent="-228600" algn="l" rtl="0">
              <a:buFontTx/>
              <a:buBlip>
                <a:blip r:embed="rId2"/>
              </a:buBlip>
              <a:defRPr/>
            </a:lvl4pPr>
            <a:lvl5pPr marL="2057400" indent="-228600" algn="l" rtl="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9589" y="1524001"/>
            <a:ext cx="1301552" cy="615553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  <p:txBody>
          <a:bodyPr vert="horz" wrap="square" lIns="0" tIns="0" rIns="0" bIns="0" rtlCol="0" anchor="t" anchorCtr="0">
            <a:spAutoFit/>
          </a:bodyPr>
          <a:lstStyle>
            <a:lvl1pPr>
              <a:spcBef>
                <a:spcPct val="0"/>
              </a:spcBef>
              <a:buNone/>
              <a:defRPr lang="en-US" sz="4000" b="0" dirty="0" smtClean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anose="020B0502040504020203" pitchFamily="34" charset="0"/>
                <a:cs typeface="Consolas" panose="020B0609020204030204" pitchFamily="49" charset="0"/>
              </a:rPr>
              <a:t>tips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787" y="1414674"/>
            <a:ext cx="1250813" cy="938110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tips title</a:t>
            </a:r>
          </a:p>
        </p:txBody>
      </p:sp>
    </p:spTree>
    <p:extLst>
      <p:ext uri="{BB962C8B-B14F-4D97-AF65-F5344CB8AC3E}">
        <p14:creationId xmlns:p14="http://schemas.microsoft.com/office/powerpoint/2010/main" val="22694690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815414" y="548680"/>
            <a:ext cx="10561173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22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ctrTitle"/>
          </p:nvPr>
        </p:nvSpPr>
        <p:spPr>
          <a:xfrm>
            <a:off x="774049" y="1340767"/>
            <a:ext cx="9850763" cy="10858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F08E1B"/>
              </a:buClr>
              <a:buFont typeface="Quattrocento Sans"/>
              <a:buNone/>
              <a:defRPr sz="3200" b="0" i="0" u="none" strike="noStrike" cap="none">
                <a:solidFill>
                  <a:srgbClr val="F08E1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774700" y="2427289"/>
            <a:ext cx="9850966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9636"/>
              </a:buClr>
              <a:buFont typeface="Arial"/>
              <a:buChar char="●"/>
              <a:defRPr sz="2800" b="0" i="0" u="none" strike="noStrike" cap="none">
                <a:solidFill>
                  <a:srgbClr val="E8963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480"/>
              </a:spcBef>
              <a:buClr>
                <a:schemeClr val="dk1"/>
              </a:buClr>
              <a:buFont typeface="Arial"/>
              <a:buChar char="○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00"/>
              </a:spcBef>
              <a:buClr>
                <a:schemeClr val="dk1"/>
              </a:buClr>
              <a:buFont typeface="Arial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60"/>
              </a:spcBef>
              <a:buClr>
                <a:schemeClr val="dk1"/>
              </a:buClr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60"/>
              </a:spcBef>
              <a:buClr>
                <a:schemeClr val="dk1"/>
              </a:buClr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r" rtl="1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37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5414" y="476673"/>
            <a:ext cx="11232357" cy="1015489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 anchorCtr="0">
            <a:normAutofit/>
          </a:bodyPr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814917" y="6309320"/>
            <a:ext cx="10602539" cy="157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80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hf sldNum="0" hdr="0" ftr="0" dt="0"/>
  <p:txStyles>
    <p:titleStyle>
      <a:lvl1pPr algn="l" defTabSz="914400" rtl="1" eaLnBrk="1" latinLnBrk="0" hangingPunct="1">
        <a:spcBef>
          <a:spcPct val="0"/>
        </a:spcBef>
        <a:buNone/>
        <a:defRPr lang="en-US" sz="4000" b="0" kern="1200" dirty="0" smtClean="0">
          <a:ln w="3175">
            <a:noFill/>
          </a:ln>
          <a:solidFill>
            <a:srgbClr val="F08E1B"/>
          </a:solidFill>
          <a:effectLst/>
          <a:latin typeface="Segoe Light" panose="020B0302040504020203" pitchFamily="34" charset="0"/>
          <a:ea typeface="+mn-ea"/>
          <a:cs typeface="Segoe UI" panose="020B0502040204020203" pitchFamily="34" charset="0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064">
          <p15:clr>
            <a:srgbClr val="F26B43"/>
          </p15:clr>
        </p15:guide>
        <p15:guide id="3" pos="54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t589Y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F08E1B"/>
              </a:buClr>
              <a:buSzPct val="25000"/>
              <a:buFont typeface="Quattrocento Sans"/>
              <a:buNone/>
            </a:pPr>
            <a:r>
              <a:rPr lang="en-US" sz="4000" dirty="0"/>
              <a:t>MongoDB for Developers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01 - Introduction</a:t>
            </a:r>
            <a:endParaRPr lang="he-IL" dirty="0"/>
          </a:p>
        </p:txBody>
      </p:sp>
      <p:pic>
        <p:nvPicPr>
          <p:cNvPr id="1026" name="Picture 2" descr="Image result for mongodb">
            <a:extLst>
              <a:ext uri="{FF2B5EF4-FFF2-40B4-BE49-F238E27FC236}">
                <a16:creationId xmlns:a16="http://schemas.microsoft.com/office/drawing/2014/main" id="{E3BB25C4-0C3C-4D25-85E4-802D19B2A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75" y="3020383"/>
            <a:ext cx="5902551" cy="255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962B-6A4F-421C-B579-C4BB941B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SQL Datastores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5A5B7-4C37-449E-A222-6E8C88CD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and manage data in ways that allow for high operational speed and great flexibility</a:t>
            </a:r>
          </a:p>
          <a:p>
            <a:endParaRPr lang="en-US" dirty="0"/>
          </a:p>
          <a:p>
            <a:r>
              <a:rPr lang="en-US" dirty="0"/>
              <a:t>Common No SQL models:</a:t>
            </a:r>
          </a:p>
          <a:p>
            <a:pPr lvl="1"/>
            <a:r>
              <a:rPr lang="en-US" dirty="0"/>
              <a:t>Document databases</a:t>
            </a:r>
          </a:p>
          <a:p>
            <a:pPr lvl="1"/>
            <a:r>
              <a:rPr lang="en-US" dirty="0"/>
              <a:t>Key-value stores</a:t>
            </a:r>
          </a:p>
          <a:p>
            <a:pPr lvl="1"/>
            <a:r>
              <a:rPr lang="en-US" dirty="0"/>
              <a:t>Wide column stores</a:t>
            </a:r>
          </a:p>
          <a:p>
            <a:pPr lvl="1"/>
            <a:r>
              <a:rPr lang="en-US" dirty="0"/>
              <a:t>Graph databases</a:t>
            </a:r>
          </a:p>
        </p:txBody>
      </p:sp>
    </p:spTree>
    <p:extLst>
      <p:ext uri="{BB962C8B-B14F-4D97-AF65-F5344CB8AC3E}">
        <p14:creationId xmlns:p14="http://schemas.microsoft.com/office/powerpoint/2010/main" val="68826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345C-B300-42A3-9A36-844233F8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vs RDBMS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BA2E6-C2A8-402E-AA7F-C0EEAA8D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required to define schema first, which makes it much easier to update as your data and requirements change</a:t>
            </a:r>
          </a:p>
          <a:p>
            <a:r>
              <a:rPr lang="en-US" dirty="0"/>
              <a:t>Designed to handle </a:t>
            </a:r>
            <a:r>
              <a:rPr lang="en-US" b="1" dirty="0"/>
              <a:t>unstructured</a:t>
            </a:r>
            <a:r>
              <a:rPr lang="en-US" dirty="0"/>
              <a:t> data like text, video social media posts etc.</a:t>
            </a:r>
          </a:p>
          <a:p>
            <a:r>
              <a:rPr lang="en-US" dirty="0"/>
              <a:t>NoSQL scale </a:t>
            </a:r>
            <a:r>
              <a:rPr lang="en-US" i="1" dirty="0"/>
              <a:t>horizontally</a:t>
            </a:r>
            <a:r>
              <a:rPr lang="en-US" dirty="0"/>
              <a:t> which considered more chipper than scaling </a:t>
            </a:r>
            <a:r>
              <a:rPr lang="en-US" i="1" dirty="0"/>
              <a:t>vertically</a:t>
            </a:r>
          </a:p>
          <a:p>
            <a:r>
              <a:rPr lang="en-US" dirty="0"/>
              <a:t>No need to develop a detailed database model, which saves a lot of development time</a:t>
            </a:r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4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n-US" dirty="0"/>
              <a:t>Introduction to MongoDB</a:t>
            </a:r>
          </a:p>
        </p:txBody>
      </p:sp>
      <p:sp>
        <p:nvSpPr>
          <p:cNvPr id="83" name="Shape 8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95300" indent="-457200">
              <a:spcBef>
                <a:spcPts val="0"/>
              </a:spcBef>
            </a:pPr>
            <a:r>
              <a:rPr lang="en-US" dirty="0"/>
              <a:t>Open-source, No SQL, </a:t>
            </a:r>
            <a:r>
              <a:rPr lang="en-US" b="1" dirty="0"/>
              <a:t>document DB</a:t>
            </a:r>
            <a:r>
              <a:rPr lang="en-US" dirty="0"/>
              <a:t> that provides high availability, high performance and horizontal scalability</a:t>
            </a:r>
          </a:p>
          <a:p>
            <a:pPr marL="38100" indent="0">
              <a:spcBef>
                <a:spcPts val="0"/>
              </a:spcBef>
              <a:buNone/>
            </a:pPr>
            <a:endParaRPr lang="en-US" dirty="0"/>
          </a:p>
          <a:p>
            <a:pPr marL="495300" indent="-457200">
              <a:spcBef>
                <a:spcPts val="0"/>
              </a:spcBef>
            </a:pPr>
            <a:r>
              <a:rPr lang="en-US" dirty="0"/>
              <a:t>Written in C++</a:t>
            </a:r>
          </a:p>
          <a:p>
            <a:pPr marL="495300" indent="-457200">
              <a:spcBef>
                <a:spcPts val="0"/>
              </a:spcBef>
            </a:pPr>
            <a:endParaRPr lang="en-US" dirty="0"/>
          </a:p>
          <a:p>
            <a:pPr marL="495300" indent="-457200">
              <a:spcBef>
                <a:spcPts val="0"/>
              </a:spcBef>
            </a:pPr>
            <a:r>
              <a:rPr lang="en-US" dirty="0"/>
              <a:t>Ranked as the </a:t>
            </a:r>
            <a:r>
              <a:rPr lang="en-US" b="1" dirty="0"/>
              <a:t>most popular</a:t>
            </a:r>
            <a:r>
              <a:rPr lang="en-US" dirty="0"/>
              <a:t> document </a:t>
            </a:r>
          </a:p>
          <a:p>
            <a:pPr marL="38100" indent="0">
              <a:spcBef>
                <a:spcPts val="0"/>
              </a:spcBef>
              <a:buNone/>
            </a:pPr>
            <a:r>
              <a:rPr lang="en-US" dirty="0"/>
              <a:t>     database(DB-Engine)</a:t>
            </a:r>
          </a:p>
          <a:p>
            <a:pPr marL="495300" indent="-457200">
              <a:spcBef>
                <a:spcPts val="0"/>
              </a:spcBef>
            </a:pPr>
            <a:endParaRPr lang="en-US" dirty="0"/>
          </a:p>
          <a:p>
            <a:pPr marL="457200" lvl="0" indent="-419100" rtl="0">
              <a:spcBef>
                <a:spcPts val="0"/>
              </a:spcBef>
              <a:buSzPct val="100000"/>
            </a:pPr>
            <a:endParaRPr lang="en-US" sz="3000" dirty="0"/>
          </a:p>
          <a:p>
            <a:pPr marL="457200" lvl="0" indent="-419100" rtl="0">
              <a:spcBef>
                <a:spcPts val="0"/>
              </a:spcBef>
              <a:buSzPct val="100000"/>
            </a:pPr>
            <a:endParaRPr lang="en-US" sz="3000" dirty="0"/>
          </a:p>
          <a:p>
            <a:pPr marL="0" lvl="0" indent="0" rtl="0">
              <a:spcBef>
                <a:spcPts val="518"/>
              </a:spcBef>
              <a:buNone/>
            </a:pPr>
            <a:endParaRPr sz="3000" dirty="0"/>
          </a:p>
          <a:p>
            <a:pPr marL="0" lvl="0" indent="0" rtl="0">
              <a:spcBef>
                <a:spcPts val="0"/>
              </a:spcBef>
              <a:buNone/>
            </a:pPr>
            <a:endParaRPr sz="3000" dirty="0"/>
          </a:p>
          <a:p>
            <a:pPr marL="0" lvl="0" indent="0" rtl="0">
              <a:spcBef>
                <a:spcPts val="0"/>
              </a:spcBef>
              <a:buNone/>
            </a:pPr>
            <a:endParaRPr sz="259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8368E-6864-4082-BBC3-AB5EE20B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245" y="2923222"/>
            <a:ext cx="340995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5BDB-940C-4E67-BAB4-95979B97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MongoDB – 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EEDDD-A11A-4E5D-A71F-3BA0AA2E5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performance</a:t>
            </a:r>
          </a:p>
          <a:p>
            <a:pPr lvl="1"/>
            <a:r>
              <a:rPr lang="en-US" dirty="0"/>
              <a:t> Embedded data models reduces I/O operations</a:t>
            </a:r>
          </a:p>
          <a:p>
            <a:pPr lvl="1"/>
            <a:r>
              <a:rPr lang="en-US" dirty="0"/>
              <a:t> Indexes for faster queries</a:t>
            </a:r>
          </a:p>
          <a:p>
            <a:r>
              <a:rPr lang="en-US" dirty="0"/>
              <a:t>Advanced query language features</a:t>
            </a:r>
          </a:p>
          <a:p>
            <a:pPr lvl="1"/>
            <a:r>
              <a:rPr lang="en-US" dirty="0"/>
              <a:t> Aggregations</a:t>
            </a:r>
          </a:p>
          <a:p>
            <a:pPr lvl="1"/>
            <a:r>
              <a:rPr lang="en-US" dirty="0"/>
              <a:t> Text searches and Geospatial</a:t>
            </a:r>
          </a:p>
          <a:p>
            <a:r>
              <a:rPr lang="en-US" dirty="0"/>
              <a:t>High availability</a:t>
            </a:r>
          </a:p>
          <a:p>
            <a:pPr lvl="1"/>
            <a:r>
              <a:rPr lang="en-US" dirty="0"/>
              <a:t> Automatic failover</a:t>
            </a:r>
          </a:p>
          <a:p>
            <a:pPr lvl="1"/>
            <a:r>
              <a:rPr lang="en-US" dirty="0"/>
              <a:t> Data redundancy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53742-59DC-4A61-8FBD-16F756371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2424772"/>
            <a:ext cx="4443147" cy="383535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49191F-6B08-4398-B539-1C292AEC0EAF}"/>
              </a:ext>
            </a:extLst>
          </p:cNvPr>
          <p:cNvCxnSpPr>
            <a:cxnSpLocks/>
          </p:cNvCxnSpPr>
          <p:nvPr/>
        </p:nvCxnSpPr>
        <p:spPr>
          <a:xfrm>
            <a:off x="8183880" y="4206240"/>
            <a:ext cx="674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E96C01-E887-4A4B-ADAE-CFFB190D49CE}"/>
              </a:ext>
            </a:extLst>
          </p:cNvPr>
          <p:cNvCxnSpPr>
            <a:cxnSpLocks/>
          </p:cNvCxnSpPr>
          <p:nvPr/>
        </p:nvCxnSpPr>
        <p:spPr>
          <a:xfrm>
            <a:off x="8183880" y="5535930"/>
            <a:ext cx="674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21E950B-6BDF-477C-AC38-DEEBC40B80C1}"/>
              </a:ext>
            </a:extLst>
          </p:cNvPr>
          <p:cNvSpPr txBox="1"/>
          <p:nvPr/>
        </p:nvSpPr>
        <p:spPr>
          <a:xfrm>
            <a:off x="7167563" y="4052351"/>
            <a:ext cx="1223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embedded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7B41F9-6DDB-4D94-A149-7940D163A3A2}"/>
              </a:ext>
            </a:extLst>
          </p:cNvPr>
          <p:cNvSpPr txBox="1"/>
          <p:nvPr/>
        </p:nvSpPr>
        <p:spPr>
          <a:xfrm>
            <a:off x="7167563" y="5363933"/>
            <a:ext cx="1223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embedded</a:t>
            </a:r>
          </a:p>
        </p:txBody>
      </p:sp>
    </p:spTree>
    <p:extLst>
      <p:ext uri="{BB962C8B-B14F-4D97-AF65-F5344CB8AC3E}">
        <p14:creationId xmlns:p14="http://schemas.microsoft.com/office/powerpoint/2010/main" val="187480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2D93-12D1-4F0C-BAA5-C9F4150B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MongoDB - Document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D75AD-327D-4583-8F70-00821116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Each record </a:t>
            </a:r>
            <a:r>
              <a:rPr lang="en-US" b="1" dirty="0"/>
              <a:t>stored</a:t>
            </a:r>
            <a:r>
              <a:rPr lang="en-US" dirty="0"/>
              <a:t> as a BSON document,</a:t>
            </a:r>
          </a:p>
          <a:p>
            <a:pPr marL="177800" indent="0">
              <a:buNone/>
            </a:pPr>
            <a:r>
              <a:rPr lang="en-US" dirty="0"/>
              <a:t>a Binary JSON </a:t>
            </a:r>
          </a:p>
          <a:p>
            <a:endParaRPr lang="en-US" dirty="0"/>
          </a:p>
          <a:p>
            <a:r>
              <a:rPr lang="en-US" dirty="0"/>
              <a:t> Some advantages:</a:t>
            </a:r>
          </a:p>
          <a:p>
            <a:pPr lvl="1"/>
            <a:r>
              <a:rPr lang="en-US" dirty="0"/>
              <a:t> Correspond to native data types in many</a:t>
            </a:r>
          </a:p>
          <a:p>
            <a:pPr marL="609600" lvl="1" indent="0">
              <a:buNone/>
            </a:pPr>
            <a:r>
              <a:rPr lang="en-US" dirty="0"/>
              <a:t>Programming languages(especially JavaScript)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Reduce the need of expensive joins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Schema less supports polymorphic types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ED1F2B-6494-41F9-8CBD-BE48A61BB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87" y="1492161"/>
            <a:ext cx="34385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7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5A92-CCAA-4D7F-9DA3-477ED65A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MongoDB – Terminology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181AB-D957-4BA4-BFA4-99ED44A96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terms vs MongoDB: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BFEAA4-0FDC-439C-B870-652DF11BA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34010"/>
              </p:ext>
            </p:extLst>
          </p:nvPr>
        </p:nvGraphicFramePr>
        <p:xfrm>
          <a:off x="815412" y="2062176"/>
          <a:ext cx="8128000" cy="4389120"/>
        </p:xfrm>
        <a:graphic>
          <a:graphicData uri="http://schemas.openxmlformats.org/drawingml/2006/table">
            <a:tbl>
              <a:tblPr firstRow="1" bandRow="1">
                <a:tableStyleId>{D3235AE6-15F8-46D2-A07B-7901452A5957}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731499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66748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Relational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208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27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Collection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55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JSON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40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14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Table joins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$lookup, embedded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85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primary key automatically set to the _id filed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134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66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ECC5-E672-4677-B825-E341602A0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BA617-4D75-4DC3-82AC-C52697EB7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Basically mongo is a general purpose DB for variety of use cases</a:t>
            </a:r>
          </a:p>
          <a:p>
            <a:r>
              <a:rPr lang="en-US" dirty="0"/>
              <a:t> It can be used instead of RDBMS for better application performance, scale and developers productivity</a:t>
            </a:r>
          </a:p>
          <a:p>
            <a:r>
              <a:rPr lang="en-US" dirty="0"/>
              <a:t> </a:t>
            </a:r>
            <a:r>
              <a:rPr lang="en-US" i="1" dirty="0"/>
              <a:t>Baidu</a:t>
            </a:r>
            <a:r>
              <a:rPr lang="en-US" dirty="0"/>
              <a:t> first migrating their user address book service from MySQL to MongoDB because they had performance and scalability limits</a:t>
            </a:r>
          </a:p>
          <a:p>
            <a:r>
              <a:rPr lang="en-US" dirty="0"/>
              <a:t> Now they use a giant MongoDB cluster(650 nodes), storing over 1PB of data, for over 100 different 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36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D6EC-B9E5-4D35-AA30-0131FB08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F384B-F63E-4FD5-BD07-32CDB7B67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Customer Usage Analytics: </a:t>
            </a:r>
          </a:p>
          <a:p>
            <a:pPr lvl="1"/>
            <a:r>
              <a:rPr lang="en-US" dirty="0"/>
              <a:t> Store and analyze button clicks, user goals, which pages/modules aren't in use</a:t>
            </a:r>
          </a:p>
          <a:p>
            <a:pPr lvl="1"/>
            <a:r>
              <a:rPr lang="en-US" dirty="0"/>
              <a:t> For example: </a:t>
            </a:r>
            <a:r>
              <a:rPr lang="en-US" i="1" dirty="0"/>
              <a:t>Apteligent</a:t>
            </a:r>
            <a:r>
              <a:rPr lang="en-US" dirty="0"/>
              <a:t> use MongoDB to analyze mobile apps with </a:t>
            </a:r>
            <a:r>
              <a:rPr lang="en-US" b="1" dirty="0"/>
              <a:t>more than 4 billion</a:t>
            </a:r>
            <a:r>
              <a:rPr lang="en-US" dirty="0"/>
              <a:t> requests per day</a:t>
            </a:r>
          </a:p>
          <a:p>
            <a:endParaRPr lang="en-US" dirty="0"/>
          </a:p>
          <a:p>
            <a:r>
              <a:rPr lang="en-US" dirty="0"/>
              <a:t>Real Time Analytics:</a:t>
            </a:r>
          </a:p>
          <a:p>
            <a:pPr lvl="1"/>
            <a:r>
              <a:rPr lang="en-US" dirty="0"/>
              <a:t> Apps that required sub-second latency, and extreme rarely downtime</a:t>
            </a:r>
          </a:p>
          <a:p>
            <a:pPr lvl="1"/>
            <a:r>
              <a:rPr lang="en-US" dirty="0"/>
              <a:t> For example: analyze tweets, social posts, financial reports and more to inform trading algorithms in real time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72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8758-33D9-4E83-87AA-41B36F43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Server Installation on Windows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861C3-FF92-4F16-B160-BE5E516D4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.</a:t>
            </a:r>
            <a:r>
              <a:rPr lang="en-US" dirty="0" err="1"/>
              <a:t>msi</a:t>
            </a:r>
            <a:r>
              <a:rPr lang="en-US" dirty="0"/>
              <a:t> file and install it:</a:t>
            </a:r>
          </a:p>
          <a:p>
            <a:pPr marL="177800" indent="0">
              <a:buNone/>
            </a:pPr>
            <a:r>
              <a:rPr lang="en-US" dirty="0">
                <a:hlinkClick r:id="rId3"/>
              </a:rPr>
              <a:t>https://bit.ly/2t589Yx</a:t>
            </a:r>
            <a:endParaRPr lang="en-US" dirty="0"/>
          </a:p>
          <a:p>
            <a:pPr marL="177800" indent="0">
              <a:buNone/>
            </a:pPr>
            <a:endParaRPr lang="en-US" dirty="0"/>
          </a:p>
          <a:p>
            <a:pPr marL="177800" indent="0">
              <a:buNone/>
            </a:pPr>
            <a:r>
              <a:rPr lang="en-US" dirty="0"/>
              <a:t>Create those directories in:</a:t>
            </a:r>
          </a:p>
          <a:p>
            <a:pPr marL="177800" indent="0">
              <a:buNone/>
            </a:pPr>
            <a:r>
              <a:rPr lang="en-US" dirty="0"/>
              <a:t>C:\Program Files\MongoDB\Server\3.6</a:t>
            </a:r>
            <a:r>
              <a:rPr lang="en-US" b="1" dirty="0"/>
              <a:t>\data\</a:t>
            </a:r>
            <a:r>
              <a:rPr lang="en-US" b="1" dirty="0" err="1"/>
              <a:t>db</a:t>
            </a:r>
            <a:r>
              <a:rPr lang="en-US" dirty="0"/>
              <a:t> 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Execute in </a:t>
            </a:r>
            <a:r>
              <a:rPr lang="en-US" dirty="0" err="1"/>
              <a:t>cmd</a:t>
            </a:r>
            <a:r>
              <a:rPr lang="en-US" dirty="0"/>
              <a:t>(as administrator):</a:t>
            </a:r>
          </a:p>
          <a:p>
            <a:pPr marL="177800" indent="0">
              <a:buNone/>
            </a:pPr>
            <a:r>
              <a:rPr lang="en-US" dirty="0"/>
              <a:t>C:\Program Files\MongoDB\Server\3.6\bin\mongod.exe  --dbpath </a:t>
            </a:r>
          </a:p>
          <a:p>
            <a:pPr marL="177800" indent="0">
              <a:buNone/>
            </a:pPr>
            <a:r>
              <a:rPr lang="en-US" dirty="0"/>
              <a:t>C:\Program Files\MongoDB\Server\3.6</a:t>
            </a:r>
            <a:r>
              <a:rPr lang="en-US" b="1" dirty="0"/>
              <a:t>\data\</a:t>
            </a:r>
            <a:r>
              <a:rPr lang="en-US" b="1" dirty="0" err="1"/>
              <a:t>db</a:t>
            </a:r>
            <a:r>
              <a:rPr lang="en-US" dirty="0"/>
              <a:t> </a:t>
            </a:r>
          </a:p>
          <a:p>
            <a:pPr marL="177800" indent="0">
              <a:buNone/>
            </a:pPr>
            <a:endParaRPr lang="en-US" dirty="0"/>
          </a:p>
          <a:p>
            <a:pPr marL="1778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4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5CDA-25EC-45AA-99E5-899FC4B7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Client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297A0-F4FE-4A48-A5D1-8BD1A0FFB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Compass is the most common UI tool to interact with mongo</a:t>
            </a:r>
          </a:p>
          <a:p>
            <a:endParaRPr lang="en-US" dirty="0"/>
          </a:p>
          <a:p>
            <a:r>
              <a:rPr lang="en-US" dirty="0"/>
              <a:t> For quick operations, you can use the shell (JavaScript interpreter)</a:t>
            </a:r>
          </a:p>
          <a:p>
            <a:endParaRPr lang="en-US" dirty="0"/>
          </a:p>
          <a:p>
            <a:r>
              <a:rPr lang="en-US" dirty="0"/>
              <a:t> For development purposes, we use the varied Drivers: C++, C#, Node.js, Java, Python etc.</a:t>
            </a:r>
          </a:p>
        </p:txBody>
      </p:sp>
    </p:spTree>
    <p:extLst>
      <p:ext uri="{BB962C8B-B14F-4D97-AF65-F5344CB8AC3E}">
        <p14:creationId xmlns:p14="http://schemas.microsoft.com/office/powerpoint/2010/main" val="381745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150A-AF17-42A6-828C-1F06D9C6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6C8DA-5B6C-4876-B891-4B28703E7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13" y="1268678"/>
            <a:ext cx="9890101" cy="499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68295"/>
      </p:ext>
    </p:extLst>
  </p:cSld>
  <p:clrMapOvr>
    <a:masterClrMapping/>
  </p:clrMapOvr>
</p:sld>
</file>

<file path=ppt/theme/theme1.xml><?xml version="1.0" encoding="utf-8"?>
<a:theme xmlns:a="http://schemas.openxmlformats.org/drawingml/2006/main" name="Sela_Template_Ver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room Template V8 7.1.14" id="{C390D62C-FD2A-4105-98BE-E88C1F565992}" vid="{BA10E712-5CE4-4A76-8C2D-233204200D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2BCB557AA5D448C5593FF71F2A488" ma:contentTypeVersion="20" ma:contentTypeDescription="Create a new document." ma:contentTypeScope="" ma:versionID="94eeca7f2e9e6f517c55398d5e9f5eed">
  <xsd:schema xmlns:xsd="http://www.w3.org/2001/XMLSchema" xmlns:xs="http://www.w3.org/2001/XMLSchema" xmlns:p="http://schemas.microsoft.com/office/2006/metadata/properties" xmlns:ns2="49dc0417-29c6-4bb5-ae98-f937f0a30532" xmlns:ns3="d58f348b-938b-40b8-8bae-5456f1a0ae9d" targetNamespace="http://schemas.microsoft.com/office/2006/metadata/properties" ma:root="true" ma:fieldsID="ce4dda86146abacb2ee65238c8c34327" ns2:_="" ns3:_="">
    <xsd:import namespace="49dc0417-29c6-4bb5-ae98-f937f0a30532"/>
    <xsd:import namespace="d58f348b-938b-40b8-8bae-5456f1a0ae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AAA" minOccurs="0"/>
                <xsd:element ref="ns2:lcf76f155ced4ddcb4097134ff3c332f" minOccurs="0"/>
                <xsd:element ref="ns3:TaxCatchAll" minOccurs="0"/>
                <xsd:element ref="ns2:Hyperlink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c0417-29c6-4bb5-ae98-f937f0a30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AAA" ma:index="21" nillable="true" ma:displayName="AAA" ma:format="DateOnly" ma:internalName="AA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3256489-8307-4614-a501-374122474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yperlink" ma:index="25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8f348b-938b-40b8-8bae-5456f1a0ae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92e702-67e0-4df4-9ad4-8876b702b22c}" ma:internalName="TaxCatchAll" ma:showField="CatchAllData" ma:web="d58f348b-938b-40b8-8bae-5456f1a0ae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AA xmlns="49dc0417-29c6-4bb5-ae98-f937f0a30532" xsi:nil="true"/>
    <TaxCatchAll xmlns="d58f348b-938b-40b8-8bae-5456f1a0ae9d" xsi:nil="true"/>
    <lcf76f155ced4ddcb4097134ff3c332f xmlns="49dc0417-29c6-4bb5-ae98-f937f0a30532">
      <Terms xmlns="http://schemas.microsoft.com/office/infopath/2007/PartnerControls"/>
    </lcf76f155ced4ddcb4097134ff3c332f>
    <Hyperlink xmlns="49dc0417-29c6-4bb5-ae98-f937f0a30532">
      <Url xsi:nil="true"/>
      <Description xsi:nil="true"/>
    </Hyperlink>
  </documentManagement>
</p:properties>
</file>

<file path=customXml/itemProps1.xml><?xml version="1.0" encoding="utf-8"?>
<ds:datastoreItem xmlns:ds="http://schemas.openxmlformats.org/officeDocument/2006/customXml" ds:itemID="{F43898AB-81A7-4E28-883C-474786DEB94C}"/>
</file>

<file path=customXml/itemProps2.xml><?xml version="1.0" encoding="utf-8"?>
<ds:datastoreItem xmlns:ds="http://schemas.openxmlformats.org/officeDocument/2006/customXml" ds:itemID="{A8639C5E-68A5-487F-9426-3BFCD7E18089}"/>
</file>

<file path=customXml/itemProps3.xml><?xml version="1.0" encoding="utf-8"?>
<ds:datastoreItem xmlns:ds="http://schemas.openxmlformats.org/officeDocument/2006/customXml" ds:itemID="{FA3F4631-8B43-48CD-8AE0-7B8B2EB9AB31}"/>
</file>

<file path=docProps/app.xml><?xml version="1.0" encoding="utf-8"?>
<Properties xmlns="http://schemas.openxmlformats.org/officeDocument/2006/extended-properties" xmlns:vt="http://schemas.openxmlformats.org/officeDocument/2006/docPropsVTypes">
  <Template>Classroom Template V8 7.1.14</Template>
  <TotalTime>34623</TotalTime>
  <Words>1006</Words>
  <Application>Microsoft Office PowerPoint</Application>
  <PresentationFormat>Widescreen</PresentationFormat>
  <Paragraphs>143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Segoe Light</vt:lpstr>
      <vt:lpstr>Segoe</vt:lpstr>
      <vt:lpstr>Calibri</vt:lpstr>
      <vt:lpstr>Quattrocento Sans</vt:lpstr>
      <vt:lpstr>Consolas</vt:lpstr>
      <vt:lpstr>Segoe UI</vt:lpstr>
      <vt:lpstr>Courier New</vt:lpstr>
      <vt:lpstr>Sela_Template_Ver_01</vt:lpstr>
      <vt:lpstr>MongoDB for Developers   </vt:lpstr>
      <vt:lpstr>No SQL Datastores</vt:lpstr>
      <vt:lpstr>NoSQL vs RDBMS</vt:lpstr>
      <vt:lpstr>Introduction to MongoDB</vt:lpstr>
      <vt:lpstr>Introduction to MongoDB – Key Features</vt:lpstr>
      <vt:lpstr>Introduction to MongoDB - Document</vt:lpstr>
      <vt:lpstr>Introduction to MongoDB – Terminology</vt:lpstr>
      <vt:lpstr>Use Cases</vt:lpstr>
      <vt:lpstr>Use Cases</vt:lpstr>
      <vt:lpstr>MongoDB Server Installation on Windows </vt:lpstr>
      <vt:lpstr>MongoDB Client Tools</vt:lpstr>
      <vt:lpstr>Compass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Redis</dc:title>
  <cp:lastModifiedBy>Netanel</cp:lastModifiedBy>
  <cp:revision>221</cp:revision>
  <dcterms:modified xsi:type="dcterms:W3CDTF">2018-06-13T19:30:26Z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0x0101000612BCB557AA5D448C5593FF71F2A488</vt:lpwstr>
  </property>
</Properties>
</file>