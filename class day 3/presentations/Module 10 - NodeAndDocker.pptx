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0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1.xml" ContentType="application/vnd.openxmlformats-officedocument.presentationml.slide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8.xml" ContentType="application/vnd.openxmlformats-officedocument.presentationml.slide+xml"/>
  <Override PartName="/ppt/notesSlides/notesSlide41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62.jp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6"/>
  </p:notesMasterIdLst>
  <p:sldIdLst>
    <p:sldId id="256" r:id="rId2"/>
    <p:sldId id="529" r:id="rId3"/>
    <p:sldId id="530" r:id="rId4"/>
    <p:sldId id="283" r:id="rId5"/>
    <p:sldId id="467" r:id="rId6"/>
    <p:sldId id="468" r:id="rId7"/>
    <p:sldId id="469" r:id="rId8"/>
    <p:sldId id="470" r:id="rId9"/>
    <p:sldId id="473" r:id="rId10"/>
    <p:sldId id="471" r:id="rId11"/>
    <p:sldId id="472" r:id="rId12"/>
    <p:sldId id="474" r:id="rId13"/>
    <p:sldId id="475" r:id="rId14"/>
    <p:sldId id="260" r:id="rId15"/>
    <p:sldId id="476" r:id="rId16"/>
    <p:sldId id="477" r:id="rId17"/>
    <p:sldId id="478" r:id="rId18"/>
    <p:sldId id="489" r:id="rId19"/>
    <p:sldId id="479" r:id="rId20"/>
    <p:sldId id="480" r:id="rId21"/>
    <p:sldId id="485" r:id="rId22"/>
    <p:sldId id="486" r:id="rId23"/>
    <p:sldId id="487" r:id="rId24"/>
    <p:sldId id="488" r:id="rId25"/>
    <p:sldId id="270" r:id="rId26"/>
    <p:sldId id="491" r:id="rId27"/>
    <p:sldId id="492" r:id="rId28"/>
    <p:sldId id="259" r:id="rId29"/>
    <p:sldId id="490" r:id="rId30"/>
    <p:sldId id="493" r:id="rId31"/>
    <p:sldId id="494" r:id="rId32"/>
    <p:sldId id="495" r:id="rId33"/>
    <p:sldId id="496" r:id="rId34"/>
    <p:sldId id="497" r:id="rId35"/>
    <p:sldId id="498" r:id="rId36"/>
    <p:sldId id="499" r:id="rId37"/>
    <p:sldId id="511" r:id="rId38"/>
    <p:sldId id="501" r:id="rId39"/>
    <p:sldId id="500" r:id="rId40"/>
    <p:sldId id="503" r:id="rId41"/>
    <p:sldId id="505" r:id="rId42"/>
    <p:sldId id="506" r:id="rId43"/>
    <p:sldId id="509" r:id="rId44"/>
    <p:sldId id="510" r:id="rId45"/>
    <p:sldId id="507" r:id="rId46"/>
    <p:sldId id="268" r:id="rId47"/>
    <p:sldId id="508" r:id="rId48"/>
    <p:sldId id="278" r:id="rId49"/>
    <p:sldId id="512" r:id="rId50"/>
    <p:sldId id="513" r:id="rId51"/>
    <p:sldId id="514" r:id="rId52"/>
    <p:sldId id="515" r:id="rId53"/>
    <p:sldId id="516" r:id="rId54"/>
    <p:sldId id="517" r:id="rId55"/>
    <p:sldId id="518" r:id="rId56"/>
    <p:sldId id="519" r:id="rId57"/>
    <p:sldId id="524" r:id="rId58"/>
    <p:sldId id="525" r:id="rId59"/>
    <p:sldId id="526" r:id="rId60"/>
    <p:sldId id="527" r:id="rId61"/>
    <p:sldId id="269" r:id="rId62"/>
    <p:sldId id="528" r:id="rId63"/>
    <p:sldId id="271" r:id="rId64"/>
    <p:sldId id="257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304">
          <p15:clr>
            <a:srgbClr val="A4A3A4"/>
          </p15:clr>
        </p15:guide>
        <p15:guide id="3" orient="horz" pos="2704" userDrawn="1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9636"/>
    <a:srgbClr val="F08E1B"/>
    <a:srgbClr val="4B84C9"/>
    <a:srgbClr val="385D8A"/>
    <a:srgbClr val="B3C7EB"/>
    <a:srgbClr val="A6BEE8"/>
    <a:srgbClr val="385DA8"/>
    <a:srgbClr val="943C06"/>
    <a:srgbClr val="FFFFCC"/>
    <a:srgbClr val="DC85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404" autoAdjust="0"/>
    <p:restoredTop sz="94660"/>
  </p:normalViewPr>
  <p:slideViewPr>
    <p:cSldViewPr showGuides="1">
      <p:cViewPr varScale="1">
        <p:scale>
          <a:sx n="98" d="100"/>
          <a:sy n="98" d="100"/>
        </p:scale>
        <p:origin x="184" y="272"/>
      </p:cViewPr>
      <p:guideLst>
        <p:guide orient="horz" pos="2160"/>
        <p:guide orient="horz" pos="2304"/>
        <p:guide orient="horz" pos="2704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86" d="100"/>
          <a:sy n="86" d="100"/>
        </p:scale>
        <p:origin x="-381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7200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7200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91AA33BB-5012-4FA9-BC94-2423B0F96BF0}" type="datetimeFigureOut">
              <a:rPr lang="en-US" smtClean="0"/>
              <a:pPr/>
              <a:t>6/15/18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6" rIns="91431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1" tIns="45716" rIns="91431" bIns="4571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7200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C18343ED-3762-4D46-A439-B4D407E13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3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cker/docker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blog.docker.com</a:t>
            </a:r>
            <a:r>
              <a:rPr lang="en-US" dirty="0"/>
              <a:t>/2015/10/docker-basics-webinar-</a:t>
            </a:r>
            <a:r>
              <a:rPr lang="en-US" dirty="0" err="1"/>
              <a:t>qa</a:t>
            </a:r>
            <a:r>
              <a:rPr lang="en-US" dirty="0"/>
              <a:t>/</a:t>
            </a:r>
          </a:p>
          <a:p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Segoe UI" charset="0"/>
                <a:ea typeface="Segoe UI" charset="0"/>
                <a:cs typeface="Segoe UI" charset="0"/>
                <a:hlinkClick r:id="rId3"/>
              </a:rPr>
              <a:t>https://github.com/docker/docker</a:t>
            </a:r>
            <a:endParaRPr lang="en-US" dirty="0">
              <a:latin typeface="Segoe UI" charset="0"/>
              <a:ea typeface="Segoe UI" charset="0"/>
              <a:cs typeface="Segoe UI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55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5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61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92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11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41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7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8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49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45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blog.docker.com</a:t>
            </a:r>
            <a:r>
              <a:rPr lang="en-US" dirty="0"/>
              <a:t>/2015/10/docker-basics-webinar-</a:t>
            </a:r>
            <a:r>
              <a:rPr lang="en-US" dirty="0" err="1"/>
              <a:t>qa</a:t>
            </a:r>
            <a:r>
              <a:rPr lang="en-US" dirty="0"/>
              <a:t>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85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blog.docker.com</a:t>
            </a:r>
            <a:r>
              <a:rPr lang="en-US" dirty="0"/>
              <a:t>/2015/10/docker-basics-webinar-</a:t>
            </a:r>
            <a:r>
              <a:rPr lang="en-US" dirty="0" err="1"/>
              <a:t>qa</a:t>
            </a:r>
            <a:r>
              <a:rPr lang="en-US" dirty="0"/>
              <a:t>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41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blog.docker.com</a:t>
            </a:r>
            <a:r>
              <a:rPr lang="en-US" dirty="0"/>
              <a:t>/2015/10/docker-basics-webinar-</a:t>
            </a:r>
            <a:r>
              <a:rPr lang="en-US" dirty="0" err="1"/>
              <a:t>qa</a:t>
            </a:r>
            <a:r>
              <a:rPr lang="en-US" dirty="0"/>
              <a:t>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09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391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39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22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docs.docker.com</a:t>
            </a:r>
            <a:r>
              <a:rPr lang="en-US" dirty="0"/>
              <a:t>/engine/reference/</a:t>
            </a:r>
            <a:r>
              <a:rPr lang="en-US" dirty="0" err="1"/>
              <a:t>commandline</a:t>
            </a:r>
            <a:r>
              <a:rPr lang="en-US" dirty="0"/>
              <a:t>/run/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751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881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637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44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259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829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blog.docker.com</a:t>
            </a:r>
            <a:r>
              <a:rPr lang="en-US" dirty="0"/>
              <a:t>/2015/10/docker-basics-webinar-</a:t>
            </a:r>
            <a:r>
              <a:rPr lang="en-US" dirty="0" err="1"/>
              <a:t>qa</a:t>
            </a:r>
            <a:r>
              <a:rPr lang="en-US" dirty="0"/>
              <a:t>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36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blog.docker.com</a:t>
            </a:r>
            <a:r>
              <a:rPr lang="en-US" dirty="0"/>
              <a:t>/2015/10/docker-basics-webinar-</a:t>
            </a:r>
            <a:r>
              <a:rPr lang="en-US" dirty="0" err="1"/>
              <a:t>qa</a:t>
            </a:r>
            <a:r>
              <a:rPr lang="en-US" dirty="0"/>
              <a:t>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534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blog.docker.com</a:t>
            </a:r>
            <a:r>
              <a:rPr lang="en-US" dirty="0"/>
              <a:t>/2015/10/docker-basics-webinar-</a:t>
            </a:r>
            <a:r>
              <a:rPr lang="en-US" dirty="0" err="1"/>
              <a:t>qa</a:t>
            </a:r>
            <a:r>
              <a:rPr lang="en-US" dirty="0"/>
              <a:t>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138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blog.docker.com</a:t>
            </a:r>
            <a:r>
              <a:rPr lang="en-US" dirty="0"/>
              <a:t>/2015/10/docker-basics-webinar-</a:t>
            </a:r>
            <a:r>
              <a:rPr lang="en-US" dirty="0" err="1"/>
              <a:t>qa</a:t>
            </a:r>
            <a:r>
              <a:rPr lang="en-US" dirty="0"/>
              <a:t>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735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blog.docker.com</a:t>
            </a:r>
            <a:r>
              <a:rPr lang="en-US" dirty="0"/>
              <a:t>/2015/10/docker-basics-webinar-</a:t>
            </a:r>
            <a:r>
              <a:rPr lang="en-US" dirty="0" err="1"/>
              <a:t>qa</a:t>
            </a:r>
            <a:r>
              <a:rPr lang="en-US" dirty="0"/>
              <a:t>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083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blog.docker.com</a:t>
            </a:r>
            <a:r>
              <a:rPr lang="en-US" dirty="0"/>
              <a:t>/2015/10/docker-basics-webinar-</a:t>
            </a:r>
            <a:r>
              <a:rPr lang="en-US" dirty="0" err="1"/>
              <a:t>qa</a:t>
            </a:r>
            <a:r>
              <a:rPr lang="en-US" dirty="0"/>
              <a:t>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852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220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677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835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658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028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889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215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261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336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678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599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433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003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155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815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55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docs.docker.com</a:t>
            </a:r>
            <a:r>
              <a:rPr lang="en-US" dirty="0"/>
              <a:t>/engine/</a:t>
            </a:r>
            <a:r>
              <a:rPr lang="en-US" dirty="0" err="1"/>
              <a:t>userguide</a:t>
            </a:r>
            <a:r>
              <a:rPr lang="en-US" dirty="0"/>
              <a:t>/networking/work-with-networks/#linking-containers-in-user-defined-networks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86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docs.docker.com</a:t>
            </a:r>
            <a:r>
              <a:rPr lang="en-US" dirty="0"/>
              <a:t>/engine/</a:t>
            </a:r>
            <a:r>
              <a:rPr lang="en-US" dirty="0" err="1"/>
              <a:t>userguide</a:t>
            </a:r>
            <a:r>
              <a:rPr lang="en-US" dirty="0"/>
              <a:t>/networking/work-with-networks/#linking-containers-in-user-defined-networks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995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875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71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166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0773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674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103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3935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4461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docs.docker.com</a:t>
            </a:r>
            <a:r>
              <a:rPr lang="en-US" dirty="0"/>
              <a:t>/compose/networking/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42060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48089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543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docs.docker.com</a:t>
            </a:r>
            <a:r>
              <a:rPr lang="en-US" dirty="0"/>
              <a:t>/compose/reference/overview/</a:t>
            </a:r>
          </a:p>
          <a:p>
            <a:r>
              <a:rPr lang="en-US" dirty="0"/>
              <a:t>https://</a:t>
            </a:r>
            <a:r>
              <a:rPr lang="en-US" dirty="0" err="1"/>
              <a:t>docs.docker.com</a:t>
            </a:r>
            <a:r>
              <a:rPr lang="en-US" dirty="0"/>
              <a:t>/compose/compose-file/</a:t>
            </a:r>
          </a:p>
          <a:p>
            <a:r>
              <a:rPr lang="en-US" dirty="0"/>
              <a:t>https://</a:t>
            </a:r>
            <a:r>
              <a:rPr lang="en-US" dirty="0" err="1"/>
              <a:t>docs.docker.com</a:t>
            </a:r>
            <a:r>
              <a:rPr lang="en-US" dirty="0"/>
              <a:t>/compose/</a:t>
            </a:r>
            <a:r>
              <a:rPr lang="en-US" dirty="0" err="1"/>
              <a:t>gettingstarted</a:t>
            </a:r>
            <a:r>
              <a:rPr lang="en-US" dirty="0"/>
              <a:t>/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41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537" y="1340768"/>
            <a:ext cx="7388072" cy="1085850"/>
          </a:xfrm>
        </p:spPr>
        <p:txBody>
          <a:bodyPr vert="horz" lIns="0" tIns="45720" rIns="91440" bIns="45720" rtlCol="0" anchor="t" anchorCtr="0">
            <a:normAutofit/>
          </a:bodyPr>
          <a:lstStyle>
            <a:lvl1pPr>
              <a:defRPr lang="en-US" sz="3200" dirty="0">
                <a:ln w="3175">
                  <a:noFill/>
                </a:ln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580537" y="6362070"/>
            <a:ext cx="7879895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© Copyright SELA software &amp; Education Labs Ltd. | 14-18 Baruch Hirsch St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Bnei</a:t>
            </a:r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Brak</a:t>
            </a:r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, 51202 Israel | www.selagroup.com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Segoe" panose="020B0502040504020203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37" y="534797"/>
            <a:ext cx="2632449" cy="48390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581025" y="2427288"/>
            <a:ext cx="7388225" cy="13620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E89636"/>
                </a:solidFill>
              </a:defRPr>
            </a:lvl1pPr>
            <a:lvl2pPr marL="457200" indent="0" algn="l" rtl="0">
              <a:buFontTx/>
              <a:buNone/>
              <a:defRPr/>
            </a:lvl2pPr>
            <a:lvl3pPr marL="914400" indent="0" algn="l" rtl="0">
              <a:buFontTx/>
              <a:buNone/>
              <a:defRPr/>
            </a:lvl3pPr>
            <a:lvl4pPr marL="1371600" indent="0" algn="l" rtl="0">
              <a:buFontTx/>
              <a:buNone/>
              <a:defRPr/>
            </a:lvl4pPr>
            <a:lvl5pPr marL="1828800" indent="0" algn="l" rtl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89">
          <p15:clr>
            <a:srgbClr val="FBAE40"/>
          </p15:clr>
        </p15:guide>
        <p15:guide id="2" pos="61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58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pic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92888" cy="720000"/>
          </a:xfrm>
        </p:spPr>
        <p:txBody>
          <a:bodyPr vert="horz" lIns="0" tIns="0" rIns="91440" bIns="45720" rtlCol="0" anchor="b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92161"/>
            <a:ext cx="7992888" cy="4648200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124744"/>
            <a:ext cx="4132746" cy="444361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3" name="TextBox 12"/>
          <p:cNvSpPr txBox="1"/>
          <p:nvPr userDrawn="1"/>
        </p:nvSpPr>
        <p:spPr>
          <a:xfrm>
            <a:off x="1475656" y="2492896"/>
            <a:ext cx="347082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Demo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2" name="TextBox 11"/>
          <p:cNvSpPr txBox="1"/>
          <p:nvPr userDrawn="1"/>
        </p:nvSpPr>
        <p:spPr>
          <a:xfrm>
            <a:off x="1475656" y="2492896"/>
            <a:ext cx="212590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1" name="TextBox 10"/>
          <p:cNvSpPr txBox="1"/>
          <p:nvPr userDrawn="1"/>
        </p:nvSpPr>
        <p:spPr>
          <a:xfrm>
            <a:off x="1547664" y="2492896"/>
            <a:ext cx="39340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Conclusion </a:t>
            </a:r>
          </a:p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 userDrawn="1"/>
        </p:nvSpPr>
        <p:spPr>
          <a:xfrm>
            <a:off x="827584" y="2492896"/>
            <a:ext cx="492314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Final</a:t>
            </a:r>
            <a:r>
              <a:rPr lang="en-US" sz="10000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 </a:t>
            </a:r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k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1492161"/>
            <a:ext cx="8001315" cy="4659258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2286000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3873731"/>
            <a:ext cx="8001315" cy="2277687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1502952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3140969"/>
            <a:ext cx="8001315" cy="3010450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001"/>
            <a:ext cx="8004764" cy="1070904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590849" y="2630516"/>
            <a:ext cx="8013402" cy="1139423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590848" y="3835550"/>
            <a:ext cx="8004764" cy="1072800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590849" y="4973960"/>
            <a:ext cx="8013402" cy="1139423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403648" y="2492896"/>
            <a:ext cx="55451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Questions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710" y="1988840"/>
            <a:ext cx="1532540" cy="2844235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11560" y="1492161"/>
            <a:ext cx="7992690" cy="4673143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11560" y="1492161"/>
            <a:ext cx="7992690" cy="4673143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7380312" y="2348344"/>
            <a:ext cx="1655516" cy="3900056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>
            <a:normAutofit/>
          </a:bodyPr>
          <a:lstStyle>
            <a:lvl1pPr marL="115888" indent="-115888" algn="l" rtl="0">
              <a:buFont typeface="Arial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611560" y="1524000"/>
            <a:ext cx="6553200" cy="4724400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txBody>
          <a:bodyPr/>
          <a:lstStyle>
            <a:lvl1pPr marL="342900" indent="-342900" algn="l" rtl="0">
              <a:buFontTx/>
              <a:buBlip>
                <a:blip r:embed="rId2"/>
              </a:buBlip>
              <a:defRPr/>
            </a:lvl1pPr>
            <a:lvl2pPr marL="742950" indent="-285750" algn="l" rtl="0">
              <a:buFontTx/>
              <a:buBlip>
                <a:blip r:embed="rId2"/>
              </a:buBlip>
              <a:defRPr/>
            </a:lvl2pPr>
            <a:lvl3pPr marL="1143000" indent="-228600" algn="l" rtl="0">
              <a:buFontTx/>
              <a:buBlip>
                <a:blip r:embed="rId2"/>
              </a:buBlip>
              <a:defRPr/>
            </a:lvl3pPr>
            <a:lvl4pPr marL="1600200" indent="-228600" algn="l" rtl="0">
              <a:buFontTx/>
              <a:buBlip>
                <a:blip r:embed="rId2"/>
              </a:buBlip>
              <a:defRPr/>
            </a:lvl4pPr>
            <a:lvl5pPr marL="2057400" indent="-228600" algn="l" rtl="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7979692" y="1524000"/>
            <a:ext cx="976164" cy="615553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  <p:txBody>
          <a:bodyPr vert="horz" wrap="square" lIns="0" tIns="0" rIns="0" bIns="0" rtlCol="0" anchor="t" anchorCtr="0">
            <a:spAutoFit/>
          </a:bodyPr>
          <a:lstStyle>
            <a:lvl1pPr>
              <a:spcBef>
                <a:spcPct val="0"/>
              </a:spcBef>
              <a:buNone/>
              <a:defRPr lang="en-US" sz="4000" b="0" dirty="0" smtClean="0">
                <a:ln w="3175">
                  <a:noFill/>
                </a:ln>
                <a:solidFill>
                  <a:srgbClr val="F08E1B"/>
                </a:solidFill>
                <a:effectLst/>
                <a:latin typeface="Segoe Light" panose="020B03020405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anose="020B0502040504020203" pitchFamily="34" charset="0"/>
                <a:cs typeface="Consolas" panose="020B0609020204030204" pitchFamily="49" charset="0"/>
              </a:rPr>
              <a:t>tips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090" y="1414674"/>
            <a:ext cx="938110" cy="938110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tips title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177"/>
            <a:ext cx="8004764" cy="1070904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11560" y="2630516"/>
            <a:ext cx="8013402" cy="1139423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611262" y="3835374"/>
            <a:ext cx="8013700" cy="107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kern="1200" baseline="0" dirty="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342900" indent="-342900">
              <a:defRPr/>
            </a:lvl2pPr>
            <a:lvl3pPr marL="342900" indent="-342900">
              <a:defRPr/>
            </a:lvl3pPr>
            <a:lvl4pPr marL="342900" indent="-342900">
              <a:defRPr/>
            </a:lvl4pPr>
            <a:lvl5pPr marL="342900" indent="-342900"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611262" y="4973959"/>
            <a:ext cx="8013700" cy="111918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/>
          <a:lstStyle>
            <a:lvl1pPr marL="0" indent="0"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 marL="0" indent="0">
              <a:defRPr/>
            </a:lvl2pPr>
            <a:lvl3pPr marL="0" indent="0">
              <a:defRPr/>
            </a:lvl3pPr>
            <a:lvl4pPr marL="0" indent="0">
              <a:defRPr/>
            </a:lvl4pPr>
            <a:lvl5pPr marL="0" indent="0"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359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8424268" cy="1015489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 anchorCtr="0">
            <a:normAutofit/>
          </a:bodyPr>
          <a:lstStyle/>
          <a:p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611188" y="6309320"/>
            <a:ext cx="7951904" cy="157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50" r:id="rId3"/>
    <p:sldLayoutId id="2147483651" r:id="rId4"/>
    <p:sldLayoutId id="2147483668" r:id="rId5"/>
    <p:sldLayoutId id="2147483669" r:id="rId6"/>
    <p:sldLayoutId id="2147483672" r:id="rId7"/>
    <p:sldLayoutId id="2147483660" r:id="rId8"/>
    <p:sldLayoutId id="2147483661" r:id="rId9"/>
    <p:sldLayoutId id="2147483670" r:id="rId10"/>
    <p:sldLayoutId id="2147483671" r:id="rId11"/>
    <p:sldLayoutId id="2147483662" r:id="rId12"/>
    <p:sldLayoutId id="2147483663" r:id="rId13"/>
    <p:sldLayoutId id="2147483666" r:id="rId14"/>
    <p:sldLayoutId id="2147483665" r:id="rId15"/>
    <p:sldLayoutId id="2147483654" r:id="rId16"/>
    <p:sldLayoutId id="2147483674" r:id="rId17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lang="en-US" sz="4000" b="0" kern="1200" dirty="0" smtClean="0">
          <a:ln w="3175">
            <a:noFill/>
          </a:ln>
          <a:solidFill>
            <a:srgbClr val="F08E1B"/>
          </a:solidFill>
          <a:effectLst/>
          <a:latin typeface="Segoe Light" panose="020B0302040504020203" pitchFamily="34" charset="0"/>
          <a:ea typeface="+mn-ea"/>
          <a:cs typeface="Segoe UI" panose="020B0502040204020203" pitchFamily="34" charset="0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064" userDrawn="1">
          <p15:clr>
            <a:srgbClr val="F26B43"/>
          </p15:clr>
        </p15:guide>
        <p15:guide id="3" pos="54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docker/docker" TargetMode="Externa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openxmlformats.org/officeDocument/2006/relationships/image" Target="../media/image24.jpg"/><Relationship Id="rId18" Type="http://schemas.openxmlformats.org/officeDocument/2006/relationships/image" Target="../media/image29.jpg"/><Relationship Id="rId26" Type="http://schemas.openxmlformats.org/officeDocument/2006/relationships/image" Target="../media/image37.jpg"/><Relationship Id="rId3" Type="http://schemas.openxmlformats.org/officeDocument/2006/relationships/image" Target="../media/image14.jp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jpg"/><Relationship Id="rId17" Type="http://schemas.openxmlformats.org/officeDocument/2006/relationships/image" Target="../media/image28.png"/><Relationship Id="rId25" Type="http://schemas.openxmlformats.org/officeDocument/2006/relationships/image" Target="../media/image36.jp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7.png"/><Relationship Id="rId20" Type="http://schemas.openxmlformats.org/officeDocument/2006/relationships/image" Target="../media/image31.jp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22.jpg"/><Relationship Id="rId24" Type="http://schemas.openxmlformats.org/officeDocument/2006/relationships/image" Target="../media/image35.jpg"/><Relationship Id="rId5" Type="http://schemas.openxmlformats.org/officeDocument/2006/relationships/image" Target="../media/image16.jpg"/><Relationship Id="rId15" Type="http://schemas.openxmlformats.org/officeDocument/2006/relationships/image" Target="../media/image26.jpeg"/><Relationship Id="rId23" Type="http://schemas.openxmlformats.org/officeDocument/2006/relationships/image" Target="../media/image34.jpg"/><Relationship Id="rId28" Type="http://schemas.openxmlformats.org/officeDocument/2006/relationships/image" Target="../media/image39.jpeg"/><Relationship Id="rId10" Type="http://schemas.openxmlformats.org/officeDocument/2006/relationships/image" Target="../media/image21.jpeg"/><Relationship Id="rId19" Type="http://schemas.openxmlformats.org/officeDocument/2006/relationships/image" Target="../media/image30.png"/><Relationship Id="rId4" Type="http://schemas.openxmlformats.org/officeDocument/2006/relationships/image" Target="../media/image15.jp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jpg"/><Relationship Id="rId27" Type="http://schemas.openxmlformats.org/officeDocument/2006/relationships/image" Target="../media/image38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3.jpg"/><Relationship Id="rId3" Type="http://schemas.openxmlformats.org/officeDocument/2006/relationships/image" Target="../media/image41.jpg"/><Relationship Id="rId7" Type="http://schemas.openxmlformats.org/officeDocument/2006/relationships/image" Target="../media/image32.png"/><Relationship Id="rId12" Type="http://schemas.openxmlformats.org/officeDocument/2006/relationships/image" Target="../media/image4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jpg"/><Relationship Id="rId11" Type="http://schemas.openxmlformats.org/officeDocument/2006/relationships/image" Target="../media/image48.jpg"/><Relationship Id="rId5" Type="http://schemas.openxmlformats.org/officeDocument/2006/relationships/image" Target="../media/image43.jpeg"/><Relationship Id="rId10" Type="http://schemas.openxmlformats.org/officeDocument/2006/relationships/image" Target="../media/image47.jpg"/><Relationship Id="rId4" Type="http://schemas.openxmlformats.org/officeDocument/2006/relationships/image" Target="../media/image42.jp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3.jpg"/><Relationship Id="rId3" Type="http://schemas.openxmlformats.org/officeDocument/2006/relationships/image" Target="../media/image41.jpg"/><Relationship Id="rId7" Type="http://schemas.openxmlformats.org/officeDocument/2006/relationships/image" Target="../media/image32.png"/><Relationship Id="rId12" Type="http://schemas.openxmlformats.org/officeDocument/2006/relationships/image" Target="../media/image4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jpg"/><Relationship Id="rId11" Type="http://schemas.openxmlformats.org/officeDocument/2006/relationships/image" Target="../media/image48.jpg"/><Relationship Id="rId5" Type="http://schemas.openxmlformats.org/officeDocument/2006/relationships/image" Target="../media/image43.jpeg"/><Relationship Id="rId10" Type="http://schemas.openxmlformats.org/officeDocument/2006/relationships/image" Target="../media/image47.jpg"/><Relationship Id="rId4" Type="http://schemas.openxmlformats.org/officeDocument/2006/relationships/image" Target="../media/image42.jpg"/><Relationship Id="rId9" Type="http://schemas.openxmlformats.org/officeDocument/2006/relationships/image" Target="../media/image46.png"/><Relationship Id="rId14" Type="http://schemas.openxmlformats.org/officeDocument/2006/relationships/image" Target="../media/image5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hub.docker.com/explore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Node.js</a:t>
            </a:r>
            <a:endParaRPr/>
          </a:p>
        </p:txBody>
      </p:sp>
      <p:sp>
        <p:nvSpPr>
          <p:cNvPr id="3" name="CustomShape 2"/>
          <p:cNvSpPr/>
          <p:nvPr/>
        </p:nvSpPr>
        <p:spPr>
          <a:xfrm>
            <a:off x="1371600" y="3886200"/>
            <a:ext cx="6399720" cy="175140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71800" y="1600200"/>
            <a:ext cx="4951800" cy="169452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2" y="3672360"/>
            <a:ext cx="7557528" cy="914400"/>
          </a:xfrm>
        </p:spPr>
        <p:txBody>
          <a:bodyPr/>
          <a:lstStyle/>
          <a:p>
            <a:r>
              <a:rPr lang="en-US" dirty="0"/>
              <a:t>Module 10 – Hosting Complex Node Architectures with Docker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644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65C026-1F35-A741-8792-733BD202C7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What is Docker</a:t>
            </a:r>
          </a:p>
          <a:p>
            <a:r>
              <a:rPr lang="en-US" dirty="0"/>
              <a:t>Docker CLI</a:t>
            </a:r>
          </a:p>
          <a:p>
            <a:r>
              <a:rPr lang="en-US" dirty="0"/>
              <a:t>Docker File system &amp; Volumes</a:t>
            </a:r>
          </a:p>
          <a:p>
            <a:r>
              <a:rPr lang="en-US" dirty="0"/>
              <a:t>Docker Files</a:t>
            </a:r>
          </a:p>
          <a:p>
            <a:r>
              <a:rPr lang="en-US" dirty="0"/>
              <a:t>Containers Communication</a:t>
            </a:r>
          </a:p>
          <a:p>
            <a:r>
              <a:rPr lang="en-US" dirty="0"/>
              <a:t>Docker Compose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3C0513-C80A-A54D-A340-08BA281F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51842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38D1-4D20-424B-97A3-793930D5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12373-43A1-4D46-8418-27486FD15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Modern days Node applications usually have dependencies such as databases, caches, queues and other node services.</a:t>
            </a:r>
          </a:p>
          <a:p>
            <a:endParaRPr lang="en-US" dirty="0"/>
          </a:p>
          <a:p>
            <a:r>
              <a:rPr lang="en-US" dirty="0"/>
              <a:t>Node applications can also be setup behind load balancers and reverse proxies.</a:t>
            </a:r>
          </a:p>
          <a:p>
            <a:endParaRPr lang="en-US" dirty="0"/>
          </a:p>
          <a:p>
            <a:r>
              <a:rPr lang="en-US" dirty="0"/>
              <a:t>Docker allows you to package an application with all of its dependencies into a standardized unit, called a container.</a:t>
            </a:r>
          </a:p>
        </p:txBody>
      </p:sp>
    </p:spTree>
    <p:extLst>
      <p:ext uri="{BB962C8B-B14F-4D97-AF65-F5344CB8AC3E}">
        <p14:creationId xmlns:p14="http://schemas.microsoft.com/office/powerpoint/2010/main" val="3989062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Docker - What is Docker ?</a:t>
            </a:r>
            <a:endParaRPr lang="he-IL" dirty="0"/>
          </a:p>
        </p:txBody>
      </p:sp>
      <p:pic>
        <p:nvPicPr>
          <p:cNvPr id="13" name="Content Placeholder 3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88" y="2904791"/>
            <a:ext cx="7993062" cy="1823118"/>
          </a:xfrm>
        </p:spPr>
      </p:pic>
      <p:sp>
        <p:nvSpPr>
          <p:cNvPr id="14" name="TextBox 13"/>
          <p:cNvSpPr txBox="1"/>
          <p:nvPr/>
        </p:nvSpPr>
        <p:spPr>
          <a:xfrm>
            <a:off x="344115" y="1912600"/>
            <a:ext cx="6140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Segoe UI" charset="0"/>
                <a:ea typeface="Segoe UI" charset="0"/>
                <a:cs typeface="Segoe UI" charset="0"/>
              </a:rPr>
              <a:t>Docker is an open source project on </a:t>
            </a:r>
            <a:r>
              <a:rPr lang="en-US" sz="2400" dirty="0" err="1">
                <a:latin typeface="Segoe UI" charset="0"/>
                <a:ea typeface="Segoe UI" charset="0"/>
                <a:cs typeface="Segoe UI" charset="0"/>
              </a:rPr>
              <a:t>github</a:t>
            </a:r>
            <a:r>
              <a:rPr lang="en-US" sz="2400" dirty="0">
                <a:latin typeface="Segoe UI" charset="0"/>
                <a:ea typeface="Segoe UI" charset="0"/>
                <a:cs typeface="Segoe UI" charset="0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94" y="2312265"/>
            <a:ext cx="3650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" charset="0"/>
                <a:ea typeface="Segoe UI" charset="0"/>
                <a:cs typeface="Segoe UI" charset="0"/>
                <a:hlinkClick r:id="rId5"/>
              </a:rPr>
              <a:t>https://github.com/docker/docker</a:t>
            </a:r>
            <a:endParaRPr lang="en-US" dirty="0">
              <a:latin typeface="Segoe UI" charset="0"/>
              <a:ea typeface="Segoe UI" charset="0"/>
              <a:cs typeface="Segoe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454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Paas</a:t>
            </a:r>
            <a:r>
              <a:rPr lang="en-US" dirty="0"/>
              <a:t> (Platform as a service) company</a:t>
            </a:r>
            <a:br>
              <a:rPr lang="en-US" dirty="0"/>
            </a:br>
            <a:r>
              <a:rPr lang="en-US" dirty="0"/>
              <a:t>  </a:t>
            </a:r>
          </a:p>
          <a:p>
            <a:r>
              <a:rPr lang="en-US" dirty="0"/>
              <a:t>Manages Infrastructure for developers who </a:t>
            </a:r>
            <a:br>
              <a:rPr lang="en-US" dirty="0"/>
            </a:br>
            <a:r>
              <a:rPr lang="en-US" dirty="0"/>
              <a:t>don’t want to handle infra by them self</a:t>
            </a:r>
            <a:br>
              <a:rPr lang="en-US" dirty="0"/>
            </a:br>
            <a:endParaRPr lang="en-US" dirty="0"/>
          </a:p>
          <a:p>
            <a:r>
              <a:rPr lang="en-US" dirty="0"/>
              <a:t>Around 2012 – 2013 </a:t>
            </a:r>
            <a:r>
              <a:rPr lang="en-US" dirty="0" err="1"/>
              <a:t>dotCloud</a:t>
            </a:r>
            <a:r>
              <a:rPr lang="en-US" dirty="0"/>
              <a:t> opened source the core technology of the company as a side project named Docker</a:t>
            </a:r>
          </a:p>
          <a:p>
            <a:endParaRPr lang="he-IL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35" y="5133023"/>
            <a:ext cx="4459703" cy="1176297"/>
          </a:xfrm>
          <a:prstGeom prst="rect">
            <a:avLst/>
          </a:prstGeom>
        </p:spPr>
      </p:pic>
      <p:pic>
        <p:nvPicPr>
          <p:cNvPr id="7" name="Picture 6" descr="http://blog.foundersnetwork.com/wp-content/uploads/2013/02/Solomon_Hykes-2-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754286"/>
            <a:ext cx="1853590" cy="1267002"/>
          </a:xfrm>
          <a:prstGeom prst="rect">
            <a:avLst/>
          </a:prstGeom>
          <a:noFill/>
          <a:effectLst>
            <a:outerShdw blurRad="50800" dist="50800" dir="3000000" algn="ctr" rotWithShape="0">
              <a:srgbClr val="0070C0">
                <a:alpha val="57000"/>
              </a:srgbClr>
            </a:outerShdw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562509" y="6001543"/>
            <a:ext cx="12984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Solomon </a:t>
            </a:r>
            <a:r>
              <a:rPr lang="en-US" sz="1400" dirty="0" err="1"/>
              <a:t>Hykes</a:t>
            </a:r>
            <a:endParaRPr lang="he-IL" sz="1400" dirty="0"/>
          </a:p>
        </p:txBody>
      </p:sp>
      <p:pic>
        <p:nvPicPr>
          <p:cNvPr id="9" name="Picture 2" descr="https://cdn.rawgit.com/ahmetalpbalkan/docker-chocolatey/d9d3bd5a750d03fc8933e1bee4c3755f361e2797/docker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243" y="1374603"/>
            <a:ext cx="1800200" cy="1606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209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Containers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Containers are the next evolution in virtualization.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Containers are an isolated, resource controlled, and portable operating environment.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Basically, a container is an isolated place where an application can run without affecting the rest of the system and without the system affecting the application.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If you were inside a container, it would look very much like you were inside a freshly installed physical computer or a virtual machine. 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18666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737970"/>
            <a:ext cx="179905" cy="5095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Docker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95536" y="4077072"/>
            <a:ext cx="8280920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723" y="4775737"/>
            <a:ext cx="1465236" cy="9836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533" y="2799266"/>
            <a:ext cx="1410669" cy="32915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356" y="2132855"/>
            <a:ext cx="562321" cy="51906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274" y="2153796"/>
            <a:ext cx="604812" cy="32002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813" y="2533809"/>
            <a:ext cx="1018815" cy="24451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896" y="2566199"/>
            <a:ext cx="989921" cy="26872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41" y="1979632"/>
            <a:ext cx="1323932" cy="34301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705" y="2547882"/>
            <a:ext cx="1165422" cy="24990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257" y="2101054"/>
            <a:ext cx="1138997" cy="32011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340" y="3465366"/>
            <a:ext cx="651097" cy="39167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755" y="3430132"/>
            <a:ext cx="1163800" cy="39094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8" y="2723483"/>
            <a:ext cx="787242" cy="40493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52" y="3278844"/>
            <a:ext cx="765207" cy="23883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182" y="2264389"/>
            <a:ext cx="856435" cy="31394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07" y="1883466"/>
            <a:ext cx="1009399" cy="33473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016" y="2730397"/>
            <a:ext cx="829905" cy="25409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7" y="2391919"/>
            <a:ext cx="917709" cy="21101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867" y="3240315"/>
            <a:ext cx="580758" cy="58075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641" y="3297595"/>
            <a:ext cx="849914" cy="553361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587" y="5065084"/>
            <a:ext cx="1025437" cy="101182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491" y="5229200"/>
            <a:ext cx="1474163" cy="98634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491" y="4348746"/>
            <a:ext cx="1208706" cy="68318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965" y="5390342"/>
            <a:ext cx="1360457" cy="847891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5063868"/>
            <a:ext cx="1089217" cy="108921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955" y="4348746"/>
            <a:ext cx="1175451" cy="88045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77" y="4675079"/>
            <a:ext cx="673699" cy="44831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190" y="3297101"/>
            <a:ext cx="912745" cy="45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99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Matrix From Hell</a:t>
            </a:r>
          </a:p>
        </p:txBody>
      </p:sp>
      <p:graphicFrame>
        <p:nvGraphicFramePr>
          <p:cNvPr id="38" name="Content Placeholder 16"/>
          <p:cNvGraphicFramePr>
            <a:graphicFrameLocks noGrp="1"/>
          </p:cNvGraphicFramePr>
          <p:nvPr>
            <p:ph idx="1"/>
            <p:extLst/>
          </p:nvPr>
        </p:nvGraphicFramePr>
        <p:xfrm>
          <a:off x="872039" y="1915093"/>
          <a:ext cx="7129164" cy="39796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1018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3277"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277"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277"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277"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3277"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3277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9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41" y="2009501"/>
            <a:ext cx="468231" cy="48339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613" y="2718560"/>
            <a:ext cx="492583" cy="49258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71" y="3452252"/>
            <a:ext cx="643817" cy="379234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62" y="4095409"/>
            <a:ext cx="585287" cy="40238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33" y="4733458"/>
            <a:ext cx="650820" cy="423734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5338166"/>
            <a:ext cx="477753" cy="492886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5330172"/>
            <a:ext cx="727510" cy="412581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5301208"/>
            <a:ext cx="741782" cy="52984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097" y="5330172"/>
            <a:ext cx="537162" cy="539861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961" y="5301208"/>
            <a:ext cx="523289" cy="523289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5338362"/>
            <a:ext cx="563626" cy="49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37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Matrix From Hell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484784"/>
            <a:ext cx="7275060" cy="46085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3079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Shipping Industry Solution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004" y="1772816"/>
            <a:ext cx="63500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11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Shipping Industry Solution</a:t>
            </a:r>
          </a:p>
        </p:txBody>
      </p:sp>
      <p:graphicFrame>
        <p:nvGraphicFramePr>
          <p:cNvPr id="38" name="Content Placeholder 16"/>
          <p:cNvGraphicFramePr>
            <a:graphicFrameLocks noGrp="1"/>
          </p:cNvGraphicFramePr>
          <p:nvPr>
            <p:ph idx="1"/>
            <p:extLst/>
          </p:nvPr>
        </p:nvGraphicFramePr>
        <p:xfrm>
          <a:off x="887130" y="1940245"/>
          <a:ext cx="7129164" cy="3979662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1018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84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3277"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277"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277"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277"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3277"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/>
                    </a:p>
                    <a:p>
                      <a:pPr algn="ctr" rtl="1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3277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9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41" y="2009501"/>
            <a:ext cx="468231" cy="48339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613" y="2718560"/>
            <a:ext cx="492583" cy="49258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71" y="3452252"/>
            <a:ext cx="643817" cy="379234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62" y="4095409"/>
            <a:ext cx="585287" cy="40238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33" y="4733458"/>
            <a:ext cx="650820" cy="423734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5338166"/>
            <a:ext cx="477753" cy="492886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5330172"/>
            <a:ext cx="727510" cy="412581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5301208"/>
            <a:ext cx="741782" cy="52984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097" y="5330172"/>
            <a:ext cx="537162" cy="539861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977" y="5369159"/>
            <a:ext cx="523289" cy="523289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5338362"/>
            <a:ext cx="563626" cy="49485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986" y="2126750"/>
            <a:ext cx="816495" cy="43815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2" y="2780928"/>
            <a:ext cx="816495" cy="43815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2" y="3422894"/>
            <a:ext cx="816495" cy="43815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1" y="4070966"/>
            <a:ext cx="816495" cy="43815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4721033"/>
            <a:ext cx="816495" cy="43815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191" y="2105496"/>
            <a:ext cx="816495" cy="43815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487" y="2759674"/>
            <a:ext cx="816495" cy="43815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487" y="3401640"/>
            <a:ext cx="816495" cy="43815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486" y="4049712"/>
            <a:ext cx="816495" cy="43815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485" y="4699779"/>
            <a:ext cx="816495" cy="43815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366" y="2148004"/>
            <a:ext cx="816495" cy="43815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662" y="2802182"/>
            <a:ext cx="816495" cy="43815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662" y="3444148"/>
            <a:ext cx="816495" cy="43815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661" y="4092220"/>
            <a:ext cx="816495" cy="43815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571" y="2126750"/>
            <a:ext cx="816495" cy="438154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867" y="2780928"/>
            <a:ext cx="816495" cy="438154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867" y="3422894"/>
            <a:ext cx="816495" cy="438154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866" y="4070966"/>
            <a:ext cx="816495" cy="43815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1" y="2123403"/>
            <a:ext cx="816495" cy="43815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917" y="2777581"/>
            <a:ext cx="816495" cy="43815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917" y="3419547"/>
            <a:ext cx="816495" cy="438154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916" y="4067619"/>
            <a:ext cx="816495" cy="438154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826" y="2102149"/>
            <a:ext cx="816495" cy="438154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122" y="2756327"/>
            <a:ext cx="816495" cy="438154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122" y="3398293"/>
            <a:ext cx="816495" cy="438154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121" y="4046365"/>
            <a:ext cx="816495" cy="438154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260" y="4719038"/>
            <a:ext cx="816495" cy="438154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65" y="4697784"/>
            <a:ext cx="816495" cy="438154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515" y="4694437"/>
            <a:ext cx="816495" cy="438154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673183"/>
            <a:ext cx="816495" cy="43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791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Solution </a:t>
            </a:r>
          </a:p>
        </p:txBody>
      </p:sp>
      <p:pic>
        <p:nvPicPr>
          <p:cNvPr id="56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29" y="1678940"/>
            <a:ext cx="6850380" cy="4274820"/>
          </a:xfrm>
        </p:spPr>
      </p:pic>
    </p:spTree>
    <p:extLst>
      <p:ext uri="{BB962C8B-B14F-4D97-AF65-F5344CB8AC3E}">
        <p14:creationId xmlns:p14="http://schemas.microsoft.com/office/powerpoint/2010/main" val="2872272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 vs. Docker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51" y="1954410"/>
            <a:ext cx="1967366" cy="21813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39" y="4437112"/>
            <a:ext cx="1979253" cy="15988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19872" y="2167990"/>
            <a:ext cx="4248471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Each virtualized application includes not only the application - which may be only 10s of MB - and the necessary binaries and libraries, but also an entire guest operating system - which may weigh 10s of GB.</a:t>
            </a:r>
          </a:p>
          <a:p>
            <a:endParaRPr lang="he-IL" dirty="0"/>
          </a:p>
        </p:txBody>
      </p:sp>
      <p:sp>
        <p:nvSpPr>
          <p:cNvPr id="9" name="TextBox 8"/>
          <p:cNvSpPr txBox="1"/>
          <p:nvPr/>
        </p:nvSpPr>
        <p:spPr>
          <a:xfrm>
            <a:off x="3419872" y="1844824"/>
            <a:ext cx="1806905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/>
              <a:t>Virtual Machines</a:t>
            </a:r>
          </a:p>
          <a:p>
            <a:endParaRPr lang="he-IL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419872" y="4256222"/>
            <a:ext cx="4464495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The Docker Engine container comprises just the application and its dependencies. It runs as an isolated process in </a:t>
            </a:r>
            <a:r>
              <a:rPr lang="en-US" dirty="0" err="1"/>
              <a:t>userspace</a:t>
            </a:r>
            <a:r>
              <a:rPr lang="en-US" dirty="0"/>
              <a:t> on the host operating system, sharing the kernel with other containers. Thus, it enjoys the resource isolation and allocation benefits of VMs but is much more portable and efficient.</a:t>
            </a:r>
            <a:endParaRPr lang="he-IL" dirty="0"/>
          </a:p>
        </p:txBody>
      </p:sp>
      <p:sp>
        <p:nvSpPr>
          <p:cNvPr id="11" name="TextBox 10"/>
          <p:cNvSpPr txBox="1"/>
          <p:nvPr/>
        </p:nvSpPr>
        <p:spPr>
          <a:xfrm>
            <a:off x="3419872" y="3933056"/>
            <a:ext cx="851708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/>
              <a:t>Docker</a:t>
            </a:r>
          </a:p>
          <a:p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73994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>
          <a:xfrm>
            <a:off x="662737" y="353728"/>
            <a:ext cx="7992888" cy="720000"/>
          </a:xfrm>
        </p:spPr>
        <p:txBody>
          <a:bodyPr/>
          <a:lstStyle/>
          <a:p>
            <a:r>
              <a:rPr lang="en-US" dirty="0"/>
              <a:t>Docker Mission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27584" y="1968058"/>
            <a:ext cx="7200800" cy="4125238"/>
            <a:chOff x="683568" y="1752034"/>
            <a:chExt cx="7200800" cy="4125238"/>
          </a:xfrm>
        </p:grpSpPr>
        <p:sp>
          <p:nvSpPr>
            <p:cNvPr id="7" name="TextBox 6"/>
            <p:cNvSpPr txBox="1"/>
            <p:nvPr/>
          </p:nvSpPr>
          <p:spPr>
            <a:xfrm>
              <a:off x="683568" y="3068960"/>
              <a:ext cx="184731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endParaRPr lang="he-IL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" panose="020B0502040504020203"/>
              </a:endParaRP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1331640" y="1772816"/>
              <a:ext cx="2217846" cy="122413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Build</a:t>
              </a: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3635896" y="1752034"/>
              <a:ext cx="2016224" cy="122413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Ship</a:t>
              </a: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5796136" y="1752034"/>
              <a:ext cx="2016224" cy="122413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Run</a:t>
              </a:r>
            </a:p>
          </p:txBody>
        </p:sp>
        <p:sp>
          <p:nvSpPr>
            <p:cNvPr id="14" name="Round Single Corner Rectangle 13"/>
            <p:cNvSpPr/>
            <p:nvPr/>
          </p:nvSpPr>
          <p:spPr>
            <a:xfrm>
              <a:off x="1331640" y="3284984"/>
              <a:ext cx="6552728" cy="1008112"/>
            </a:xfrm>
            <a:prstGeom prst="round1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1475656" y="3695430"/>
              <a:ext cx="6192688" cy="453650"/>
              <a:chOff x="1475656" y="3695430"/>
              <a:chExt cx="6192688" cy="453650"/>
            </a:xfrm>
          </p:grpSpPr>
          <p:sp>
            <p:nvSpPr>
              <p:cNvPr id="22" name="Cube 21"/>
              <p:cNvSpPr/>
              <p:nvPr/>
            </p:nvSpPr>
            <p:spPr>
              <a:xfrm>
                <a:off x="1475656" y="3695430"/>
                <a:ext cx="648072" cy="453650"/>
              </a:xfrm>
              <a:prstGeom prst="cub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App</a:t>
                </a:r>
              </a:p>
            </p:txBody>
          </p:sp>
          <p:sp>
            <p:nvSpPr>
              <p:cNvPr id="23" name="Cube 22"/>
              <p:cNvSpPr/>
              <p:nvPr/>
            </p:nvSpPr>
            <p:spPr>
              <a:xfrm>
                <a:off x="2267744" y="3695430"/>
                <a:ext cx="648072" cy="453650"/>
              </a:xfrm>
              <a:prstGeom prst="cub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App</a:t>
                </a:r>
              </a:p>
            </p:txBody>
          </p:sp>
          <p:sp>
            <p:nvSpPr>
              <p:cNvPr id="24" name="Cube 23"/>
              <p:cNvSpPr/>
              <p:nvPr/>
            </p:nvSpPr>
            <p:spPr>
              <a:xfrm>
                <a:off x="3059832" y="3695430"/>
                <a:ext cx="648072" cy="453650"/>
              </a:xfrm>
              <a:prstGeom prst="cub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App</a:t>
                </a:r>
              </a:p>
            </p:txBody>
          </p:sp>
          <p:sp>
            <p:nvSpPr>
              <p:cNvPr id="25" name="Cube 24"/>
              <p:cNvSpPr/>
              <p:nvPr/>
            </p:nvSpPr>
            <p:spPr>
              <a:xfrm>
                <a:off x="3851920" y="3695430"/>
                <a:ext cx="648072" cy="453650"/>
              </a:xfrm>
              <a:prstGeom prst="cub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App</a:t>
                </a:r>
              </a:p>
            </p:txBody>
          </p:sp>
          <p:sp>
            <p:nvSpPr>
              <p:cNvPr id="26" name="Cube 25"/>
              <p:cNvSpPr/>
              <p:nvPr/>
            </p:nvSpPr>
            <p:spPr>
              <a:xfrm>
                <a:off x="4644008" y="3695430"/>
                <a:ext cx="648072" cy="453650"/>
              </a:xfrm>
              <a:prstGeom prst="cub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App</a:t>
                </a:r>
              </a:p>
            </p:txBody>
          </p:sp>
          <p:sp>
            <p:nvSpPr>
              <p:cNvPr id="27" name="Cube 26"/>
              <p:cNvSpPr/>
              <p:nvPr/>
            </p:nvSpPr>
            <p:spPr>
              <a:xfrm>
                <a:off x="5436096" y="3695430"/>
                <a:ext cx="648072" cy="453650"/>
              </a:xfrm>
              <a:prstGeom prst="cub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App</a:t>
                </a:r>
              </a:p>
            </p:txBody>
          </p:sp>
          <p:sp>
            <p:nvSpPr>
              <p:cNvPr id="28" name="Cube 27"/>
              <p:cNvSpPr/>
              <p:nvPr/>
            </p:nvSpPr>
            <p:spPr>
              <a:xfrm>
                <a:off x="6228184" y="3695430"/>
                <a:ext cx="648072" cy="453650"/>
              </a:xfrm>
              <a:prstGeom prst="cub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App</a:t>
                </a:r>
              </a:p>
            </p:txBody>
          </p:sp>
          <p:sp>
            <p:nvSpPr>
              <p:cNvPr id="29" name="Cube 28"/>
              <p:cNvSpPr/>
              <p:nvPr/>
            </p:nvSpPr>
            <p:spPr>
              <a:xfrm>
                <a:off x="7020272" y="3695430"/>
                <a:ext cx="648072" cy="453650"/>
              </a:xfrm>
              <a:prstGeom prst="cub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App</a:t>
                </a:r>
              </a:p>
            </p:txBody>
          </p:sp>
        </p:grpSp>
        <p:sp>
          <p:nvSpPr>
            <p:cNvPr id="16" name="Round Single Corner Rectangle 15"/>
            <p:cNvSpPr/>
            <p:nvPr/>
          </p:nvSpPr>
          <p:spPr>
            <a:xfrm>
              <a:off x="1331640" y="4869160"/>
              <a:ext cx="6552728" cy="1008112"/>
            </a:xfrm>
            <a:prstGeom prst="round1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75856" y="3284984"/>
              <a:ext cx="22908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Distributed Applications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02223" y="4891896"/>
              <a:ext cx="1438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Run Anywhere</a:t>
              </a: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3728" y="5108733"/>
              <a:ext cx="833347" cy="495992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5630" y="5356729"/>
              <a:ext cx="982913" cy="2878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652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Once Run Anywhere</a:t>
            </a:r>
          </a:p>
        </p:txBody>
      </p:sp>
      <p:sp>
        <p:nvSpPr>
          <p:cNvPr id="17" name="Title 7"/>
          <p:cNvSpPr txBox="1">
            <a:spLocks/>
          </p:cNvSpPr>
          <p:nvPr/>
        </p:nvSpPr>
        <p:spPr>
          <a:xfrm>
            <a:off x="394806" y="1124744"/>
            <a:ext cx="7993618" cy="504056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ctr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000" b="0" kern="1200" dirty="0">
                <a:ln w="3175">
                  <a:noFill/>
                </a:ln>
                <a:solidFill>
                  <a:srgbClr val="F08E1B"/>
                </a:solidFill>
                <a:effectLst/>
                <a:latin typeface="Segoe Light" panose="020B03020405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 b="1" dirty="0">
              <a:solidFill>
                <a:schemeClr val="tx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sp>
        <p:nvSpPr>
          <p:cNvPr id="6" name="Alternate Process 5"/>
          <p:cNvSpPr/>
          <p:nvPr/>
        </p:nvSpPr>
        <p:spPr>
          <a:xfrm>
            <a:off x="2549230" y="2132856"/>
            <a:ext cx="4117548" cy="122413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{J,W,E} AR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55576" y="3988224"/>
            <a:ext cx="1728192" cy="1384992"/>
            <a:chOff x="1187624" y="3213991"/>
            <a:chExt cx="1440160" cy="1024952"/>
          </a:xfrm>
        </p:grpSpPr>
        <p:sp>
          <p:nvSpPr>
            <p:cNvPr id="8" name="Alternate Process 7"/>
            <p:cNvSpPr/>
            <p:nvPr/>
          </p:nvSpPr>
          <p:spPr>
            <a:xfrm>
              <a:off x="1187624" y="3213991"/>
              <a:ext cx="1440160" cy="1024952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600000"/>
                </a:lnSpc>
              </a:pPr>
              <a:r>
                <a:rPr lang="en-US" dirty="0"/>
                <a:t>Mac OS X</a:t>
              </a:r>
              <a:endParaRPr lang="en-US" sz="1600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482524" y="3284984"/>
              <a:ext cx="857228" cy="533092"/>
              <a:chOff x="1482524" y="3255948"/>
              <a:chExt cx="857228" cy="533092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1482524" y="3255948"/>
                <a:ext cx="857228" cy="53309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3685" y="3300684"/>
                <a:ext cx="666689" cy="407928"/>
              </a:xfrm>
              <a:prstGeom prst="rect">
                <a:avLst/>
              </a:prstGeom>
            </p:spPr>
          </p:pic>
        </p:grpSp>
      </p:grpSp>
      <p:grpSp>
        <p:nvGrpSpPr>
          <p:cNvPr id="15" name="Group 14"/>
          <p:cNvGrpSpPr/>
          <p:nvPr/>
        </p:nvGrpSpPr>
        <p:grpSpPr>
          <a:xfrm>
            <a:off x="2771800" y="3988224"/>
            <a:ext cx="1728192" cy="1384992"/>
            <a:chOff x="1187624" y="3213991"/>
            <a:chExt cx="1440160" cy="1024952"/>
          </a:xfrm>
        </p:grpSpPr>
        <p:sp>
          <p:nvSpPr>
            <p:cNvPr id="16" name="Alternate Process 15"/>
            <p:cNvSpPr/>
            <p:nvPr/>
          </p:nvSpPr>
          <p:spPr>
            <a:xfrm>
              <a:off x="1187624" y="3213991"/>
              <a:ext cx="1440160" cy="1024952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600000"/>
                </a:lnSpc>
              </a:pPr>
              <a:r>
                <a:rPr lang="en-US" dirty="0"/>
                <a:t>Windows</a:t>
              </a:r>
              <a:endParaRPr lang="en-US" sz="1600" dirty="0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1482524" y="3284984"/>
              <a:ext cx="857228" cy="533092"/>
              <a:chOff x="1482524" y="3255948"/>
              <a:chExt cx="857228" cy="533092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482524" y="3255948"/>
                <a:ext cx="857228" cy="53309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3685" y="3300684"/>
                <a:ext cx="666689" cy="407928"/>
              </a:xfrm>
              <a:prstGeom prst="rect">
                <a:avLst/>
              </a:prstGeom>
            </p:spPr>
          </p:pic>
        </p:grpSp>
      </p:grpSp>
      <p:grpSp>
        <p:nvGrpSpPr>
          <p:cNvPr id="21" name="Group 20"/>
          <p:cNvGrpSpPr/>
          <p:nvPr/>
        </p:nvGrpSpPr>
        <p:grpSpPr>
          <a:xfrm>
            <a:off x="4788024" y="3988224"/>
            <a:ext cx="1728192" cy="1384992"/>
            <a:chOff x="1187624" y="3213991"/>
            <a:chExt cx="1440160" cy="1024952"/>
          </a:xfrm>
        </p:grpSpPr>
        <p:sp>
          <p:nvSpPr>
            <p:cNvPr id="22" name="Alternate Process 21"/>
            <p:cNvSpPr/>
            <p:nvPr/>
          </p:nvSpPr>
          <p:spPr>
            <a:xfrm>
              <a:off x="1187624" y="3213991"/>
              <a:ext cx="1440160" cy="1024952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600000"/>
                </a:lnSpc>
              </a:pPr>
              <a:r>
                <a:rPr lang="en-US" dirty="0"/>
                <a:t>Linux</a:t>
              </a:r>
              <a:endParaRPr lang="en-US" sz="1600" dirty="0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482524" y="3284984"/>
              <a:ext cx="857228" cy="533092"/>
              <a:chOff x="1482524" y="3255948"/>
              <a:chExt cx="857228" cy="533092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1482524" y="3255948"/>
                <a:ext cx="857228" cy="53309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3685" y="3300684"/>
                <a:ext cx="666689" cy="407928"/>
              </a:xfrm>
              <a:prstGeom prst="rect">
                <a:avLst/>
              </a:prstGeom>
            </p:spPr>
          </p:pic>
        </p:grpSp>
      </p:grpSp>
      <p:grpSp>
        <p:nvGrpSpPr>
          <p:cNvPr id="26" name="Group 25"/>
          <p:cNvGrpSpPr/>
          <p:nvPr/>
        </p:nvGrpSpPr>
        <p:grpSpPr>
          <a:xfrm>
            <a:off x="6804248" y="3988224"/>
            <a:ext cx="1728192" cy="1384992"/>
            <a:chOff x="1187624" y="3213991"/>
            <a:chExt cx="1440160" cy="1024952"/>
          </a:xfrm>
        </p:grpSpPr>
        <p:sp>
          <p:nvSpPr>
            <p:cNvPr id="27" name="Alternate Process 26"/>
            <p:cNvSpPr/>
            <p:nvPr/>
          </p:nvSpPr>
          <p:spPr>
            <a:xfrm>
              <a:off x="1187624" y="3213991"/>
              <a:ext cx="1440160" cy="1024952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600000"/>
                </a:lnSpc>
              </a:pPr>
              <a:r>
                <a:rPr lang="en-US" dirty="0"/>
                <a:t>Unix</a:t>
              </a:r>
              <a:endParaRPr lang="en-US" sz="1600" dirty="0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1482524" y="3284984"/>
              <a:ext cx="857228" cy="533092"/>
              <a:chOff x="1482524" y="3255948"/>
              <a:chExt cx="857228" cy="533092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1482524" y="3255948"/>
                <a:ext cx="857228" cy="53309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0" name="Picture 2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3685" y="3300684"/>
                <a:ext cx="666689" cy="40792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24084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7"/>
          <p:cNvSpPr>
            <a:spLocks noGrp="1"/>
          </p:cNvSpPr>
          <p:nvPr>
            <p:ph type="title"/>
          </p:nvPr>
        </p:nvSpPr>
        <p:spPr>
          <a:xfrm>
            <a:off x="393243" y="405279"/>
            <a:ext cx="7992888" cy="720000"/>
          </a:xfrm>
        </p:spPr>
        <p:txBody>
          <a:bodyPr/>
          <a:lstStyle/>
          <a:p>
            <a:r>
              <a:rPr lang="en-US" dirty="0"/>
              <a:t>Package Once Run Anywhere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83568" y="2132856"/>
            <a:ext cx="7954917" cy="3672408"/>
            <a:chOff x="683568" y="2276872"/>
            <a:chExt cx="7954917" cy="3672408"/>
          </a:xfrm>
        </p:grpSpPr>
        <p:sp>
          <p:nvSpPr>
            <p:cNvPr id="10" name="TextBox 9"/>
            <p:cNvSpPr txBox="1"/>
            <p:nvPr/>
          </p:nvSpPr>
          <p:spPr>
            <a:xfrm>
              <a:off x="683568" y="3125437"/>
              <a:ext cx="184731" cy="52322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endParaRPr lang="he-IL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" panose="020B0502040504020203"/>
              </a:endParaRPr>
            </a:p>
          </p:txBody>
        </p:sp>
        <p:sp>
          <p:nvSpPr>
            <p:cNvPr id="11" name="Content Placeholder 3"/>
            <p:cNvSpPr txBox="1">
              <a:spLocks/>
            </p:cNvSpPr>
            <p:nvPr/>
          </p:nvSpPr>
          <p:spPr>
            <a:xfrm>
              <a:off x="2937082" y="4025087"/>
              <a:ext cx="5701403" cy="1924193"/>
            </a:xfrm>
            <a:prstGeom prst="rect">
              <a:avLst/>
            </a:prstGeom>
          </p:spPr>
          <p:txBody>
            <a:bodyPr lIns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Tx/>
                <a:buBlip>
                  <a:blip r:embed="rId3"/>
                </a:buBlip>
                <a:defRPr sz="2800" kern="1200">
                  <a:solidFill>
                    <a:schemeClr val="tx1"/>
                  </a:solidFill>
                  <a:latin typeface="Segoe" panose="020B0502040504020203" pitchFamily="34" charset="0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Tx/>
                <a:buBlip>
                  <a:blip r:embed="rId3"/>
                </a:buBlip>
                <a:defRPr sz="2400" kern="1200">
                  <a:solidFill>
                    <a:schemeClr val="tx1"/>
                  </a:solidFill>
                  <a:latin typeface="Segoe" panose="020B050204050402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Tx/>
                <a:buBlip>
                  <a:blip r:embed="rId3"/>
                </a:buBlip>
                <a:defRPr sz="2000" kern="1200">
                  <a:solidFill>
                    <a:schemeClr val="tx1"/>
                  </a:solidFill>
                  <a:latin typeface="Segoe" panose="020B050204050402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Tx/>
                <a:buBlip>
                  <a:blip r:embed="rId3"/>
                </a:buBlip>
                <a:defRPr sz="1800" kern="1200">
                  <a:solidFill>
                    <a:schemeClr val="tx1"/>
                  </a:solidFill>
                  <a:latin typeface="Segoe" panose="020B050204050402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Tx/>
                <a:buBlip>
                  <a:blip r:embed="rId3"/>
                </a:buBlip>
                <a:defRPr sz="1800" kern="1200">
                  <a:solidFill>
                    <a:schemeClr val="tx1"/>
                  </a:solidFill>
                  <a:latin typeface="Segoe" panose="020B0502040504020203" pitchFamily="34" charset="0"/>
                  <a:ea typeface="+mn-ea"/>
                  <a:cs typeface="+mn-cs"/>
                </a:defRPr>
              </a:lvl5pPr>
              <a:lvl6pPr marL="2514600" indent="-228600" algn="r" defTabSz="914400" rtl="1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r" defTabSz="914400" rtl="1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r" defTabSz="914400" rtl="1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r" defTabSz="914400" rtl="1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Segoe" panose="020B0502040504020203"/>
              </a:endParaRPr>
            </a:p>
          </p:txBody>
        </p:sp>
        <p:sp>
          <p:nvSpPr>
            <p:cNvPr id="6" name="Alternate Process 5"/>
            <p:cNvSpPr/>
            <p:nvPr/>
          </p:nvSpPr>
          <p:spPr>
            <a:xfrm>
              <a:off x="2549230" y="2276872"/>
              <a:ext cx="4117548" cy="1224136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Docker Image</a:t>
              </a:r>
              <a:endParaRPr lang="en-US" dirty="0"/>
            </a:p>
          </p:txBody>
        </p:sp>
        <p:sp>
          <p:nvSpPr>
            <p:cNvPr id="7" name="Alternate Process 6"/>
            <p:cNvSpPr/>
            <p:nvPr/>
          </p:nvSpPr>
          <p:spPr>
            <a:xfrm>
              <a:off x="755576" y="4116709"/>
              <a:ext cx="1728192" cy="1384992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600000"/>
                </a:lnSpc>
              </a:pPr>
              <a:r>
                <a:rPr lang="en-US" dirty="0"/>
                <a:t>Mac OS X</a:t>
              </a:r>
              <a:endParaRPr lang="en-US" sz="1600" dirty="0"/>
            </a:p>
          </p:txBody>
        </p:sp>
        <p:sp>
          <p:nvSpPr>
            <p:cNvPr id="8" name="Alternate Process 7"/>
            <p:cNvSpPr/>
            <p:nvPr/>
          </p:nvSpPr>
          <p:spPr>
            <a:xfrm>
              <a:off x="2771800" y="4116709"/>
              <a:ext cx="1728192" cy="1384992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600000"/>
                </a:lnSpc>
              </a:pPr>
              <a:r>
                <a:rPr lang="en-US" dirty="0"/>
                <a:t>Windows</a:t>
              </a:r>
              <a:endParaRPr lang="en-US" sz="1600" dirty="0"/>
            </a:p>
          </p:txBody>
        </p:sp>
        <p:sp>
          <p:nvSpPr>
            <p:cNvPr id="9" name="Alternate Process 8"/>
            <p:cNvSpPr/>
            <p:nvPr/>
          </p:nvSpPr>
          <p:spPr>
            <a:xfrm>
              <a:off x="4788024" y="4116709"/>
              <a:ext cx="1728192" cy="1384992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600000"/>
                </a:lnSpc>
              </a:pPr>
              <a:r>
                <a:rPr lang="en-US" dirty="0"/>
                <a:t>Linux</a:t>
              </a:r>
              <a:endParaRPr lang="en-US" sz="1600" dirty="0"/>
            </a:p>
          </p:txBody>
        </p:sp>
        <p:sp>
          <p:nvSpPr>
            <p:cNvPr id="13" name="Alternate Process 12"/>
            <p:cNvSpPr/>
            <p:nvPr/>
          </p:nvSpPr>
          <p:spPr>
            <a:xfrm>
              <a:off x="6804248" y="4116709"/>
              <a:ext cx="1728192" cy="1384992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600000"/>
                </a:lnSpc>
              </a:pPr>
              <a:r>
                <a:rPr lang="en-US" dirty="0"/>
                <a:t>Unix</a:t>
              </a:r>
              <a:endParaRPr lang="en-US" sz="1600" dirty="0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1109456" y="4174003"/>
              <a:ext cx="1028674" cy="840661"/>
              <a:chOff x="1109456" y="3829494"/>
              <a:chExt cx="1028674" cy="840661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109456" y="3868131"/>
                <a:ext cx="1028674" cy="720354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6" name="Picture 2" descr="https://cdn.rawgit.com/ahmetalpbalkan/docker-chocolatey/d9d3bd5a750d03fc8933e1bee4c3755f361e2797/docker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81464" y="3829494"/>
                <a:ext cx="942264" cy="8406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8" name="Group 17"/>
            <p:cNvGrpSpPr/>
            <p:nvPr/>
          </p:nvGrpSpPr>
          <p:grpSpPr>
            <a:xfrm>
              <a:off x="3131840" y="4202297"/>
              <a:ext cx="1028674" cy="840661"/>
              <a:chOff x="1109456" y="3829494"/>
              <a:chExt cx="1028674" cy="840661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109456" y="3868131"/>
                <a:ext cx="1028674" cy="720354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0" name="Picture 2" descr="https://cdn.rawgit.com/ahmetalpbalkan/docker-chocolatey/d9d3bd5a750d03fc8933e1bee4c3755f361e2797/docker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81464" y="3829494"/>
                <a:ext cx="942264" cy="8406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1" name="Group 20"/>
            <p:cNvGrpSpPr/>
            <p:nvPr/>
          </p:nvGrpSpPr>
          <p:grpSpPr>
            <a:xfrm>
              <a:off x="5180891" y="4202296"/>
              <a:ext cx="1028674" cy="840661"/>
              <a:chOff x="1109456" y="3829494"/>
              <a:chExt cx="1028674" cy="840661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1109456" y="3868131"/>
                <a:ext cx="1028674" cy="720354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3" name="Picture 2" descr="https://cdn.rawgit.com/ahmetalpbalkan/docker-chocolatey/d9d3bd5a750d03fc8933e1bee4c3755f361e2797/docker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81464" y="3829494"/>
                <a:ext cx="942264" cy="8406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4" name="Group 23"/>
            <p:cNvGrpSpPr/>
            <p:nvPr/>
          </p:nvGrpSpPr>
          <p:grpSpPr>
            <a:xfrm>
              <a:off x="7236296" y="4224721"/>
              <a:ext cx="1028674" cy="840661"/>
              <a:chOff x="1109456" y="3829494"/>
              <a:chExt cx="1028674" cy="840661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1109456" y="3868131"/>
                <a:ext cx="1028674" cy="720354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" name="Picture 2" descr="https://cdn.rawgit.com/ahmetalpbalkan/docker-chocolatey/d9d3bd5a750d03fc8933e1bee4c3755f361e2797/docker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81464" y="3829494"/>
                <a:ext cx="942264" cy="8406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915942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pic>
        <p:nvPicPr>
          <p:cNvPr id="9" name="Picture 2" descr="https://cdn.rawgit.com/ahmetalpbalkan/docker-chocolatey/d9d3bd5a750d03fc8933e1bee4c3755f361e2797/docke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" t="-813" r="-1409" b="36853"/>
          <a:stretch/>
        </p:blipFill>
        <p:spPr bwMode="auto">
          <a:xfrm>
            <a:off x="40646" y="404664"/>
            <a:ext cx="9074457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Demo</a:t>
            </a:r>
          </a:p>
        </p:txBody>
      </p:sp>
    </p:spTree>
    <p:extLst>
      <p:ext uri="{BB962C8B-B14F-4D97-AF65-F5344CB8AC3E}">
        <p14:creationId xmlns:p14="http://schemas.microsoft.com/office/powerpoint/2010/main" val="729430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Container Host: - Physical or Virtual computer system configured with the Windows Container feature.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Container OS Image: - Containers are deployed from images. The container OS image is the first layer in potentially many image layers that make up a container. This image provides the operating system environment.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Container Image: - A container image contains the base operating system, application, and all application dependencies needed to quickly deploy a container.</a:t>
            </a:r>
          </a:p>
          <a:p>
            <a:r>
              <a:rPr lang="en-US" dirty="0"/>
              <a:t>Container Registry: - Container images are stored in a container registry, and can be downloaded on demand.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Dockerfile</a:t>
            </a:r>
            <a:r>
              <a:rPr lang="en-US" dirty="0"/>
              <a:t>: - </a:t>
            </a:r>
            <a:r>
              <a:rPr lang="en-US" dirty="0" err="1"/>
              <a:t>Dockerfiles</a:t>
            </a:r>
            <a:r>
              <a:rPr lang="en-US" dirty="0"/>
              <a:t> are used to automate the creation of container images.</a:t>
            </a: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Container Fundamentals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45242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>
          <a:xfrm>
            <a:off x="560894" y="329872"/>
            <a:ext cx="7992888" cy="720000"/>
          </a:xfrm>
        </p:spPr>
        <p:txBody>
          <a:bodyPr>
            <a:normAutofit/>
          </a:bodyPr>
          <a:lstStyle/>
          <a:p>
            <a:r>
              <a:rPr lang="en-US" dirty="0"/>
              <a:t>Docker CLI (command line interface)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Engine provides the core Docker technology that enables images and containers. </a:t>
            </a:r>
            <a:br>
              <a:rPr lang="en-US" dirty="0"/>
            </a:br>
            <a:r>
              <a:rPr lang="en-US" dirty="0"/>
              <a:t>As the last step in your installation, you ran the docker run hello-world command. The command you ran had three parts.</a:t>
            </a:r>
          </a:p>
          <a:p>
            <a:pPr marL="0" indent="0">
              <a:buNone/>
            </a:pPr>
            <a:endParaRPr lang="he-IL" dirty="0"/>
          </a:p>
        </p:txBody>
      </p:sp>
      <p:grpSp>
        <p:nvGrpSpPr>
          <p:cNvPr id="9" name="Group 8"/>
          <p:cNvGrpSpPr/>
          <p:nvPr/>
        </p:nvGrpSpPr>
        <p:grpSpPr>
          <a:xfrm>
            <a:off x="2267744" y="3775099"/>
            <a:ext cx="4320480" cy="2340277"/>
            <a:chOff x="2267744" y="3775099"/>
            <a:chExt cx="4320480" cy="2340277"/>
          </a:xfrm>
        </p:grpSpPr>
        <p:sp>
          <p:nvSpPr>
            <p:cNvPr id="7" name="Rectangle 6"/>
            <p:cNvSpPr/>
            <p:nvPr/>
          </p:nvSpPr>
          <p:spPr>
            <a:xfrm>
              <a:off x="2267744" y="3775099"/>
              <a:ext cx="4320480" cy="23402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6492" y="3859280"/>
              <a:ext cx="3341692" cy="2224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9118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606252" y="2449180"/>
            <a:ext cx="7992690" cy="2286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 docker run command must specify an IMAGE to derive the container from. </a:t>
            </a:r>
            <a:br>
              <a:rPr lang="en-US" dirty="0"/>
            </a:br>
            <a:r>
              <a:rPr lang="en-US" dirty="0"/>
              <a:t>An image developer can define image defaults related to:</a:t>
            </a:r>
          </a:p>
          <a:p>
            <a:r>
              <a:rPr lang="en-US" dirty="0"/>
              <a:t>   - detached or foreground running</a:t>
            </a:r>
          </a:p>
          <a:p>
            <a:r>
              <a:rPr lang="en-US" dirty="0"/>
              <a:t>   - container identification</a:t>
            </a:r>
          </a:p>
          <a:p>
            <a:r>
              <a:rPr lang="en-US" dirty="0"/>
              <a:t>   - network settings</a:t>
            </a:r>
          </a:p>
          <a:p>
            <a:r>
              <a:rPr lang="en-US" dirty="0"/>
              <a:t>   - runtime constraints on CPU and memory</a:t>
            </a:r>
          </a:p>
          <a:p>
            <a:endParaRPr lang="en-US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8" name="Content Placeholder 7"/>
          <p:cNvSpPr>
            <a:spLocks noGrp="1"/>
          </p:cNvSpPr>
          <p:nvPr>
            <p:ph type="body" sz="quarter" idx="16"/>
          </p:nvPr>
        </p:nvSpPr>
        <p:spPr>
          <a:xfrm>
            <a:off x="581628" y="1410026"/>
            <a:ext cx="8001315" cy="593659"/>
          </a:xfrm>
        </p:spPr>
        <p:txBody>
          <a:bodyPr/>
          <a:lstStyle/>
          <a:p>
            <a:r>
              <a:rPr lang="en-US" dirty="0"/>
              <a:t>$ docker run [OPTIONS] IMAGE[:TAG|@DIGEST] [COMMAND] [ARG...]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run …</a:t>
            </a:r>
          </a:p>
        </p:txBody>
      </p:sp>
      <p:sp>
        <p:nvSpPr>
          <p:cNvPr id="17" name="Title 7"/>
          <p:cNvSpPr txBox="1">
            <a:spLocks/>
          </p:cNvSpPr>
          <p:nvPr/>
        </p:nvSpPr>
        <p:spPr>
          <a:xfrm>
            <a:off x="394807" y="1124744"/>
            <a:ext cx="5256584" cy="504056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ctr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000" b="0" kern="1200" dirty="0">
                <a:ln w="3175">
                  <a:noFill/>
                </a:ln>
                <a:solidFill>
                  <a:srgbClr val="F08E1B"/>
                </a:solidFill>
                <a:effectLst/>
                <a:latin typeface="Segoe Light" panose="020B03020405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 b="1" dirty="0">
              <a:solidFill>
                <a:schemeClr val="tx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432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75655" y="2072730"/>
            <a:ext cx="7992690" cy="3588518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 err="1"/>
              <a:t>docker</a:t>
            </a:r>
            <a:r>
              <a:rPr lang="en-US" dirty="0"/>
              <a:t> </a:t>
            </a:r>
            <a:r>
              <a:rPr lang="en-US" dirty="0" err="1"/>
              <a:t>ps</a:t>
            </a:r>
            <a:r>
              <a:rPr lang="en-US" dirty="0"/>
              <a:t> command will list the running containers on your host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docker</a:t>
            </a:r>
            <a:r>
              <a:rPr lang="en-US" dirty="0"/>
              <a:t> </a:t>
            </a:r>
            <a:r>
              <a:rPr lang="en-US" dirty="0" err="1"/>
              <a:t>ps</a:t>
            </a:r>
            <a:r>
              <a:rPr lang="en-US" dirty="0"/>
              <a:t> -a command will list the running and aborted containers on your host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he-I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571342" y="1483496"/>
            <a:ext cx="8001315" cy="585172"/>
          </a:xfrm>
        </p:spPr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docker</a:t>
            </a:r>
            <a:r>
              <a:rPr lang="en-US" dirty="0"/>
              <a:t> </a:t>
            </a:r>
            <a:r>
              <a:rPr lang="en-US" dirty="0" err="1"/>
              <a:t>ps</a:t>
            </a:r>
            <a:endParaRPr lang="en-US" dirty="0"/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</a:t>
            </a:r>
            <a:r>
              <a:rPr lang="en-US" dirty="0" err="1"/>
              <a:t>ps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75655" y="3461208"/>
            <a:ext cx="8687794" cy="5309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de-DE" sz="950" dirty="0">
                <a:solidFill>
                  <a:schemeClr val="bg1"/>
                </a:solidFill>
                <a:latin typeface="AndaleMono" charset="0"/>
              </a:rPr>
              <a:t>$ docker </a:t>
            </a:r>
            <a:r>
              <a:rPr lang="de-DE" sz="950" dirty="0" err="1">
                <a:solidFill>
                  <a:schemeClr val="bg1"/>
                </a:solidFill>
                <a:latin typeface="AndaleMono" charset="0"/>
              </a:rPr>
              <a:t>ps</a:t>
            </a:r>
            <a:br>
              <a:rPr lang="de-DE" sz="950" dirty="0">
                <a:solidFill>
                  <a:schemeClr val="bg1"/>
                </a:solidFill>
                <a:latin typeface="AndaleMono" charset="0"/>
              </a:rPr>
            </a:br>
            <a:r>
              <a:rPr lang="de-DE" sz="950" dirty="0">
                <a:solidFill>
                  <a:schemeClr val="bg1"/>
                </a:solidFill>
                <a:latin typeface="AndaleMono" charset="0"/>
              </a:rPr>
              <a:t>CONTAINER ID    IMAGE           COMMAND                 CREATED       STATUS       PORTS                    NAMES</a:t>
            </a:r>
          </a:p>
          <a:p>
            <a:r>
              <a:rPr lang="en-US" sz="950" dirty="0">
                <a:solidFill>
                  <a:schemeClr val="bg1"/>
                </a:solidFill>
                <a:latin typeface="AndaleMono" charset="0"/>
              </a:rPr>
              <a:t>5f35bb815832    registry:2      "/bin/registry /</a:t>
            </a:r>
            <a:r>
              <a:rPr lang="en-US" sz="950" dirty="0" err="1">
                <a:solidFill>
                  <a:schemeClr val="bg1"/>
                </a:solidFill>
                <a:latin typeface="AndaleMono" charset="0"/>
              </a:rPr>
              <a:t>etc</a:t>
            </a:r>
            <a:r>
              <a:rPr lang="en-US" sz="950" dirty="0">
                <a:solidFill>
                  <a:schemeClr val="bg1"/>
                </a:solidFill>
                <a:latin typeface="AndaleMono" charset="0"/>
              </a:rPr>
              <a:t>/d"  8 months ago  Up 3 hours   0.0.0.0:5000-&gt;5000/</a:t>
            </a:r>
            <a:r>
              <a:rPr lang="en-US" sz="950" dirty="0" err="1">
                <a:solidFill>
                  <a:schemeClr val="bg1"/>
                </a:solidFill>
                <a:latin typeface="AndaleMono" charset="0"/>
              </a:rPr>
              <a:t>tcp</a:t>
            </a:r>
            <a:r>
              <a:rPr lang="en-US" sz="950" dirty="0">
                <a:solidFill>
                  <a:schemeClr val="bg1"/>
                </a:solidFill>
                <a:latin typeface="AndaleMono" charset="0"/>
              </a:rPr>
              <a:t>   registry</a:t>
            </a:r>
          </a:p>
        </p:txBody>
      </p:sp>
    </p:spTree>
    <p:extLst>
      <p:ext uri="{BB962C8B-B14F-4D97-AF65-F5344CB8AC3E}">
        <p14:creationId xmlns:p14="http://schemas.microsoft.com/office/powerpoint/2010/main" val="1945066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75655" y="1844824"/>
            <a:ext cx="7992690" cy="41764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default </a:t>
            </a:r>
            <a:r>
              <a:rPr lang="en-US" dirty="0" err="1"/>
              <a:t>docker</a:t>
            </a:r>
            <a:r>
              <a:rPr lang="en-US" dirty="0"/>
              <a:t> images will show all top level images, their repository and tags, and their size.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Docker images have intermediate layers that increase reusability, decrease disk usage, and speed up </a:t>
            </a:r>
            <a:r>
              <a:rPr lang="en-US" dirty="0" err="1"/>
              <a:t>docker</a:t>
            </a:r>
            <a:r>
              <a:rPr lang="en-US" dirty="0"/>
              <a:t> build by allowing each step to be cached. </a:t>
            </a:r>
            <a:br>
              <a:rPr lang="en-US" dirty="0"/>
            </a:br>
            <a:r>
              <a:rPr lang="en-US" dirty="0"/>
              <a:t>These intermediate layers are not shown by default.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565517" y="1353451"/>
            <a:ext cx="8001315" cy="491373"/>
          </a:xfrm>
        </p:spPr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docker</a:t>
            </a:r>
            <a:r>
              <a:rPr lang="en-US" dirty="0"/>
              <a:t> images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images</a:t>
            </a:r>
          </a:p>
        </p:txBody>
      </p:sp>
    </p:spTree>
    <p:extLst>
      <p:ext uri="{BB962C8B-B14F-4D97-AF65-F5344CB8AC3E}">
        <p14:creationId xmlns:p14="http://schemas.microsoft.com/office/powerpoint/2010/main" val="4274730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26550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docker</a:t>
            </a:r>
            <a:r>
              <a:rPr lang="en-US" dirty="0"/>
              <a:t> images command takes an optional [REPOSITORY[:TAG]] argument </a:t>
            </a:r>
            <a:br>
              <a:rPr lang="en-US" dirty="0"/>
            </a:br>
            <a:r>
              <a:rPr lang="en-US" dirty="0"/>
              <a:t>that restricts the list to images that match the argument. If you specify REPOSITORY but no TAG, the </a:t>
            </a:r>
            <a:r>
              <a:rPr lang="en-US" dirty="0" err="1"/>
              <a:t>docker</a:t>
            </a:r>
            <a:r>
              <a:rPr lang="en-US" dirty="0"/>
              <a:t> images command lists all images in the given repository.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81603" y="4581128"/>
            <a:ext cx="8001315" cy="576063"/>
          </a:xfrm>
        </p:spPr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docker</a:t>
            </a:r>
            <a:r>
              <a:rPr lang="en-US" dirty="0"/>
              <a:t> images java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Listing images filter by tag/name </a:t>
            </a:r>
          </a:p>
        </p:txBody>
      </p:sp>
    </p:spTree>
    <p:extLst>
      <p:ext uri="{BB962C8B-B14F-4D97-AF65-F5344CB8AC3E}">
        <p14:creationId xmlns:p14="http://schemas.microsoft.com/office/powerpoint/2010/main" val="2291901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75655" y="2072730"/>
            <a:ext cx="7992690" cy="35885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Docker pull downloads an image from a registry (</a:t>
            </a:r>
            <a:r>
              <a:rPr lang="en-US" dirty="0">
                <a:hlinkClick r:id="rId4"/>
              </a:rPr>
              <a:t>docker hub </a:t>
            </a:r>
            <a:r>
              <a:rPr lang="en-US" dirty="0"/>
              <a:t>by default).</a:t>
            </a:r>
          </a:p>
          <a:p>
            <a:endParaRPr lang="en-US" dirty="0"/>
          </a:p>
          <a:p>
            <a:r>
              <a:rPr lang="en-US" dirty="0"/>
              <a:t>Docker hub registry contains the official and community images for </a:t>
            </a:r>
            <a:r>
              <a:rPr lang="en-US" dirty="0" err="1"/>
              <a:t>node.js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he-I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571342" y="1483496"/>
            <a:ext cx="8001315" cy="585172"/>
          </a:xfrm>
        </p:spPr>
        <p:txBody>
          <a:bodyPr/>
          <a:lstStyle/>
          <a:p>
            <a:r>
              <a:rPr lang="en-US" dirty="0"/>
              <a:t>$ docker pull [OPTIONS] NAME[:TAG|@DIGEST]</a:t>
            </a:r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pull</a:t>
            </a:r>
          </a:p>
        </p:txBody>
      </p:sp>
    </p:spTree>
    <p:extLst>
      <p:ext uri="{BB962C8B-B14F-4D97-AF65-F5344CB8AC3E}">
        <p14:creationId xmlns:p14="http://schemas.microsoft.com/office/powerpoint/2010/main" val="3619159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pic>
        <p:nvPicPr>
          <p:cNvPr id="9" name="Picture 2" descr="https://cdn.rawgit.com/ahmetalpbalkan/docker-chocolatey/d9d3bd5a750d03fc8933e1bee4c3755f361e2797/docke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" t="-813" r="-1409" b="36853"/>
          <a:stretch/>
        </p:blipFill>
        <p:spPr bwMode="auto">
          <a:xfrm>
            <a:off x="251520" y="332656"/>
            <a:ext cx="9074457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Basic Lab</a:t>
            </a:r>
          </a:p>
        </p:txBody>
      </p:sp>
    </p:spTree>
    <p:extLst>
      <p:ext uri="{BB962C8B-B14F-4D97-AF65-F5344CB8AC3E}">
        <p14:creationId xmlns:p14="http://schemas.microsoft.com/office/powerpoint/2010/main" val="2195479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509" y="2108489"/>
            <a:ext cx="4737011" cy="35527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Images Are Layered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1560" y="1492161"/>
            <a:ext cx="4536504" cy="4648200"/>
          </a:xfrm>
        </p:spPr>
        <p:txBody>
          <a:bodyPr/>
          <a:lstStyle/>
          <a:p>
            <a:r>
              <a:rPr lang="en-US" sz="2400" dirty="0"/>
              <a:t>Docker images are built as layers. Each layer represents a portion of the images file system that either adds to or replaces the layer below.</a:t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For instance you can start with a an Ubuntu image, add your application source code, and the Apache server. </a:t>
            </a:r>
            <a:br>
              <a:rPr lang="en-US" sz="2400" dirty="0"/>
            </a:br>
            <a:r>
              <a:rPr lang="en-US" sz="2400" dirty="0"/>
              <a:t>The changes will be captured only on the top layer.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9106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509" y="2108489"/>
            <a:ext cx="4737011" cy="35527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union file system?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1560" y="1492161"/>
            <a:ext cx="4608512" cy="4648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union file system is a file system that uses a collection of different file systems and directories </a:t>
            </a:r>
            <a:br>
              <a:rPr lang="en-US" dirty="0"/>
            </a:br>
            <a:r>
              <a:rPr lang="en-US" dirty="0"/>
              <a:t>(called branches) into a single logical file system.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Each branch is a layer  in the </a:t>
            </a:r>
            <a:r>
              <a:rPr lang="en-US" dirty="0" err="1"/>
              <a:t>docker</a:t>
            </a:r>
            <a:r>
              <a:rPr lang="en-US" dirty="0"/>
              <a:t> image </a:t>
            </a:r>
          </a:p>
          <a:p>
            <a:r>
              <a:rPr lang="en-US" dirty="0"/>
              <a:t>When a container starts a writable layer is added on top of the container top branch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25723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efficient</a:t>
            </a:r>
          </a:p>
          <a:p>
            <a:r>
              <a:rPr lang="en-US" dirty="0"/>
              <a:t>Sub second container instantiation time</a:t>
            </a:r>
          </a:p>
          <a:p>
            <a:r>
              <a:rPr lang="en-US" dirty="0"/>
              <a:t>New container will add less then 1mb</a:t>
            </a:r>
          </a:p>
          <a:p>
            <a:r>
              <a:rPr lang="en-US" dirty="0"/>
              <a:t>No data is duplicated on disk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49360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Volumes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 data volume is a specially-designated directory within one or more containers that bypasses the Union File System</a:t>
            </a:r>
            <a:br>
              <a:rPr lang="en-US" dirty="0"/>
            </a:br>
            <a:r>
              <a:rPr lang="en-US" dirty="0"/>
              <a:t>Data volumes provide several useful features for persistent or shared data:</a:t>
            </a:r>
          </a:p>
          <a:p>
            <a:r>
              <a:rPr lang="en-US" dirty="0"/>
              <a:t>Volumes are initialized when a container is created. </a:t>
            </a:r>
            <a:br>
              <a:rPr lang="en-US" dirty="0"/>
            </a:br>
            <a:r>
              <a:rPr lang="en-US" dirty="0"/>
              <a:t>If the container’s base image contains data at the specified mount point, that existing data is copied into the new volume upon volume initialization.</a:t>
            </a:r>
            <a:br>
              <a:rPr lang="en-US" dirty="0"/>
            </a:br>
            <a:r>
              <a:rPr lang="en-US" dirty="0"/>
              <a:t> (Note that this does not apply when mounting a host directory.)</a:t>
            </a:r>
          </a:p>
          <a:p>
            <a:r>
              <a:rPr lang="en-US" dirty="0"/>
              <a:t>Data volumes can be shared and reused among containers.</a:t>
            </a:r>
          </a:p>
          <a:p>
            <a:r>
              <a:rPr lang="en-US" dirty="0"/>
              <a:t>Changes to a data volume are made directly.</a:t>
            </a:r>
          </a:p>
          <a:p>
            <a:r>
              <a:rPr lang="en-US" dirty="0"/>
              <a:t>Changes to a data volume will not be included when you update an image.</a:t>
            </a:r>
          </a:p>
          <a:p>
            <a:r>
              <a:rPr lang="en-US" dirty="0"/>
              <a:t>Data volumes persist even if the container itself is deleted.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12794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611560" y="1268680"/>
            <a:ext cx="8004764" cy="1100146"/>
          </a:xfrm>
        </p:spPr>
        <p:txBody>
          <a:bodyPr>
            <a:noAutofit/>
          </a:bodyPr>
          <a:lstStyle/>
          <a:p>
            <a:r>
              <a:rPr lang="en-US" sz="2400" dirty="0"/>
              <a:t>Create a volume by adding the –v flag to the run command.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2624" y="2492896"/>
            <a:ext cx="8013402" cy="726476"/>
          </a:xfrm>
        </p:spPr>
        <p:txBody>
          <a:bodyPr>
            <a:normAutofit/>
          </a:bodyPr>
          <a:lstStyle/>
          <a:p>
            <a:r>
              <a:rPr lang="en-US" sz="1600" dirty="0"/>
              <a:t>$ docker run –v /</a:t>
            </a:r>
            <a:r>
              <a:rPr lang="en-US" sz="1600" dirty="0" err="1"/>
              <a:t>var</a:t>
            </a:r>
            <a:r>
              <a:rPr lang="en-US" sz="1600" dirty="0"/>
              <a:t>/www node</a:t>
            </a:r>
          </a:p>
          <a:p>
            <a:endParaRPr lang="he-IL" sz="1600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data Volume 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8298B7E-41BB-CC4C-BEDF-3FCF244D1D46}"/>
              </a:ext>
            </a:extLst>
          </p:cNvPr>
          <p:cNvSpPr txBox="1">
            <a:spLocks/>
          </p:cNvSpPr>
          <p:nvPr/>
        </p:nvSpPr>
        <p:spPr>
          <a:xfrm>
            <a:off x="602624" y="3294200"/>
            <a:ext cx="7992690" cy="1286928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 baseline="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can locate the volume on the host by utilizing the docker inspect command.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8699962-1BF0-B146-9B3A-B6E413F819BD}"/>
              </a:ext>
            </a:extLst>
          </p:cNvPr>
          <p:cNvSpPr txBox="1">
            <a:spLocks/>
          </p:cNvSpPr>
          <p:nvPr/>
        </p:nvSpPr>
        <p:spPr bwMode="blackWhite">
          <a:xfrm>
            <a:off x="602680" y="4443587"/>
            <a:ext cx="8001315" cy="1707831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$ docker inspect web </a:t>
            </a:r>
          </a:p>
          <a:p>
            <a:r>
              <a:rPr lang="en-US" dirty="0"/>
              <a:t>... </a:t>
            </a:r>
            <a:br>
              <a:rPr lang="en-US" dirty="0"/>
            </a:br>
            <a:r>
              <a:rPr lang="en-US" dirty="0"/>
              <a:t>"Mounts": [ </a:t>
            </a:r>
          </a:p>
          <a:p>
            <a:r>
              <a:rPr lang="en-US" dirty="0"/>
              <a:t>	{ "Name": "fac362...80535", 	  		  	   	  </a:t>
            </a:r>
          </a:p>
          <a:p>
            <a:r>
              <a:rPr lang="en-US" dirty="0"/>
              <a:t>	  "Source": "/</a:t>
            </a:r>
            <a:r>
              <a:rPr lang="en-US" dirty="0" err="1"/>
              <a:t>var</a:t>
            </a:r>
            <a:r>
              <a:rPr lang="en-US" dirty="0"/>
              <a:t>/lib/docker/volumes/fac362...80535/_data", </a:t>
            </a:r>
          </a:p>
          <a:p>
            <a:r>
              <a:rPr lang="en-US" dirty="0"/>
              <a:t>	  "Destination": "/</a:t>
            </a:r>
            <a:r>
              <a:rPr lang="en-US" dirty="0" err="1"/>
              <a:t>webapp</a:t>
            </a:r>
            <a:r>
              <a:rPr lang="en-US" dirty="0"/>
              <a:t>",</a:t>
            </a:r>
          </a:p>
          <a:p>
            <a:r>
              <a:rPr lang="en-US" dirty="0"/>
              <a:t>	   …</a:t>
            </a:r>
          </a:p>
          <a:p>
            <a:r>
              <a:rPr lang="en-US" dirty="0"/>
              <a:t>	} ]</a:t>
            </a:r>
          </a:p>
          <a:p>
            <a:r>
              <a:rPr lang="en-US" dirty="0"/>
              <a:t> 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930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611560" y="1268679"/>
            <a:ext cx="8004764" cy="1299777"/>
          </a:xfrm>
        </p:spPr>
        <p:txBody>
          <a:bodyPr>
            <a:noAutofit/>
          </a:bodyPr>
          <a:lstStyle/>
          <a:p>
            <a:r>
              <a:rPr lang="en-US" sz="2400" dirty="0"/>
              <a:t>The –v flag value would include a mapping between the host directory and the container directory separated by a </a:t>
            </a:r>
            <a:r>
              <a:rPr lang="en-US" sz="2400" b="1" dirty="0"/>
              <a:t>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2624" y="2774532"/>
            <a:ext cx="8013402" cy="726476"/>
          </a:xfrm>
        </p:spPr>
        <p:txBody>
          <a:bodyPr>
            <a:normAutofit/>
          </a:bodyPr>
          <a:lstStyle/>
          <a:p>
            <a:r>
              <a:rPr lang="en-US" dirty="0"/>
              <a:t>$ docker run –v [host directory]:[container directory] node</a:t>
            </a:r>
          </a:p>
          <a:p>
            <a:endParaRPr lang="he-IL" sz="1600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Host Directory As Data Volume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8298B7E-41BB-CC4C-BEDF-3FCF244D1D46}"/>
              </a:ext>
            </a:extLst>
          </p:cNvPr>
          <p:cNvSpPr txBox="1">
            <a:spLocks/>
          </p:cNvSpPr>
          <p:nvPr/>
        </p:nvSpPr>
        <p:spPr>
          <a:xfrm>
            <a:off x="602624" y="3942272"/>
            <a:ext cx="7992690" cy="1286928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 baseline="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the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$(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pwd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dirty="0"/>
              <a:t>placeholder to map the current working directory</a:t>
            </a:r>
          </a:p>
          <a:p>
            <a:endParaRPr lang="he-IL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8699962-1BF0-B146-9B3A-B6E413F819BD}"/>
              </a:ext>
            </a:extLst>
          </p:cNvPr>
          <p:cNvSpPr txBox="1">
            <a:spLocks/>
          </p:cNvSpPr>
          <p:nvPr/>
        </p:nvSpPr>
        <p:spPr bwMode="blackWhite">
          <a:xfrm>
            <a:off x="602680" y="5373216"/>
            <a:ext cx="8001315" cy="778202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$ docker run –v $(</a:t>
            </a:r>
            <a:r>
              <a:rPr lang="en-US" dirty="0" err="1"/>
              <a:t>pwd</a:t>
            </a:r>
            <a:r>
              <a:rPr lang="en-US" dirty="0"/>
              <a:t>):/</a:t>
            </a:r>
            <a:r>
              <a:rPr lang="en-US" dirty="0" err="1"/>
              <a:t>var</a:t>
            </a:r>
            <a:r>
              <a:rPr lang="en-US" dirty="0"/>
              <a:t>/www node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169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C18FBD-D83F-3546-B255-E874B9FC63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1560" y="1196752"/>
            <a:ext cx="7992690" cy="43204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Node apps are usually servers that are listening on a specific port.</a:t>
            </a:r>
          </a:p>
          <a:p>
            <a:r>
              <a:rPr lang="en-US" dirty="0"/>
              <a:t>In order for us to be able to browse our node app, we need to map the host port to the container port the app is listening.</a:t>
            </a:r>
          </a:p>
          <a:p>
            <a:r>
              <a:rPr lang="en-US" dirty="0"/>
              <a:t>To map a port use the –p flag in the run command</a:t>
            </a:r>
          </a:p>
          <a:p>
            <a:r>
              <a:rPr lang="en-US" dirty="0"/>
              <a:t>The –p flag value would include a mapping between the host directory and the container directory separated by a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3868D-90A8-5940-8D18-0614682655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2680" y="5580024"/>
            <a:ext cx="8001315" cy="571394"/>
          </a:xfrm>
        </p:spPr>
        <p:txBody>
          <a:bodyPr/>
          <a:lstStyle/>
          <a:p>
            <a:r>
              <a:rPr lang="en-US" dirty="0"/>
              <a:t>$ docker run –v $(</a:t>
            </a:r>
            <a:r>
              <a:rPr lang="en-US" dirty="0" err="1"/>
              <a:t>pwd</a:t>
            </a:r>
            <a:r>
              <a:rPr lang="en-US" dirty="0"/>
              <a:t>):/</a:t>
            </a:r>
            <a:r>
              <a:rPr lang="en-US" dirty="0" err="1"/>
              <a:t>var</a:t>
            </a:r>
            <a:r>
              <a:rPr lang="en-US" dirty="0"/>
              <a:t>/www –p 8080:3000 node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77495C-1848-4648-96F2-2F0813B22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Mapping</a:t>
            </a:r>
          </a:p>
        </p:txBody>
      </p:sp>
    </p:spTree>
    <p:extLst>
      <p:ext uri="{BB962C8B-B14F-4D97-AF65-F5344CB8AC3E}">
        <p14:creationId xmlns:p14="http://schemas.microsoft.com/office/powerpoint/2010/main" val="1157682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pic>
        <p:nvPicPr>
          <p:cNvPr id="9" name="Picture 2" descr="https://cdn.rawgit.com/ahmetalpbalkan/docker-chocolatey/d9d3bd5a750d03fc8933e1bee4c3755f361e2797/docke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" t="-813" r="-1409" b="36853"/>
          <a:stretch/>
        </p:blipFill>
        <p:spPr bwMode="auto">
          <a:xfrm>
            <a:off x="251520" y="332656"/>
            <a:ext cx="9074457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 in a Container</a:t>
            </a:r>
          </a:p>
        </p:txBody>
      </p:sp>
    </p:spTree>
    <p:extLst>
      <p:ext uri="{BB962C8B-B14F-4D97-AF65-F5344CB8AC3E}">
        <p14:creationId xmlns:p14="http://schemas.microsoft.com/office/powerpoint/2010/main" val="781556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Container</a:t>
            </a:r>
            <a:r>
              <a:rPr lang="en-US" sz="3600" dirty="0">
                <a:latin typeface="Segoe UI" charset="0"/>
                <a:ea typeface="Segoe UI" charset="0"/>
                <a:cs typeface="Segoe UI" charset="0"/>
              </a:rPr>
              <a:t> </a:t>
            </a:r>
            <a:r>
              <a:rPr lang="en-US" dirty="0"/>
              <a:t>As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Docker can build images automatically by reading the instructions from a Dockerfile.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 Dockerfile is a text document that contains all the commands a user could call on the command line to assemble an image. Using </a:t>
            </a:r>
            <a:r>
              <a:rPr lang="en-US" dirty="0" err="1"/>
              <a:t>docker</a:t>
            </a:r>
            <a:r>
              <a:rPr lang="en-US" dirty="0"/>
              <a:t> build users can create an automated build that executes several command-line instructions in succession.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67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560" y="1479398"/>
            <a:ext cx="8280920" cy="42255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FROM ubuntu:14.04</a:t>
            </a:r>
          </a:p>
          <a:p>
            <a:r>
              <a:rPr lang="en-US" sz="2400" dirty="0">
                <a:solidFill>
                  <a:schemeClr val="bg1"/>
                </a:solidFill>
              </a:rPr>
              <a:t>RUN \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apt-get update &amp;&amp; \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apt-get -y install apache2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VOLUME /</a:t>
            </a:r>
            <a:r>
              <a:rPr lang="en-US" sz="2400" dirty="0" err="1">
                <a:solidFill>
                  <a:schemeClr val="bg1"/>
                </a:solidFill>
              </a:rPr>
              <a:t>myvol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ADD </a:t>
            </a:r>
            <a:r>
              <a:rPr lang="en-US" sz="2400" dirty="0" err="1">
                <a:solidFill>
                  <a:schemeClr val="bg1"/>
                </a:solidFill>
              </a:rPr>
              <a:t>index.html</a:t>
            </a:r>
            <a:r>
              <a:rPr lang="en-US" sz="2400" dirty="0">
                <a:solidFill>
                  <a:schemeClr val="bg1"/>
                </a:solidFill>
              </a:rPr>
              <a:t> /</a:t>
            </a:r>
            <a:r>
              <a:rPr lang="en-US" sz="2400" dirty="0" err="1">
                <a:solidFill>
                  <a:schemeClr val="bg1"/>
                </a:solidFill>
              </a:rPr>
              <a:t>var</a:t>
            </a:r>
            <a:r>
              <a:rPr lang="en-US" sz="2400" dirty="0">
                <a:solidFill>
                  <a:schemeClr val="bg1"/>
                </a:solidFill>
              </a:rPr>
              <a:t>/www/html/</a:t>
            </a:r>
            <a:r>
              <a:rPr lang="en-US" sz="2400" dirty="0" err="1">
                <a:solidFill>
                  <a:schemeClr val="bg1"/>
                </a:solidFill>
              </a:rPr>
              <a:t>index.html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EXPOSE 80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CMD ["/</a:t>
            </a:r>
            <a:r>
              <a:rPr lang="en-US" sz="2400" dirty="0" err="1">
                <a:solidFill>
                  <a:schemeClr val="bg1"/>
                </a:solidFill>
              </a:rPr>
              <a:t>usr</a:t>
            </a:r>
            <a:r>
              <a:rPr lang="en-US" sz="2400" dirty="0">
                <a:solidFill>
                  <a:schemeClr val="bg1"/>
                </a:solidFill>
              </a:rPr>
              <a:t>/</a:t>
            </a:r>
            <a:r>
              <a:rPr lang="en-US" sz="2400" dirty="0" err="1">
                <a:solidFill>
                  <a:schemeClr val="bg1"/>
                </a:solidFill>
              </a:rPr>
              <a:t>sbin</a:t>
            </a:r>
            <a:r>
              <a:rPr lang="en-US" sz="2400" dirty="0">
                <a:solidFill>
                  <a:schemeClr val="bg1"/>
                </a:solidFill>
              </a:rPr>
              <a:t>/apache2ctl", "-D", "FOREGROUND"]</a:t>
            </a:r>
            <a:endParaRPr lang="he-IL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860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3174668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The FROM instruction sets the Base Image for subsequent instructions. </a:t>
            </a:r>
            <a:br>
              <a:rPr lang="en-US" dirty="0"/>
            </a:br>
            <a:r>
              <a:rPr lang="en-US" dirty="0"/>
              <a:t>As such, a valid </a:t>
            </a:r>
            <a:r>
              <a:rPr lang="en-US" dirty="0" err="1"/>
              <a:t>Dockerfile</a:t>
            </a:r>
            <a:r>
              <a:rPr lang="en-US" dirty="0"/>
              <a:t> must have FROM as its first instruction. </a:t>
            </a:r>
            <a:br>
              <a:rPr lang="en-US" dirty="0"/>
            </a:br>
            <a:r>
              <a:rPr lang="en-US" dirty="0"/>
              <a:t>The image can be any valid image – it is especially easy to start by pulling an image from </a:t>
            </a:r>
            <a:r>
              <a:rPr lang="en-US" dirty="0" err="1"/>
              <a:t>dockerhub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571342" y="4930706"/>
            <a:ext cx="8001315" cy="1224135"/>
          </a:xfrm>
        </p:spPr>
        <p:txBody>
          <a:bodyPr/>
          <a:lstStyle/>
          <a:p>
            <a:r>
              <a:rPr lang="en-US" dirty="0"/>
              <a:t>FROM &lt;image&gt;</a:t>
            </a:r>
          </a:p>
          <a:p>
            <a:r>
              <a:rPr lang="en-US" dirty="0"/>
              <a:t>FROM &lt;image&gt;:&lt;tag&gt;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Dockerfile instructions – FROM</a:t>
            </a:r>
          </a:p>
        </p:txBody>
      </p:sp>
    </p:spTree>
    <p:extLst>
      <p:ext uri="{BB962C8B-B14F-4D97-AF65-F5344CB8AC3E}">
        <p14:creationId xmlns:p14="http://schemas.microsoft.com/office/powerpoint/2010/main" val="37030200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317466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An ENTRYPOINT allows you to configure a container that will run as an executable.</a:t>
            </a:r>
          </a:p>
          <a:p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571342" y="4930706"/>
            <a:ext cx="8001315" cy="1224135"/>
          </a:xfrm>
        </p:spPr>
        <p:txBody>
          <a:bodyPr/>
          <a:lstStyle/>
          <a:p>
            <a:r>
              <a:rPr lang="en-US" dirty="0"/>
              <a:t>ENTRYPOINT [“</a:t>
            </a:r>
            <a:r>
              <a:rPr lang="en-US" dirty="0" err="1"/>
              <a:t>npm</a:t>
            </a:r>
            <a:r>
              <a:rPr lang="en-US" dirty="0"/>
              <a:t>”,”start”]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Dockerfile instructions – ENTRYPOINT</a:t>
            </a:r>
          </a:p>
        </p:txBody>
      </p:sp>
    </p:spTree>
    <p:extLst>
      <p:ext uri="{BB962C8B-B14F-4D97-AF65-F5344CB8AC3E}">
        <p14:creationId xmlns:p14="http://schemas.microsoft.com/office/powerpoint/2010/main" val="20107652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3015120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The main purpose of a CMD is to provide defaults for an executing container. </a:t>
            </a:r>
            <a:br>
              <a:rPr lang="en-US" dirty="0"/>
            </a:br>
            <a:r>
              <a:rPr lang="en-US" dirty="0"/>
              <a:t>These defaults can include an executable, or they can omit the executable, in which case you must specify an ENTRYPOINT instruction as well.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he-I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602680" y="4941168"/>
            <a:ext cx="8001315" cy="1210250"/>
          </a:xfrm>
        </p:spPr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ubuntu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CMD echo "This is a test." | </a:t>
            </a:r>
            <a:r>
              <a:rPr lang="en-US" dirty="0" err="1"/>
              <a:t>wc</a:t>
            </a:r>
            <a:r>
              <a:rPr lang="en-US" dirty="0"/>
              <a:t> -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Dockerfile instructions - CMD</a:t>
            </a:r>
          </a:p>
        </p:txBody>
      </p:sp>
    </p:spTree>
    <p:extLst>
      <p:ext uri="{BB962C8B-B14F-4D97-AF65-F5344CB8AC3E}">
        <p14:creationId xmlns:p14="http://schemas.microsoft.com/office/powerpoint/2010/main" val="13973283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3087128"/>
          </a:xfrm>
        </p:spPr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/>
              <a:t>The RUN instruction will execute any commands in a new layer on top of the current image and commit the results. The resulting committed image will be used for the next step in the </a:t>
            </a:r>
            <a:r>
              <a:rPr lang="en-US" dirty="0" err="1"/>
              <a:t>Dockerfile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602680" y="4941168"/>
            <a:ext cx="8001315" cy="1210250"/>
          </a:xfrm>
        </p:spPr>
        <p:txBody>
          <a:bodyPr/>
          <a:lstStyle/>
          <a:p>
            <a:r>
              <a:rPr lang="en-US" dirty="0"/>
              <a:t>FROM &lt;image&gt;</a:t>
            </a:r>
          </a:p>
          <a:p>
            <a:r>
              <a:rPr lang="en-US" dirty="0"/>
              <a:t>FROM &lt;image&gt;:&lt;tag&gt;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Dockerfile instructions - RUN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073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3159136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The EXPOSE instruction informs Docker that the container listens on the specified network ports at </a:t>
            </a:r>
            <a:r>
              <a:rPr lang="en-US" dirty="0" err="1"/>
              <a:t>runtime.EXPOSE</a:t>
            </a:r>
            <a:r>
              <a:rPr lang="en-US" dirty="0"/>
              <a:t> does not make the ports of the container accessible to the host. </a:t>
            </a:r>
            <a:br>
              <a:rPr lang="en-US" dirty="0"/>
            </a:br>
            <a:r>
              <a:rPr lang="en-US" dirty="0"/>
              <a:t>To do that, you must use either the -p flag to publish a range of ports or the -P flag to publish all of the exposed ports. </a:t>
            </a:r>
            <a:br>
              <a:rPr lang="en-US" dirty="0"/>
            </a:br>
            <a:r>
              <a:rPr lang="en-US" dirty="0"/>
              <a:t>You can expose one port number and publish it externally under another number.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602680" y="5354960"/>
            <a:ext cx="8001315" cy="796458"/>
          </a:xfrm>
        </p:spPr>
        <p:txBody>
          <a:bodyPr/>
          <a:lstStyle/>
          <a:p>
            <a:r>
              <a:rPr lang="en-US" dirty="0"/>
              <a:t>EXPOSE &lt;port&gt; [&lt;port&gt;...]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Dockerfile instructions - EXPOSE</a:t>
            </a:r>
          </a:p>
        </p:txBody>
      </p:sp>
    </p:spTree>
    <p:extLst>
      <p:ext uri="{BB962C8B-B14F-4D97-AF65-F5344CB8AC3E}">
        <p14:creationId xmlns:p14="http://schemas.microsoft.com/office/powerpoint/2010/main" val="30399052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2943112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dirty="0"/>
              <a:t>The COPY instruction copies new files or directories from &lt;</a:t>
            </a:r>
            <a:r>
              <a:rPr lang="en-US" dirty="0" err="1"/>
              <a:t>src</a:t>
            </a:r>
            <a:r>
              <a:rPr lang="en-US" dirty="0"/>
              <a:t>&gt; and adds them to the </a:t>
            </a:r>
            <a:r>
              <a:rPr lang="en-US" dirty="0" err="1"/>
              <a:t>filesystem</a:t>
            </a:r>
            <a:r>
              <a:rPr lang="en-US" dirty="0"/>
              <a:t> of the container at the path &lt;</a:t>
            </a:r>
            <a:r>
              <a:rPr lang="en-US" dirty="0" err="1"/>
              <a:t>dest</a:t>
            </a:r>
            <a:r>
              <a:rPr lang="en-US" dirty="0"/>
              <a:t>&gt;.</a:t>
            </a:r>
          </a:p>
          <a:p>
            <a:r>
              <a:rPr lang="en-US" dirty="0"/>
              <a:t>Multiple &lt;</a:t>
            </a:r>
            <a:r>
              <a:rPr lang="en-US" dirty="0" err="1"/>
              <a:t>src</a:t>
            </a:r>
            <a:r>
              <a:rPr lang="en-US" dirty="0"/>
              <a:t>&gt; resource may be specified but they must be relative to the source directory that is being built (the context of the build).</a:t>
            </a:r>
          </a:p>
          <a:p>
            <a:r>
              <a:rPr lang="en-US" dirty="0"/>
              <a:t>Each &lt;</a:t>
            </a:r>
            <a:r>
              <a:rPr lang="en-US" dirty="0" err="1"/>
              <a:t>src</a:t>
            </a:r>
            <a:r>
              <a:rPr lang="en-US" dirty="0"/>
              <a:t>&gt; may contain wildcards and matching will be done using Go’s </a:t>
            </a:r>
            <a:r>
              <a:rPr lang="en-US" dirty="0" err="1"/>
              <a:t>filepath.Match</a:t>
            </a:r>
            <a:r>
              <a:rPr lang="en-US" dirty="0"/>
              <a:t> rules. </a:t>
            </a:r>
          </a:p>
          <a:p>
            <a:endParaRPr lang="he-I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602680" y="4869160"/>
            <a:ext cx="8001315" cy="1282258"/>
          </a:xfrm>
        </p:spPr>
        <p:txBody>
          <a:bodyPr/>
          <a:lstStyle/>
          <a:p>
            <a:r>
              <a:rPr lang="en-US" dirty="0"/>
              <a:t>COPY </a:t>
            </a:r>
            <a:r>
              <a:rPr lang="en-US" dirty="0" err="1"/>
              <a:t>hom</a:t>
            </a:r>
            <a:r>
              <a:rPr lang="en-US" dirty="0"/>
              <a:t>* /</a:t>
            </a:r>
            <a:r>
              <a:rPr lang="en-US" dirty="0" err="1"/>
              <a:t>mydir</a:t>
            </a:r>
            <a:r>
              <a:rPr lang="en-US" dirty="0"/>
              <a:t>/ # adds all files starting with "</a:t>
            </a:r>
            <a:r>
              <a:rPr lang="en-US" dirty="0" err="1"/>
              <a:t>hom</a:t>
            </a:r>
            <a:r>
              <a:rPr lang="en-US" dirty="0"/>
              <a:t>" </a:t>
            </a:r>
            <a:br>
              <a:rPr lang="en-US" dirty="0"/>
            </a:br>
            <a:r>
              <a:rPr lang="en-US" dirty="0"/>
              <a:t>COPY </a:t>
            </a:r>
            <a:r>
              <a:rPr lang="en-US" dirty="0" err="1"/>
              <a:t>hom</a:t>
            </a:r>
            <a:r>
              <a:rPr lang="en-US" dirty="0"/>
              <a:t>?.txt /</a:t>
            </a:r>
            <a:r>
              <a:rPr lang="en-US" dirty="0" err="1"/>
              <a:t>mydir</a:t>
            </a:r>
            <a:r>
              <a:rPr lang="en-US" dirty="0"/>
              <a:t>/ # ? is replaced with any single character, e.g., "home.txt"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Dockerfile instructions - COPY</a:t>
            </a:r>
          </a:p>
        </p:txBody>
      </p:sp>
    </p:spTree>
    <p:extLst>
      <p:ext uri="{BB962C8B-B14F-4D97-AF65-F5344CB8AC3E}">
        <p14:creationId xmlns:p14="http://schemas.microsoft.com/office/powerpoint/2010/main" val="5670908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3303152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dirty="0"/>
              <a:t>The VOLUME instruction creates a mount point with the specified name and marks it as holding externally mounted volumes from native host or other containers. </a:t>
            </a:r>
            <a:br>
              <a:rPr lang="en-US" dirty="0"/>
            </a:br>
            <a:r>
              <a:rPr lang="en-US" dirty="0"/>
              <a:t>The value can be a JSON array, VOLUME ["/</a:t>
            </a:r>
            <a:r>
              <a:rPr lang="en-US" dirty="0" err="1"/>
              <a:t>var</a:t>
            </a:r>
            <a:r>
              <a:rPr lang="en-US" dirty="0"/>
              <a:t>/log/"], or a plain string with multiple arguments, such as VOLUME /</a:t>
            </a:r>
            <a:r>
              <a:rPr lang="en-US" dirty="0" err="1"/>
              <a:t>var</a:t>
            </a:r>
            <a:r>
              <a:rPr lang="en-US" dirty="0"/>
              <a:t>/log or VOLUME /</a:t>
            </a:r>
            <a:r>
              <a:rPr lang="en-US" dirty="0" err="1"/>
              <a:t>var</a:t>
            </a:r>
            <a:r>
              <a:rPr lang="en-US" dirty="0"/>
              <a:t>/log /</a:t>
            </a:r>
            <a:r>
              <a:rPr lang="en-US" dirty="0" err="1"/>
              <a:t>var</a:t>
            </a:r>
            <a:r>
              <a:rPr lang="en-US" dirty="0"/>
              <a:t>/db. For more information/examples and mounting instructions via the Docker client, refer to Share Directories via Volumes documentation.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he-IL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602680" y="5354960"/>
            <a:ext cx="8001315" cy="796458"/>
          </a:xfrm>
        </p:spPr>
        <p:txBody>
          <a:bodyPr/>
          <a:lstStyle/>
          <a:p>
            <a:r>
              <a:rPr lang="en-US" dirty="0"/>
              <a:t>VOLUME ["/data"]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Dockerfile instructions - VOLUME</a:t>
            </a:r>
          </a:p>
        </p:txBody>
      </p:sp>
    </p:spTree>
    <p:extLst>
      <p:ext uri="{BB962C8B-B14F-4D97-AF65-F5344CB8AC3E}">
        <p14:creationId xmlns:p14="http://schemas.microsoft.com/office/powerpoint/2010/main" val="3706608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11560" y="1052736"/>
            <a:ext cx="7992690" cy="374441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ENV instruction allows you to assign environment variables.</a:t>
            </a:r>
            <a:br>
              <a:rPr lang="en-US" dirty="0"/>
            </a:br>
            <a:endParaRPr lang="en-US" dirty="0"/>
          </a:p>
          <a:p>
            <a:endParaRPr lang="he-IL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602680" y="5354960"/>
            <a:ext cx="8001315" cy="796458"/>
          </a:xfrm>
        </p:spPr>
        <p:txBody>
          <a:bodyPr/>
          <a:lstStyle/>
          <a:p>
            <a:r>
              <a:rPr lang="en-US" dirty="0"/>
              <a:t>ENV NODE_ENV=production 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Dockerfile instructions - ENV</a:t>
            </a:r>
          </a:p>
        </p:txBody>
      </p:sp>
    </p:spTree>
    <p:extLst>
      <p:ext uri="{BB962C8B-B14F-4D97-AF65-F5344CB8AC3E}">
        <p14:creationId xmlns:p14="http://schemas.microsoft.com/office/powerpoint/2010/main" val="29437897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11560" y="1052736"/>
            <a:ext cx="7992690" cy="374441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 WORKDIR instruction sets the working directory for any RUN, CMD, ENTRYPOINT, </a:t>
            </a:r>
            <a:br>
              <a:rPr lang="en-US" dirty="0"/>
            </a:br>
            <a:r>
              <a:rPr lang="en-US" dirty="0"/>
              <a:t>COPY and ADD instructions that follow it in the </a:t>
            </a:r>
            <a:r>
              <a:rPr lang="en-US" dirty="0" err="1"/>
              <a:t>Dockerfile</a:t>
            </a:r>
            <a:endParaRPr lang="he-IL" dirty="0"/>
          </a:p>
          <a:p>
            <a:endParaRPr lang="he-IL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602680" y="5354960"/>
            <a:ext cx="8001315" cy="796458"/>
          </a:xfrm>
        </p:spPr>
        <p:txBody>
          <a:bodyPr/>
          <a:lstStyle/>
          <a:p>
            <a:r>
              <a:rPr lang="en-US" dirty="0"/>
              <a:t>ENV NODE_ENV=production 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Dockerfile instructions - WORKDIR</a:t>
            </a:r>
          </a:p>
        </p:txBody>
      </p:sp>
    </p:spTree>
    <p:extLst>
      <p:ext uri="{BB962C8B-B14F-4D97-AF65-F5344CB8AC3E}">
        <p14:creationId xmlns:p14="http://schemas.microsoft.com/office/powerpoint/2010/main" val="4711593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Command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use the build command to package a container form a Dockerfile.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build process will run on the </a:t>
            </a:r>
            <a:r>
              <a:rPr lang="en-US" dirty="0" err="1"/>
              <a:t>docker</a:t>
            </a:r>
            <a:r>
              <a:rPr lang="en-US" dirty="0"/>
              <a:t> daemon that will use the context we will provide on the build command.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Build command can use one of the options as a build context</a:t>
            </a:r>
          </a:p>
          <a:p>
            <a:r>
              <a:rPr lang="en-US" dirty="0"/>
              <a:t>PATH</a:t>
            </a:r>
          </a:p>
          <a:p>
            <a:r>
              <a:rPr lang="en-US" dirty="0"/>
              <a:t>URL  </a:t>
            </a:r>
          </a:p>
          <a:p>
            <a:r>
              <a:rPr lang="en-US" dirty="0"/>
              <a:t>TAR file</a:t>
            </a:r>
          </a:p>
        </p:txBody>
      </p:sp>
    </p:spTree>
    <p:extLst>
      <p:ext uri="{BB962C8B-B14F-4D97-AF65-F5344CB8AC3E}">
        <p14:creationId xmlns:p14="http://schemas.microsoft.com/office/powerpoint/2010/main" val="6842187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61610" y="2996952"/>
            <a:ext cx="7992690" cy="311330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This example specifies that the PATH is  . , and so all the files in the local directory get </a:t>
            </a:r>
            <a:r>
              <a:rPr lang="en-US" dirty="0" err="1"/>
              <a:t>tard</a:t>
            </a:r>
            <a:r>
              <a:rPr lang="en-US" dirty="0"/>
              <a:t> and sent to the Docker daemon. </a:t>
            </a:r>
            <a:br>
              <a:rPr lang="en-US" dirty="0"/>
            </a:br>
            <a:r>
              <a:rPr lang="en-US" dirty="0"/>
              <a:t>The PATH specifies where to find the files for the “context” of the build on the Docker daemon.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Remember that the daemon could be running on a remote machine and that no parsing of the </a:t>
            </a:r>
            <a:r>
              <a:rPr lang="en-US" dirty="0" err="1"/>
              <a:t>Dockerfile</a:t>
            </a:r>
            <a:r>
              <a:rPr lang="en-US" dirty="0"/>
              <a:t> happens at the client side </a:t>
            </a:r>
            <a:br>
              <a:rPr lang="en-US" dirty="0"/>
            </a:br>
            <a:r>
              <a:rPr lang="en-US" dirty="0"/>
              <a:t>(where you’re running </a:t>
            </a:r>
            <a:r>
              <a:rPr lang="en-US" dirty="0" err="1"/>
              <a:t>docker</a:t>
            </a:r>
            <a:r>
              <a:rPr lang="en-US" dirty="0"/>
              <a:t> build).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That means that all the files at PATH get sent, not just the ones listed to ADD in the </a:t>
            </a:r>
            <a:r>
              <a:rPr lang="en-US" dirty="0" err="1"/>
              <a:t>Dockerfile</a:t>
            </a:r>
            <a:r>
              <a:rPr lang="en-US" dirty="0"/>
              <a:t>. </a:t>
            </a:r>
          </a:p>
          <a:p>
            <a:endParaRPr lang="en-US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531125" y="1716107"/>
            <a:ext cx="8001315" cy="691311"/>
          </a:xfrm>
        </p:spPr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docker</a:t>
            </a:r>
            <a:r>
              <a:rPr lang="en-US" dirty="0"/>
              <a:t> build –t </a:t>
            </a:r>
            <a:r>
              <a:rPr lang="en-US" dirty="0" err="1"/>
              <a:t>name:tag</a:t>
            </a:r>
            <a:r>
              <a:rPr lang="en-US" dirty="0"/>
              <a:t>  .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 From Path 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39569" y="-163292"/>
            <a:ext cx="8168628" cy="3501054"/>
            <a:chOff x="469857" y="6021288"/>
            <a:chExt cx="8168628" cy="1484789"/>
          </a:xfrm>
        </p:grpSpPr>
        <p:sp>
          <p:nvSpPr>
            <p:cNvPr id="6" name="Rectangle 5"/>
            <p:cNvSpPr/>
            <p:nvPr/>
          </p:nvSpPr>
          <p:spPr>
            <a:xfrm>
              <a:off x="469858" y="6896518"/>
              <a:ext cx="158633" cy="6095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sp>
          <p:nvSpPr>
            <p:cNvPr id="2" name="Rectangle 1"/>
            <p:cNvSpPr/>
            <p:nvPr/>
          </p:nvSpPr>
          <p:spPr>
            <a:xfrm>
              <a:off x="469857" y="6021288"/>
              <a:ext cx="816862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75326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251106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You should normally use a some kind of  naming and </a:t>
            </a:r>
            <a:r>
              <a:rPr lang="en-US" dirty="0" err="1"/>
              <a:t>taging</a:t>
            </a:r>
            <a:r>
              <a:rPr lang="en-US" dirty="0"/>
              <a:t> when building a container.</a:t>
            </a:r>
          </a:p>
          <a:p>
            <a:r>
              <a:rPr lang="en-US" dirty="0"/>
              <a:t>Tags can be used to manage container versions or branches.</a:t>
            </a:r>
          </a:p>
          <a:p>
            <a:endParaRPr lang="en-US" dirty="0"/>
          </a:p>
          <a:p>
            <a:r>
              <a:rPr lang="en-US" dirty="0"/>
              <a:t>Use –t or –tag to name our container in the format of </a:t>
            </a:r>
            <a:br>
              <a:rPr lang="en-US" dirty="0"/>
            </a:br>
            <a:r>
              <a:rPr lang="en-US" dirty="0"/>
              <a:t>	-t </a:t>
            </a:r>
            <a:r>
              <a:rPr lang="en-US" dirty="0" err="1"/>
              <a:t>name:tag</a:t>
            </a:r>
            <a:br>
              <a:rPr lang="en-US" dirty="0"/>
            </a:br>
            <a:r>
              <a:rPr lang="en-US" dirty="0"/>
              <a:t>	-t username/</a:t>
            </a:r>
            <a:r>
              <a:rPr lang="en-US" dirty="0" err="1"/>
              <a:t>container_name:tag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he-IL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602680" y="4149080"/>
            <a:ext cx="8001315" cy="2002338"/>
          </a:xfrm>
        </p:spPr>
        <p:txBody>
          <a:bodyPr/>
          <a:lstStyle/>
          <a:p>
            <a:r>
              <a:rPr lang="de-DE" dirty="0"/>
              <a:t>$ docker build –t name:tag  https://github.com/docker/rootfs.git#container:docker </a:t>
            </a:r>
          </a:p>
          <a:p>
            <a:br>
              <a:rPr lang="de-DE" dirty="0"/>
            </a:br>
            <a:r>
              <a:rPr lang="de-DE" dirty="0"/>
              <a:t>$ docker build –t name:tag  .</a:t>
            </a:r>
            <a:br>
              <a:rPr lang="de-DE" dirty="0"/>
            </a:br>
            <a:endParaRPr lang="de-DE" dirty="0"/>
          </a:p>
          <a:p>
            <a:r>
              <a:rPr lang="de-DE" dirty="0"/>
              <a:t>$ docker build –t name:tag  http://server/context.tar.gz</a:t>
            </a:r>
          </a:p>
          <a:p>
            <a:endParaRPr lang="de-DE" dirty="0"/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Naming and Tags</a:t>
            </a:r>
          </a:p>
        </p:txBody>
      </p:sp>
    </p:spTree>
    <p:extLst>
      <p:ext uri="{BB962C8B-B14F-4D97-AF65-F5344CB8AC3E}">
        <p14:creationId xmlns:p14="http://schemas.microsoft.com/office/powerpoint/2010/main" val="40943390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pic>
        <p:nvPicPr>
          <p:cNvPr id="9" name="Picture 2" descr="https://cdn.rawgit.com/ahmetalpbalkan/docker-chocolatey/d9d3bd5a750d03fc8933e1bee4c3755f361e2797/docke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" t="-813" r="-1409" b="36853"/>
          <a:stretch/>
        </p:blipFill>
        <p:spPr bwMode="auto">
          <a:xfrm>
            <a:off x="69543" y="404664"/>
            <a:ext cx="9074457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Files Lab</a:t>
            </a:r>
          </a:p>
        </p:txBody>
      </p:sp>
    </p:spTree>
    <p:extLst>
      <p:ext uri="{BB962C8B-B14F-4D97-AF65-F5344CB8AC3E}">
        <p14:creationId xmlns:p14="http://schemas.microsoft.com/office/powerpoint/2010/main" val="35469715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CFC0-CC05-4540-BE66-E1B170AB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046B8-C252-8547-945A-1F298082E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reasons Docker containers are so powerful is that you can connect them together.</a:t>
            </a:r>
          </a:p>
          <a:p>
            <a:endParaRPr lang="en-US" dirty="0"/>
          </a:p>
          <a:p>
            <a:r>
              <a:rPr lang="en-US" dirty="0"/>
              <a:t>In order for container to communicate they need to be in the same network</a:t>
            </a:r>
          </a:p>
        </p:txBody>
      </p:sp>
    </p:spTree>
    <p:extLst>
      <p:ext uri="{BB962C8B-B14F-4D97-AF65-F5344CB8AC3E}">
        <p14:creationId xmlns:p14="http://schemas.microsoft.com/office/powerpoint/2010/main" val="22223257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type="body" sz="quarter" idx="15"/>
          </p:nvPr>
        </p:nvSpPr>
        <p:spPr>
          <a:xfrm>
            <a:off x="611560" y="1305063"/>
            <a:ext cx="7992690" cy="32040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Docker Engine creates a bridge network automatically when you install the Engine.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addition to this network, you can create your own bridge or overlay network.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you run docker network create and supply only a network name, it creates a bridge network for you.</a:t>
            </a:r>
          </a:p>
          <a:p>
            <a:endParaRPr lang="he-IL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ABAB15-90C7-1246-BFE5-C5CBA27B5E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2680" y="4545503"/>
            <a:ext cx="8001315" cy="1605915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//create a network</a:t>
            </a:r>
          </a:p>
          <a:p>
            <a:r>
              <a:rPr lang="en-US" dirty="0"/>
              <a:t>docker network create [NETWORK_NAME]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//list all networks</a:t>
            </a:r>
          </a:p>
          <a:p>
            <a:r>
              <a:rPr lang="en-US" dirty="0"/>
              <a:t>docker network ls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//show network details </a:t>
            </a:r>
          </a:p>
          <a:p>
            <a:r>
              <a:rPr lang="en-US" dirty="0"/>
              <a:t>docker network inspect [NETWORK_NAME | NETWORK_ID] </a:t>
            </a: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Create</a:t>
            </a:r>
          </a:p>
        </p:txBody>
      </p:sp>
    </p:spTree>
    <p:extLst>
      <p:ext uri="{BB962C8B-B14F-4D97-AF65-F5344CB8AC3E}">
        <p14:creationId xmlns:p14="http://schemas.microsoft.com/office/powerpoint/2010/main" val="28966815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running a container using the run command, you can connect it to a network by using the </a:t>
            </a:r>
            <a:r>
              <a:rPr lang="en-US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–-net </a:t>
            </a:r>
            <a:r>
              <a:rPr lang="en-US" sz="2400" dirty="0"/>
              <a:t>flag</a:t>
            </a:r>
          </a:p>
          <a:p>
            <a:endParaRPr lang="en-US" sz="2400" dirty="0"/>
          </a:p>
          <a:p>
            <a:r>
              <a:rPr lang="en-US" sz="2400" dirty="0"/>
              <a:t>Once inside a network you can connect to another container by their name.</a:t>
            </a:r>
          </a:p>
          <a:p>
            <a:endParaRPr lang="he-IL" sz="2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295A9B-BF34-0F43-AD7F-7495366B60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//run node app container inside the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isolated_network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network </a:t>
            </a:r>
          </a:p>
          <a:p>
            <a:r>
              <a:rPr lang="en-US" dirty="0"/>
              <a:t>docker run –d --net=</a:t>
            </a:r>
            <a:r>
              <a:rPr lang="en-US" dirty="0" err="1"/>
              <a:t>isolated_network</a:t>
            </a:r>
            <a:r>
              <a:rPr lang="en-US" dirty="0"/>
              <a:t> –-name </a:t>
            </a:r>
            <a:r>
              <a:rPr lang="en-US" b="1" dirty="0" err="1"/>
              <a:t>nodeapp</a:t>
            </a:r>
            <a:r>
              <a:rPr lang="en-US" dirty="0"/>
              <a:t> </a:t>
            </a:r>
            <a:r>
              <a:rPr lang="en-US" dirty="0" err="1"/>
              <a:t>sela</a:t>
            </a:r>
            <a:r>
              <a:rPr lang="en-US" dirty="0"/>
              <a:t>/my-node-app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//run mongo container inside the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isolated_network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network </a:t>
            </a:r>
            <a:endParaRPr lang="en-US" dirty="0"/>
          </a:p>
          <a:p>
            <a:r>
              <a:rPr lang="en-US" dirty="0"/>
              <a:t>docker run –d --net=</a:t>
            </a:r>
            <a:r>
              <a:rPr lang="en-US" dirty="0" err="1"/>
              <a:t>isolated_network</a:t>
            </a:r>
            <a:r>
              <a:rPr lang="en-US" dirty="0"/>
              <a:t> –-name </a:t>
            </a:r>
            <a:r>
              <a:rPr lang="en-US" b="1" dirty="0" err="1"/>
              <a:t>mongodb</a:t>
            </a:r>
            <a:r>
              <a:rPr lang="en-US" dirty="0"/>
              <a:t> mongo</a:t>
            </a:r>
          </a:p>
          <a:p>
            <a:endParaRPr lang="en-US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a network</a:t>
            </a:r>
          </a:p>
        </p:txBody>
      </p:sp>
    </p:spTree>
    <p:extLst>
      <p:ext uri="{BB962C8B-B14F-4D97-AF65-F5344CB8AC3E}">
        <p14:creationId xmlns:p14="http://schemas.microsoft.com/office/powerpoint/2010/main" val="32720280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pic>
        <p:nvPicPr>
          <p:cNvPr id="9" name="Picture 2" descr="https://cdn.rawgit.com/ahmetalpbalkan/docker-chocolatey/d9d3bd5a750d03fc8933e1bee4c3755f361e2797/docke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" t="-813" r="-1409" b="36853"/>
          <a:stretch/>
        </p:blipFill>
        <p:spPr bwMode="auto">
          <a:xfrm>
            <a:off x="0" y="332656"/>
            <a:ext cx="9074457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Networks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0159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Container With Compose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Compose is a tool for defining and running complex applications with Docker.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With compose, you define a multi-container application in a single file, then spin your application up in a single command which does everything that needs to be done to get it running.</a:t>
            </a:r>
          </a:p>
          <a:p>
            <a:r>
              <a:rPr lang="en-US" dirty="0"/>
              <a:t>Also known as : </a:t>
            </a:r>
            <a:r>
              <a:rPr lang="en-US" dirty="0" err="1"/>
              <a:t>docker</a:t>
            </a:r>
            <a:r>
              <a:rPr lang="en-US" dirty="0"/>
              <a:t>-compose, fig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he-IL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5085184"/>
            <a:ext cx="1289236" cy="52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850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11429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Compose file is a YAML file defining services, networks and volumes. </a:t>
            </a:r>
          </a:p>
          <a:p>
            <a:r>
              <a:rPr lang="en-US" dirty="0"/>
              <a:t>Docker-compose is YML file and it is spaced not tabbed 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602680" y="2862233"/>
            <a:ext cx="8001315" cy="3289186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version: '3' </a:t>
            </a:r>
          </a:p>
          <a:p>
            <a:r>
              <a:rPr lang="fr-FR" dirty="0"/>
              <a:t>services: </a:t>
            </a:r>
          </a:p>
          <a:p>
            <a:r>
              <a:rPr lang="fr-FR" dirty="0"/>
              <a:t>  web: </a:t>
            </a:r>
            <a:r>
              <a:rPr lang="fr-FR" dirty="0" err="1"/>
              <a:t>build</a:t>
            </a:r>
            <a:r>
              <a:rPr lang="fr-FR" dirty="0"/>
              <a:t>: . </a:t>
            </a:r>
          </a:p>
          <a:p>
            <a:r>
              <a:rPr lang="fr-FR" dirty="0"/>
              <a:t>  ports: - "5000:5000" </a:t>
            </a:r>
          </a:p>
          <a:p>
            <a:r>
              <a:rPr lang="fr-FR" dirty="0"/>
              <a:t>  volumes: </a:t>
            </a:r>
          </a:p>
          <a:p>
            <a:r>
              <a:rPr lang="fr-FR" dirty="0"/>
              <a:t>  - .:/code </a:t>
            </a:r>
          </a:p>
          <a:p>
            <a:r>
              <a:rPr lang="fr-FR" dirty="0"/>
              <a:t>  - logvolume01:/var/log </a:t>
            </a:r>
          </a:p>
          <a:p>
            <a:r>
              <a:rPr lang="fr-FR" dirty="0"/>
              <a:t>  links: </a:t>
            </a:r>
          </a:p>
          <a:p>
            <a:r>
              <a:rPr lang="fr-FR" dirty="0"/>
              <a:t>  - redis </a:t>
            </a:r>
          </a:p>
          <a:p>
            <a:r>
              <a:rPr lang="fr-FR" dirty="0"/>
              <a:t>redis: </a:t>
            </a:r>
          </a:p>
          <a:p>
            <a:r>
              <a:rPr lang="fr-FR" dirty="0"/>
              <a:t>    image: redis </a:t>
            </a:r>
          </a:p>
          <a:p>
            <a:r>
              <a:rPr lang="fr-FR" dirty="0"/>
              <a:t>volumes: logvolume01: {}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Docker-compose File </a:t>
            </a:r>
          </a:p>
        </p:txBody>
      </p:sp>
    </p:spTree>
    <p:extLst>
      <p:ext uri="{BB962C8B-B14F-4D97-AF65-F5344CB8AC3E}">
        <p14:creationId xmlns:p14="http://schemas.microsoft.com/office/powerpoint/2010/main" val="3932972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15860" y="4018305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3519176"/>
          </a:xfrm>
        </p:spPr>
        <p:txBody>
          <a:bodyPr>
            <a:normAutofit/>
          </a:bodyPr>
          <a:lstStyle/>
          <a:p>
            <a:r>
              <a:rPr lang="en-US" dirty="0"/>
              <a:t>The </a:t>
            </a:r>
            <a:r>
              <a:rPr lang="en-US" dirty="0" err="1"/>
              <a:t>docker</a:t>
            </a:r>
            <a:r>
              <a:rPr lang="en-US" dirty="0"/>
              <a:t>-compose up will start all the containers listed in the “</a:t>
            </a:r>
            <a:r>
              <a:rPr lang="en-US" dirty="0" err="1"/>
              <a:t>docker-compose.yml</a:t>
            </a:r>
            <a:r>
              <a:rPr lang="en-US" dirty="0"/>
              <a:t>” file based on the dependencies in the file.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Running </a:t>
            </a:r>
            <a:r>
              <a:rPr lang="en-US" dirty="0" err="1"/>
              <a:t>docker</a:t>
            </a:r>
            <a:r>
              <a:rPr lang="en-US" dirty="0"/>
              <a:t>-compose up -d starts the containers in the background and leaves them running.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2680" y="5354960"/>
            <a:ext cx="8001315" cy="796458"/>
          </a:xfrm>
        </p:spPr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docker</a:t>
            </a:r>
            <a:r>
              <a:rPr lang="en-US" dirty="0"/>
              <a:t>-compose up -d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Commands -  Compose up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4343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15860" y="4018305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List all the containers belong to the compose environment instance </a:t>
            </a:r>
          </a:p>
          <a:p>
            <a:endParaRPr lang="he-I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2680" y="3873731"/>
            <a:ext cx="8001315" cy="707397"/>
          </a:xfrm>
        </p:spPr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docker</a:t>
            </a:r>
            <a:r>
              <a:rPr lang="en-US" dirty="0"/>
              <a:t>-compose </a:t>
            </a:r>
            <a:r>
              <a:rPr lang="en-US" dirty="0" err="1"/>
              <a:t>ps</a:t>
            </a:r>
            <a:endParaRPr lang="en-US" dirty="0"/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Commands -  Compose </a:t>
            </a:r>
            <a:r>
              <a:rPr lang="en-US" dirty="0" err="1"/>
              <a:t>ps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6967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Preserve Volume data</a:t>
            </a:r>
          </a:p>
        </p:txBody>
      </p:sp>
      <p:sp>
        <p:nvSpPr>
          <p:cNvPr id="13" name="Content Placeholder 12"/>
          <p:cNvSpPr txBox="1">
            <a:spLocks noGrp="1"/>
          </p:cNvSpPr>
          <p:nvPr>
            <p:ph idx="1"/>
          </p:nvPr>
        </p:nvSpPr>
        <p:spPr>
          <a:xfrm>
            <a:off x="539552" y="1492161"/>
            <a:ext cx="7848872" cy="4450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Preserve volume data when containers are created.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Compose preserves all volumes used by your services.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r>
              <a:rPr lang="en-US" sz="2400" dirty="0"/>
              <a:t>When docker-compose up runs, if it finds any containers from previous runs, it copies the volumes from the old container to the new container.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This process ensures that any data you’ve created in volumes isn’t lost.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25160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Changed Aware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Only recreate containers that have changed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Compose caches the configuration used to create a container.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When you restart a service that has not changed, Compose re-uses the existing containers.</a:t>
            </a:r>
            <a:br>
              <a:rPr lang="en-US" dirty="0"/>
            </a:br>
            <a:r>
              <a:rPr lang="en-US" dirty="0"/>
              <a:t> </a:t>
            </a:r>
          </a:p>
          <a:p>
            <a:r>
              <a:rPr lang="en-US" dirty="0"/>
              <a:t>Re-using containers means that you can make changes to your environment very quickly.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4689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Variables for moving a composition between environments</a:t>
            </a:r>
          </a:p>
          <a:p>
            <a:r>
              <a:rPr lang="en-US" dirty="0"/>
              <a:t>Compose supports variables in the Compose file.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You can use these variables to customize your composition for different environments, or different users. 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2680" y="3873731"/>
            <a:ext cx="8001315" cy="1643501"/>
          </a:xfrm>
        </p:spPr>
        <p:txBody>
          <a:bodyPr/>
          <a:lstStyle/>
          <a:p>
            <a:r>
              <a:rPr lang="en-US" dirty="0"/>
              <a:t>web: </a:t>
            </a:r>
          </a:p>
          <a:p>
            <a:r>
              <a:rPr lang="en-US" dirty="0"/>
              <a:t>  build: . </a:t>
            </a:r>
          </a:p>
          <a:p>
            <a:r>
              <a:rPr lang="en-US" dirty="0"/>
              <a:t>  ports: </a:t>
            </a:r>
          </a:p>
          <a:p>
            <a:r>
              <a:rPr lang="en-US" dirty="0"/>
              <a:t>      - "${EXTERNAL_PORT}:5000"</a:t>
            </a:r>
          </a:p>
          <a:p>
            <a:endParaRPr lang="he-IL" dirty="0"/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19248206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 Compose sets up a single network for your app. Each container for a service joins the default network and is both reachable by other containers on that network, and discoverable by them at a hostname identical to the container name.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0447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67544" y="4143090"/>
            <a:ext cx="8280920" cy="20517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When you run </a:t>
            </a:r>
            <a:r>
              <a:rPr lang="en-US" sz="2000" dirty="0" err="1"/>
              <a:t>docker</a:t>
            </a:r>
            <a:r>
              <a:rPr lang="en-US" sz="2000" dirty="0"/>
              <a:t>-compose up, on the compose file below.</a:t>
            </a:r>
            <a:br>
              <a:rPr lang="en-US" sz="2000" dirty="0"/>
            </a:br>
            <a:r>
              <a:rPr lang="en-US" sz="2000" dirty="0"/>
              <a:t>the following happens:</a:t>
            </a:r>
          </a:p>
          <a:p>
            <a:r>
              <a:rPr lang="en-US" sz="2000" dirty="0"/>
              <a:t>A network called </a:t>
            </a:r>
            <a:r>
              <a:rPr lang="en-US" sz="2000" dirty="0" err="1"/>
              <a:t>myapp_default</a:t>
            </a:r>
            <a:r>
              <a:rPr lang="en-US" sz="2000" dirty="0"/>
              <a:t> is created.</a:t>
            </a:r>
          </a:p>
          <a:p>
            <a:r>
              <a:rPr lang="en-US" sz="2000" dirty="0"/>
              <a:t>A container is created using web’s configuration. </a:t>
            </a:r>
            <a:br>
              <a:rPr lang="en-US" sz="2000" dirty="0"/>
            </a:br>
            <a:r>
              <a:rPr lang="en-US" sz="2000" dirty="0"/>
              <a:t>It joins the network </a:t>
            </a:r>
            <a:r>
              <a:rPr lang="en-US" sz="2000" dirty="0" err="1"/>
              <a:t>myapp_default</a:t>
            </a:r>
            <a:r>
              <a:rPr lang="en-US" sz="2000" dirty="0"/>
              <a:t> under the </a:t>
            </a:r>
            <a:r>
              <a:rPr lang="en-US" sz="2000" dirty="0" err="1"/>
              <a:t>nameweb</a:t>
            </a:r>
            <a:r>
              <a:rPr lang="en-US" sz="2000" dirty="0"/>
              <a:t>.</a:t>
            </a:r>
          </a:p>
          <a:p>
            <a:r>
              <a:rPr lang="en-US" sz="2000" dirty="0"/>
              <a:t>A container is created using </a:t>
            </a:r>
            <a:r>
              <a:rPr lang="en-US" sz="2000" dirty="0" err="1"/>
              <a:t>db’s</a:t>
            </a:r>
            <a:r>
              <a:rPr lang="en-US" sz="2000" dirty="0"/>
              <a:t> configuration. </a:t>
            </a:r>
            <a:br>
              <a:rPr lang="en-US" sz="2000" dirty="0"/>
            </a:br>
            <a:r>
              <a:rPr lang="en-US" sz="2000" dirty="0"/>
              <a:t>It joins the network </a:t>
            </a:r>
            <a:r>
              <a:rPr lang="en-US" sz="2000" dirty="0" err="1"/>
              <a:t>myapp_default</a:t>
            </a:r>
            <a:r>
              <a:rPr lang="en-US" sz="2000" dirty="0"/>
              <a:t> under the </a:t>
            </a:r>
            <a:r>
              <a:rPr lang="en-US" sz="2000" dirty="0" err="1"/>
              <a:t>namedb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he-IL" sz="2000" dirty="0"/>
          </a:p>
        </p:txBody>
      </p:sp>
      <p:sp>
        <p:nvSpPr>
          <p:cNvPr id="2" name="Rectangle 1"/>
          <p:cNvSpPr/>
          <p:nvPr/>
        </p:nvSpPr>
        <p:spPr>
          <a:xfrm>
            <a:off x="576064" y="4277414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version: '3' 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services: 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  web: 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    build: . 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    ports: - "8000:8000" </a:t>
            </a:r>
          </a:p>
          <a:p>
            <a:r>
              <a:rPr lang="en-US" sz="1600" dirty="0" err="1">
                <a:solidFill>
                  <a:schemeClr val="bg1"/>
                </a:solidFill>
                <a:latin typeface="Consolas" charset="0"/>
              </a:rPr>
              <a:t>db</a:t>
            </a:r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: 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  image: </a:t>
            </a:r>
            <a:r>
              <a:rPr lang="en-US" sz="1600" dirty="0" err="1">
                <a:solidFill>
                  <a:schemeClr val="bg1"/>
                </a:solidFill>
                <a:latin typeface="Consolas" charset="0"/>
              </a:rPr>
              <a:t>postgres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2618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62154" y="4188830"/>
            <a:ext cx="8280920" cy="20517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2937082" y="3968610"/>
            <a:ext cx="5701403" cy="1924193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Segoe" panose="020B0502040504020203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Now each container can now look up the hostname web or </a:t>
            </a:r>
            <a:r>
              <a:rPr lang="en-US" sz="2000" dirty="0" err="1"/>
              <a:t>db</a:t>
            </a:r>
            <a:r>
              <a:rPr lang="en-US" sz="2000" dirty="0"/>
              <a:t> and get back the appropriate container’s IP address.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For example, web’s application code could connect to the URL postgres://db:5432 and start using the </a:t>
            </a:r>
            <a:r>
              <a:rPr lang="en-US" sz="2000" dirty="0" err="1"/>
              <a:t>Postgres</a:t>
            </a:r>
            <a:r>
              <a:rPr lang="en-US" sz="2000" dirty="0"/>
              <a:t> database.</a:t>
            </a:r>
          </a:p>
          <a:p>
            <a:r>
              <a:rPr lang="en-US" sz="2000" dirty="0"/>
              <a:t>Because web explicitly maps a port, and also accessible from the outside world via port 8000 on your Docker host’s network interface.</a:t>
            </a:r>
          </a:p>
          <a:p>
            <a:endParaRPr lang="he-IL" sz="2000" dirty="0"/>
          </a:p>
        </p:txBody>
      </p:sp>
      <p:sp>
        <p:nvSpPr>
          <p:cNvPr id="2" name="Rectangle 1"/>
          <p:cNvSpPr/>
          <p:nvPr/>
        </p:nvSpPr>
        <p:spPr>
          <a:xfrm>
            <a:off x="576064" y="4277414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version: '2' 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services: 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  web: 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    build: . 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    ports: - "8000:8000" </a:t>
            </a:r>
          </a:p>
          <a:p>
            <a:r>
              <a:rPr lang="en-US" sz="1600" dirty="0" err="1">
                <a:solidFill>
                  <a:schemeClr val="bg1"/>
                </a:solidFill>
                <a:latin typeface="Consolas" charset="0"/>
              </a:rPr>
              <a:t>db</a:t>
            </a:r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: 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charset="0"/>
              </a:rPr>
              <a:t>  image: </a:t>
            </a:r>
            <a:r>
              <a:rPr lang="en-US" sz="1600" dirty="0" err="1">
                <a:solidFill>
                  <a:schemeClr val="bg1"/>
                </a:solidFill>
                <a:latin typeface="Consolas" charset="0"/>
              </a:rPr>
              <a:t>postgres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0116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3068960"/>
            <a:ext cx="18473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he-IL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" panose="020B0502040504020203"/>
            </a:endParaRPr>
          </a:p>
        </p:txBody>
      </p:sp>
      <p:pic>
        <p:nvPicPr>
          <p:cNvPr id="9" name="Picture 2" descr="https://cdn.rawgit.com/ahmetalpbalkan/docker-chocolatey/d9d3bd5a750d03fc8933e1bee4c3755f361e2797/docke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" t="-813" r="-1409" b="36853"/>
          <a:stretch/>
        </p:blipFill>
        <p:spPr bwMode="auto">
          <a:xfrm>
            <a:off x="69543" y="404664"/>
            <a:ext cx="9074457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Compose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513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525837"/>
      </p:ext>
    </p:extLst>
  </p:cSld>
  <p:clrMapOvr>
    <a:masterClrMapping/>
  </p:clrMapOvr>
</p:sld>
</file>

<file path=ppt/theme/theme1.xml><?xml version="1.0" encoding="utf-8"?>
<a:theme xmlns:a="http://schemas.openxmlformats.org/drawingml/2006/main" name="Sela_Template_Ver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room Template V7 25.11.13 Make White to Black" id="{E062658E-901E-44D3-B422-66D76065D245}" vid="{1776DC93-6F3D-4DBD-8C85-4E226CAF9B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12BCB557AA5D448C5593FF71F2A488" ma:contentTypeVersion="18" ma:contentTypeDescription="Create a new document." ma:contentTypeScope="" ma:versionID="d175e59a1bd19b1be338db9d12d18235">
  <xsd:schema xmlns:xsd="http://www.w3.org/2001/XMLSchema" xmlns:xs="http://www.w3.org/2001/XMLSchema" xmlns:p="http://schemas.microsoft.com/office/2006/metadata/properties" xmlns:ns2="49dc0417-29c6-4bb5-ae98-f937f0a30532" xmlns:ns3="d58f348b-938b-40b8-8bae-5456f1a0ae9d" targetNamespace="http://schemas.microsoft.com/office/2006/metadata/properties" ma:root="true" ma:fieldsID="291e6b7977c31ae3a105bf1f73c6d6a4" ns2:_="" ns3:_="">
    <xsd:import namespace="49dc0417-29c6-4bb5-ae98-f937f0a30532"/>
    <xsd:import namespace="d58f348b-938b-40b8-8bae-5456f1a0ae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AAA" minOccurs="0"/>
                <xsd:element ref="ns2:lcf76f155ced4ddcb4097134ff3c332f" minOccurs="0"/>
                <xsd:element ref="ns3:TaxCatchAll" minOccurs="0"/>
                <xsd:element ref="ns2:Hyp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c0417-29c6-4bb5-ae98-f937f0a305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AAA" ma:index="21" nillable="true" ma:displayName="AAA" ma:format="DateOnly" ma:internalName="AA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3256489-8307-4614-a501-3741224748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Hyperlink" ma:index="25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8f348b-938b-40b8-8bae-5456f1a0ae9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92e702-67e0-4df4-9ad4-8876b702b22c}" ma:internalName="TaxCatchAll" ma:showField="CatchAllData" ma:web="d58f348b-938b-40b8-8bae-5456f1a0ae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AA xmlns="49dc0417-29c6-4bb5-ae98-f937f0a30532" xsi:nil="true"/>
    <TaxCatchAll xmlns="d58f348b-938b-40b8-8bae-5456f1a0ae9d" xsi:nil="true"/>
    <lcf76f155ced4ddcb4097134ff3c332f xmlns="49dc0417-29c6-4bb5-ae98-f937f0a30532">
      <Terms xmlns="http://schemas.microsoft.com/office/infopath/2007/PartnerControls"/>
    </lcf76f155ced4ddcb4097134ff3c332f>
    <Hyperlink xmlns="49dc0417-29c6-4bb5-ae98-f937f0a30532">
      <Url xsi:nil="true"/>
      <Description xsi:nil="true"/>
    </Hyperlink>
  </documentManagement>
</p:properties>
</file>

<file path=customXml/itemProps1.xml><?xml version="1.0" encoding="utf-8"?>
<ds:datastoreItem xmlns:ds="http://schemas.openxmlformats.org/officeDocument/2006/customXml" ds:itemID="{50CE3CE5-B483-4F92-A145-3099C0FA9FAD}"/>
</file>

<file path=customXml/itemProps2.xml><?xml version="1.0" encoding="utf-8"?>
<ds:datastoreItem xmlns:ds="http://schemas.openxmlformats.org/officeDocument/2006/customXml" ds:itemID="{C9FE9A75-9A51-47BD-8260-4D6FE76E3001}"/>
</file>

<file path=customXml/itemProps3.xml><?xml version="1.0" encoding="utf-8"?>
<ds:datastoreItem xmlns:ds="http://schemas.openxmlformats.org/officeDocument/2006/customXml" ds:itemID="{7EFFBCFD-261A-4041-97C2-F74F87C1BE9F}"/>
</file>

<file path=docProps/app.xml><?xml version="1.0" encoding="utf-8"?>
<Properties xmlns="http://schemas.openxmlformats.org/officeDocument/2006/extended-properties" xmlns:vt="http://schemas.openxmlformats.org/officeDocument/2006/docPropsVTypes">
  <Template>Classroom Template V7 25.11.13 Make White to Black</Template>
  <TotalTime>2032</TotalTime>
  <Words>1736</Words>
  <Application>Microsoft Macintosh PowerPoint</Application>
  <PresentationFormat>On-screen Show (4:3)</PresentationFormat>
  <Paragraphs>512</Paragraphs>
  <Slides>64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AndaleMono</vt:lpstr>
      <vt:lpstr>Arial</vt:lpstr>
      <vt:lpstr>Calibri</vt:lpstr>
      <vt:lpstr>Consolas</vt:lpstr>
      <vt:lpstr>Courier New</vt:lpstr>
      <vt:lpstr>Segoe</vt:lpstr>
      <vt:lpstr>Segoe Light</vt:lpstr>
      <vt:lpstr>Segoe UI</vt:lpstr>
      <vt:lpstr>Sela_Template_Ver_01</vt:lpstr>
      <vt:lpstr>PowerPoint Presentation</vt:lpstr>
      <vt:lpstr>Agenda</vt:lpstr>
      <vt:lpstr>Node Architectures</vt:lpstr>
      <vt:lpstr>Docker - What is Docker ?</vt:lpstr>
      <vt:lpstr>Docker History</vt:lpstr>
      <vt:lpstr>What Are Containers </vt:lpstr>
      <vt:lpstr>Why Docker</vt:lpstr>
      <vt:lpstr>The Matrix From Hell</vt:lpstr>
      <vt:lpstr>The Matrix From Hell</vt:lpstr>
      <vt:lpstr>Shipping Industry Solution</vt:lpstr>
      <vt:lpstr>Shipping Industry Solution</vt:lpstr>
      <vt:lpstr>Docker Solution </vt:lpstr>
      <vt:lpstr>VM vs. Docker</vt:lpstr>
      <vt:lpstr>Docker Mission</vt:lpstr>
      <vt:lpstr>Write Once Run Anywhere</vt:lpstr>
      <vt:lpstr>Package Once Run Anywhere</vt:lpstr>
      <vt:lpstr>Docker Demo</vt:lpstr>
      <vt:lpstr> Container Fundamentals</vt:lpstr>
      <vt:lpstr>Docker CLI (command line interface)</vt:lpstr>
      <vt:lpstr>Docker run …</vt:lpstr>
      <vt:lpstr>Docker ps</vt:lpstr>
      <vt:lpstr>Docker images</vt:lpstr>
      <vt:lpstr>Listing images filter by tag/name </vt:lpstr>
      <vt:lpstr>Docker pull</vt:lpstr>
      <vt:lpstr>Docker Basic Lab</vt:lpstr>
      <vt:lpstr>Docker Images Are Layered</vt:lpstr>
      <vt:lpstr>What is a union file system?</vt:lpstr>
      <vt:lpstr>Why</vt:lpstr>
      <vt:lpstr>Data Volumes</vt:lpstr>
      <vt:lpstr>Create a data Volume </vt:lpstr>
      <vt:lpstr>Use Host Directory As Data Volume</vt:lpstr>
      <vt:lpstr>Port Mapping</vt:lpstr>
      <vt:lpstr>Express in a Container</vt:lpstr>
      <vt:lpstr>Container As Definition</vt:lpstr>
      <vt:lpstr>Dockerfile</vt:lpstr>
      <vt:lpstr>Dockerfile instructions – FROM</vt:lpstr>
      <vt:lpstr>Dockerfile instructions – ENTRYPOINT</vt:lpstr>
      <vt:lpstr>Dockerfile instructions - CMD</vt:lpstr>
      <vt:lpstr>Dockerfile instructions - RUN</vt:lpstr>
      <vt:lpstr>Dockerfile instructions - EXPOSE</vt:lpstr>
      <vt:lpstr>Dockerfile instructions - COPY</vt:lpstr>
      <vt:lpstr>Dockerfile instructions - VOLUME</vt:lpstr>
      <vt:lpstr>Dockerfile instructions - ENV</vt:lpstr>
      <vt:lpstr>Dockerfile instructions - WORKDIR</vt:lpstr>
      <vt:lpstr>Build Command</vt:lpstr>
      <vt:lpstr>Build From Path </vt:lpstr>
      <vt:lpstr>Build Naming and Tags</vt:lpstr>
      <vt:lpstr>Docker Files Lab</vt:lpstr>
      <vt:lpstr>Containers Communication</vt:lpstr>
      <vt:lpstr>Network Create</vt:lpstr>
      <vt:lpstr>Connect to a network</vt:lpstr>
      <vt:lpstr>Networks Lab</vt:lpstr>
      <vt:lpstr>Multiple Container With Compose </vt:lpstr>
      <vt:lpstr>Docker-compose File </vt:lpstr>
      <vt:lpstr>Basic Commands -  Compose up </vt:lpstr>
      <vt:lpstr>Basic Commands -  Compose ps </vt:lpstr>
      <vt:lpstr>Preserve Volume data</vt:lpstr>
      <vt:lpstr>Container Changed Aware</vt:lpstr>
      <vt:lpstr>Variables</vt:lpstr>
      <vt:lpstr>Networks</vt:lpstr>
      <vt:lpstr>Networks</vt:lpstr>
      <vt:lpstr>Networks</vt:lpstr>
      <vt:lpstr>Compose Lab</vt:lpstr>
      <vt:lpstr>PowerPoint Presentation</vt:lpstr>
    </vt:vector>
  </TitlesOfParts>
  <Company/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 brudno</dc:creator>
  <cp:lastModifiedBy>Nir Noy</cp:lastModifiedBy>
  <cp:revision>78</cp:revision>
  <cp:lastPrinted>2013-09-11T13:44:00Z</cp:lastPrinted>
  <dcterms:created xsi:type="dcterms:W3CDTF">2014-01-01T12:28:05Z</dcterms:created>
  <dcterms:modified xsi:type="dcterms:W3CDTF">2018-06-15T15:01:41Z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0x0101000612BCB557AA5D448C5593FF71F2A488</vt:lpwstr>
  </property>
</Properties>
</file>